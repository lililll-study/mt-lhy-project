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12192000" cy="762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各位评委好，今天介绍我们的梅特勒托利多 AI 竞赛项目方案——青霉素发酵稳定期目标变量预测。我们最终在排行榜上取得了平均绝对误差三点六七的成绩，这个结果源于我们对控制类型异质性的深入分析和针对性的建模策略。接下来从问题背景、数据探索、方案流程和最终性能四个方面展开介绍。</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明确了项目目标之后，来看我们面临的问题。任务是要预测青霉素发酵批次在稳定期的目标变量均值，这是一个回归任务，用平均绝对误差来评价。训练集只有一百零五个样本，测试集二十个样本，特征维度却高达九十七维，而且每个批次的时间序列长度不等，有五种、十种、二十种和三十五种时间点这四种情况。更关键的是，数据包含三种不同的控制类型——固定配方、操作员人工干预和自动过程控制，它们的工艺逻辑完全不同。这就构成了三大核心挑战：小样本高维容易过拟合，不等长时间序列需要压缩成固定长度，以及控制类型的异质性要求差异化处理。</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带着这三大挑战，我们对数据进行了深入探索，最重要的发现是三类控制类型的目标分布显著不同。从对比表可以看到，固定配方控制有大约五十二个样本，目标均值二十四点八四；操作员控制约四十七个样本，均值二十五点零五；而自动过程控制只有六个样本，均值却高达二十八点一六。这个分布差异是整个方案的核心决策点——它直接决定了我们不能用同一个模型来处理所有样本，而必须按控制类型分别建模。此外我们还发现，六十四个拉曼光谱通道中只有八到十二个与目标强相关，需要特征选择；而温度、酸碱度等过程变量在交叉验证中并没有带来性能提升，所以最终方案只使用了光谱特征。</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这些发现，我们设计了五阶段流水线方案。第一阶段是数据预处理，用前向和后向填充处理缺失值。第二阶段是特征工程，对六十四个通道分别计算均值、标准差、偏度、中位数和变异系数五个统计量，生成三百二十个候选特征。第三阶段是控制类型特异性的特征选择，按各自的相关性排名分别选取，固定配方选十四个，操作员选二十二个，自动控制因为样本太少只选三个而且用全局排名。第四阶段是 Ridge 回归建模，用 alpha 等于零点一的 L2 正则化，配合标准化、样本加权和三十次随机种子集成。第五阶段是分层校准，根据每种控制类型的交叉验证 R 平方来差异化设置收缩比例，R 平方越低收缩越多，最终输出提交文件。整个流程在 GroupKFold 五折交叉验证下取得了三点七一的成绩。</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来看最终性能。我们在排行榜上取得了平均绝对误差三点六七的成绩，交叉验证成绩三点七一。校准的改善路径非常清晰：从基线的四点零六，加上固定配方校准降到三点八九，再加操作员校准降到三点八一，最后加自动控制校准降到三点六七，累计改善了零点三九。这个成绩源于四大创新：第一，控制类型特异性建模，充分捕捉工艺差异；第二，自适应特征选择，小样本类型更激进地降维防止过拟合；第三，分层校准，根据置信度差异化收缩；第四，样本加权，让模型聚焦目标分布。以上就是我们的项目方案，谢谢各位评委。</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7620000"/>
            <a:chOff x="0" y="0"/>
            <a:chExt cx="12192000" cy="7620000"/>
          </a:xfrm>
        </p:grpSpPr>
        <p:sp>
          <p:nvSpPr>
            <p:cNvPr id="2" name="Rectangle 2"/>
            <p:cNvSpPr/>
            <p:nvPr/>
          </p:nvSpPr>
          <p:spPr>
            <a:xfrm>
              <a:off x="0" y="0"/>
              <a:ext cx="12192000" cy="7620000"/>
            </a:xfrm>
            <a:prstGeom prst="rect">
              <a:avLst/>
            </a:prstGeom>
            <a:solidFill>
              <a:srgbClr val="FFFFFF"/>
            </a:solidFill>
            <a:ln>
              <a:noFill/>
            </a:ln>
          </p:spPr>
        </p:sp>
        <p:sp>
          <p:nvSpPr>
            <p:cNvPr id="3" name="Rectangle 3"/>
            <p:cNvSpPr/>
            <p:nvPr/>
          </p:nvSpPr>
          <p:spPr>
            <a:xfrm>
              <a:off x="0" y="0"/>
              <a:ext cx="12192000" cy="7620000"/>
            </a:xfrm>
            <a:prstGeom prst="rect">
              <a:avLst/>
            </a:prstGeom>
            <a:gradFill>
              <a:gsLst>
                <a:gs pos="0">
                  <a:srgbClr val="1A3A6B">
                    <a:alpha val="7000"/>
                  </a:srgbClr>
                </a:gs>
                <a:gs pos="100000">
                  <a:srgbClr val="1A3A6B">
                    <a:alpha val="0"/>
                  </a:srgbClr>
                </a:gs>
              </a:gsLst>
              <a:path path="circle">
                <a:fillToRect l="50000" t="50000" r="50000" b="50000"/>
              </a:path>
            </a:gradFill>
            <a:ln>
              <a:noFill/>
            </a:ln>
          </p:spPr>
        </p:sp>
      </p:grpSp>
      <p:grpSp>
        <p:nvGrpSpPr>
          <p:cNvPr id="15" name="Group 15"/>
          <p:cNvGrpSpPr/>
          <p:nvPr/>
        </p:nvGrpSpPr>
        <p:grpSpPr>
          <a:xfrm>
            <a:off x="571500" y="552450"/>
            <a:ext cx="11122819" cy="318325"/>
            <a:chOff x="571500" y="552450"/>
            <a:chExt cx="11122819" cy="318325"/>
          </a:xfrm>
        </p:grpSpPr>
        <p:sp>
          <p:nvSpPr>
            <p:cNvPr id="5" name="Rectangle 5"/>
            <p:cNvSpPr/>
            <p:nvPr/>
          </p:nvSpPr>
          <p:spPr>
            <a:xfrm>
              <a:off x="571500" y="552450"/>
              <a:ext cx="38100" cy="266700"/>
            </a:xfrm>
            <a:prstGeom prst="rect">
              <a:avLst/>
            </a:prstGeom>
            <a:solidFill>
              <a:srgbClr val="C9962B"/>
            </a:solidFill>
            <a:ln>
              <a:noFill/>
            </a:ln>
          </p:spPr>
        </p:sp>
        <p:sp>
          <p:nvSpPr>
            <p:cNvPr id="6" name="TextBox 6"/>
            <p:cNvSpPr txBox="1"/>
            <p:nvPr/>
          </p:nvSpPr>
          <p:spPr>
            <a:xfrm>
              <a:off x="736092" y="606742"/>
              <a:ext cx="3579434" cy="264033"/>
            </a:xfrm>
            <a:prstGeom prst="rect">
              <a:avLst/>
            </a:prstGeom>
            <a:noFill/>
            <a:ln>
              <a:noFill/>
            </a:ln>
          </p:spPr>
          <p:txBody>
            <a:bodyPr wrap="none" lIns="0" tIns="0" rIns="0" bIns="0" anchor="t" anchorCtr="0">
              <a:spAutoFit/>
            </a:bodyPr>
            <a:lstStyle/>
            <a:p>
              <a:pPr algn="l"/>
              <a:r>
                <a:rPr lang="zh-CN" sz="1350" b="1" spc="75" dirty="0">
                  <a:solidFill>
                    <a:srgbClr val="C9962B"/>
                  </a:solidFill>
                  <a:latin typeface="Times New Roman" panose="02020603050405020304"/>
                  <a:ea typeface="微软雅黑" panose="020B0503020204020204" charset="-122"/>
                  <a:cs typeface="Times New Roman" panose="02020603050405020304"/>
                </a:rPr>
                <a:t>MTL AI CHALLENGE · 项目方案</a:t>
              </a:r>
              <a:endParaRPr lang="zh-CN" sz="1350" b="1" spc="75" dirty="0">
                <a:solidFill>
                  <a:srgbClr val="C9962B"/>
                </a:solidFill>
                <a:latin typeface="Times New Roman" panose="02020603050405020304"/>
                <a:ea typeface="微软雅黑" panose="020B0503020204020204" charset="-122"/>
                <a:cs typeface="Times New Roman" panose="02020603050405020304"/>
              </a:endParaRPr>
            </a:p>
          </p:txBody>
        </p:sp>
        <p:grpSp>
          <p:nvGrpSpPr>
            <p:cNvPr id="10" name="Group 10"/>
            <p:cNvGrpSpPr/>
            <p:nvPr/>
          </p:nvGrpSpPr>
          <p:grpSpPr>
            <a:xfrm>
              <a:off x="11033393" y="564356"/>
              <a:ext cx="164565" cy="242888"/>
              <a:chOff x="11033393" y="564356"/>
              <a:chExt cx="164565" cy="242888"/>
            </a:xfrm>
          </p:grpSpPr>
          <p:sp>
            <p:nvSpPr>
              <p:cNvPr id="7" name="Freeform 7"/>
              <p:cNvSpPr/>
              <p:nvPr/>
            </p:nvSpPr>
            <p:spPr>
              <a:xfrm>
                <a:off x="11075194" y="564356"/>
                <a:ext cx="80963" cy="9525"/>
              </a:xfrm>
              <a:custGeom>
                <a:avLst/>
                <a:gdLst/>
                <a:ahLst/>
                <a:cxnLst/>
                <a:rect l="l" t="t" r="r" b="b"/>
                <a:pathLst>
                  <a:path w="80963" h="9525">
                    <a:moveTo>
                      <a:pt x="0" y="0"/>
                    </a:moveTo>
                    <a:lnTo>
                      <a:pt x="80963" y="0"/>
                    </a:lnTo>
                  </a:path>
                </a:pathLst>
              </a:custGeom>
              <a:noFill/>
              <a:ln w="19050">
                <a:solidFill>
                  <a:srgbClr val="1A3A6B"/>
                </a:solidFill>
              </a:ln>
            </p:spPr>
          </p:sp>
          <p:sp>
            <p:nvSpPr>
              <p:cNvPr id="8" name="Freeform 8"/>
              <p:cNvSpPr/>
              <p:nvPr/>
            </p:nvSpPr>
            <p:spPr>
              <a:xfrm>
                <a:off x="11088688" y="645319"/>
                <a:ext cx="53975" cy="9525"/>
              </a:xfrm>
              <a:custGeom>
                <a:avLst/>
                <a:gdLst/>
                <a:ahLst/>
                <a:cxnLst/>
                <a:rect l="l" t="t" r="r" b="b"/>
                <a:pathLst>
                  <a:path w="53975" h="9525">
                    <a:moveTo>
                      <a:pt x="0" y="0"/>
                    </a:moveTo>
                    <a:lnTo>
                      <a:pt x="53975" y="0"/>
                    </a:lnTo>
                  </a:path>
                </a:pathLst>
              </a:custGeom>
              <a:noFill/>
              <a:ln w="19050">
                <a:solidFill>
                  <a:srgbClr val="1A3A6B"/>
                </a:solidFill>
              </a:ln>
            </p:spPr>
          </p:sp>
          <p:sp>
            <p:nvSpPr>
              <p:cNvPr id="9" name="Freeform 9"/>
              <p:cNvSpPr/>
              <p:nvPr/>
            </p:nvSpPr>
            <p:spPr>
              <a:xfrm>
                <a:off x="11033393" y="564356"/>
                <a:ext cx="164565" cy="242888"/>
              </a:xfrm>
              <a:custGeom>
                <a:avLst/>
                <a:gdLst/>
                <a:ahLst/>
                <a:cxnLst/>
                <a:rect l="l" t="t" r="r" b="b"/>
                <a:pathLst>
                  <a:path w="164565" h="242888">
                    <a:moveTo>
                      <a:pt x="55295" y="0"/>
                    </a:moveTo>
                    <a:lnTo>
                      <a:pt x="55295" y="80963"/>
                    </a:lnTo>
                    <a:lnTo>
                      <a:pt x="1320" y="229394"/>
                    </a:lnTo>
                    <a:cubicBezTo>
                      <a:pt x="0" y="232050"/>
                      <a:pt x="4" y="235171"/>
                      <a:pt x="1330" y="237823"/>
                    </a:cubicBezTo>
                    <a:cubicBezTo>
                      <a:pt x="2656" y="240475"/>
                      <a:pt x="5151" y="242351"/>
                      <a:pt x="8067" y="242888"/>
                    </a:cubicBezTo>
                    <a:lnTo>
                      <a:pt x="156498" y="242888"/>
                    </a:lnTo>
                    <a:cubicBezTo>
                      <a:pt x="159415" y="242351"/>
                      <a:pt x="161909" y="240475"/>
                      <a:pt x="163235" y="237823"/>
                    </a:cubicBezTo>
                    <a:cubicBezTo>
                      <a:pt x="164562" y="235171"/>
                      <a:pt x="164565" y="232050"/>
                      <a:pt x="163245" y="229394"/>
                    </a:cubicBezTo>
                    <a:lnTo>
                      <a:pt x="109270" y="80963"/>
                    </a:lnTo>
                    <a:lnTo>
                      <a:pt x="109270" y="0"/>
                    </a:lnTo>
                  </a:path>
                </a:pathLst>
              </a:custGeom>
              <a:noFill/>
              <a:ln w="19050">
                <a:solidFill>
                  <a:srgbClr val="1A3A6B"/>
                </a:solidFill>
              </a:ln>
            </p:spPr>
          </p:sp>
        </p:grpSp>
        <p:grpSp>
          <p:nvGrpSpPr>
            <p:cNvPr id="14" name="Group 14"/>
            <p:cNvGrpSpPr/>
            <p:nvPr/>
          </p:nvGrpSpPr>
          <p:grpSpPr>
            <a:xfrm>
              <a:off x="11451431" y="564356"/>
              <a:ext cx="242888" cy="242888"/>
              <a:chOff x="11451431" y="564356"/>
              <a:chExt cx="242888" cy="242888"/>
            </a:xfrm>
          </p:grpSpPr>
          <p:sp>
            <p:nvSpPr>
              <p:cNvPr id="11" name="Freeform 11"/>
              <p:cNvSpPr/>
              <p:nvPr/>
            </p:nvSpPr>
            <p:spPr>
              <a:xfrm>
                <a:off x="11559382" y="672307"/>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C9962B"/>
                </a:solidFill>
              </a:ln>
            </p:spPr>
          </p:sp>
          <p:sp>
            <p:nvSpPr>
              <p:cNvPr id="12" name="Freeform 12"/>
              <p:cNvSpPr/>
              <p:nvPr/>
            </p:nvSpPr>
            <p:spPr>
              <a:xfrm>
                <a:off x="11505406" y="618331"/>
                <a:ext cx="134938" cy="134938"/>
              </a:xfrm>
              <a:custGeom>
                <a:avLst/>
                <a:gdLst/>
                <a:ahLst/>
                <a:cxnLst/>
                <a:rect l="l" t="t" r="r" b="b"/>
                <a:pathLst>
                  <a:path w="134938" h="134938">
                    <a:moveTo>
                      <a:pt x="0" y="67469"/>
                    </a:moveTo>
                    <a:cubicBezTo>
                      <a:pt x="0" y="104731"/>
                      <a:pt x="30207" y="134938"/>
                      <a:pt x="67469" y="134938"/>
                    </a:cubicBezTo>
                    <a:cubicBezTo>
                      <a:pt x="104731" y="134938"/>
                      <a:pt x="134938" y="104731"/>
                      <a:pt x="134938" y="67469"/>
                    </a:cubicBezTo>
                    <a:cubicBezTo>
                      <a:pt x="134938" y="30207"/>
                      <a:pt x="104731" y="0"/>
                      <a:pt x="67469" y="0"/>
                    </a:cubicBezTo>
                    <a:cubicBezTo>
                      <a:pt x="30207" y="0"/>
                      <a:pt x="0" y="30207"/>
                      <a:pt x="0" y="67469"/>
                    </a:cubicBezTo>
                  </a:path>
                </a:pathLst>
              </a:custGeom>
              <a:noFill/>
              <a:ln w="19050">
                <a:solidFill>
                  <a:srgbClr val="C9962B"/>
                </a:solidFill>
              </a:ln>
            </p:spPr>
          </p:sp>
          <p:sp>
            <p:nvSpPr>
              <p:cNvPr id="13" name="Freeform 13"/>
              <p:cNvSpPr/>
              <p:nvPr/>
            </p:nvSpPr>
            <p:spPr>
              <a:xfrm>
                <a:off x="11451431" y="564356"/>
                <a:ext cx="242888" cy="242888"/>
              </a:xfrm>
              <a:custGeom>
                <a:avLst/>
                <a:gdLst/>
                <a:ahLst/>
                <a:cxnLst/>
                <a:rect l="l" t="t" r="r" b="b"/>
                <a:pathLst>
                  <a:path w="242888" h="242888">
                    <a:moveTo>
                      <a:pt x="0" y="121444"/>
                    </a:moveTo>
                    <a:cubicBezTo>
                      <a:pt x="0" y="188516"/>
                      <a:pt x="54372" y="242888"/>
                      <a:pt x="121444" y="242888"/>
                    </a:cubicBezTo>
                    <a:cubicBezTo>
                      <a:pt x="188516" y="242888"/>
                      <a:pt x="242888" y="188516"/>
                      <a:pt x="242888" y="121444"/>
                    </a:cubicBezTo>
                    <a:cubicBezTo>
                      <a:pt x="242888" y="54372"/>
                      <a:pt x="188516" y="0"/>
                      <a:pt x="121444" y="0"/>
                    </a:cubicBezTo>
                    <a:cubicBezTo>
                      <a:pt x="54372" y="0"/>
                      <a:pt x="0" y="54372"/>
                      <a:pt x="0" y="121444"/>
                    </a:cubicBezTo>
                  </a:path>
                </a:pathLst>
              </a:custGeom>
              <a:noFill/>
              <a:ln w="19050">
                <a:solidFill>
                  <a:srgbClr val="C9962B"/>
                </a:solidFill>
              </a:ln>
            </p:spPr>
          </p:sp>
        </p:grpSp>
      </p:grpSp>
      <p:sp>
        <p:nvSpPr>
          <p:cNvPr id="16" name="Line 16"/>
          <p:cNvSpPr/>
          <p:nvPr/>
        </p:nvSpPr>
        <p:spPr>
          <a:xfrm>
            <a:off x="571500" y="1028700"/>
            <a:ext cx="11049000" cy="9525"/>
          </a:xfrm>
          <a:custGeom>
            <a:avLst/>
            <a:gdLst/>
            <a:ahLst/>
            <a:cxnLst/>
            <a:rect l="l" t="t" r="r" b="b"/>
            <a:pathLst>
              <a:path w="11049000" h="9525">
                <a:moveTo>
                  <a:pt x="0" y="0"/>
                </a:moveTo>
                <a:lnTo>
                  <a:pt x="11049000" y="0"/>
                </a:lnTo>
              </a:path>
            </a:pathLst>
          </a:custGeom>
          <a:noFill/>
          <a:ln w="9525">
            <a:solidFill>
              <a:srgbClr val="E0E4EA"/>
            </a:solidFill>
          </a:ln>
        </p:spPr>
      </p:sp>
      <p:grpSp>
        <p:nvGrpSpPr>
          <p:cNvPr id="21" name="Group 21"/>
          <p:cNvGrpSpPr/>
          <p:nvPr/>
        </p:nvGrpSpPr>
        <p:grpSpPr>
          <a:xfrm>
            <a:off x="685800" y="2235518"/>
            <a:ext cx="3734562" cy="2522219"/>
            <a:chOff x="685800" y="2235518"/>
            <a:chExt cx="3734562" cy="2522219"/>
          </a:xfrm>
        </p:grpSpPr>
        <p:sp>
          <p:nvSpPr>
            <p:cNvPr id="17" name="TextBox 17"/>
            <p:cNvSpPr txBox="1"/>
            <p:nvPr/>
          </p:nvSpPr>
          <p:spPr>
            <a:xfrm>
              <a:off x="755142" y="2235518"/>
              <a:ext cx="2251649" cy="264033"/>
            </a:xfrm>
            <a:prstGeom prst="rect">
              <a:avLst/>
            </a:prstGeom>
            <a:noFill/>
            <a:ln>
              <a:noFill/>
            </a:ln>
          </p:spPr>
          <p:txBody>
            <a:bodyPr wrap="none" lIns="0" tIns="0" rIns="0" bIns="0" anchor="t" anchorCtr="0">
              <a:spAutoFit/>
            </a:bodyPr>
            <a:lstStyle/>
            <a:p>
              <a:pPr algn="l"/>
              <a:r>
                <a:rPr lang="en-US" sz="1350" b="1" spc="75" dirty="0">
                  <a:solidFill>
                    <a:srgbClr val="5A6478"/>
                  </a:solidFill>
                  <a:latin typeface="Times New Roman" panose="02020603050405020304"/>
                  <a:ea typeface="Times New Roman" panose="02020603050405020304"/>
                  <a:cs typeface="Times New Roman" panose="02020603050405020304"/>
                </a:rPr>
                <a:t>LEADERBOARD MAE</a:t>
              </a:r>
              <a:endParaRPr lang="en-US" sz="1350" b="1" spc="75" dirty="0">
                <a:solidFill>
                  <a:srgbClr val="5A6478"/>
                </a:solidFill>
                <a:latin typeface="Times New Roman" panose="02020603050405020304"/>
                <a:ea typeface="Times New Roman" panose="02020603050405020304"/>
                <a:cs typeface="Times New Roman" panose="02020603050405020304"/>
              </a:endParaRPr>
            </a:p>
          </p:txBody>
        </p:sp>
        <p:sp>
          <p:nvSpPr>
            <p:cNvPr id="18" name="TextBox 18"/>
            <p:cNvSpPr txBox="1"/>
            <p:nvPr/>
          </p:nvSpPr>
          <p:spPr>
            <a:xfrm>
              <a:off x="685800" y="2595562"/>
              <a:ext cx="3734562" cy="2162175"/>
            </a:xfrm>
            <a:prstGeom prst="rect">
              <a:avLst/>
            </a:prstGeom>
            <a:noFill/>
            <a:ln>
              <a:noFill/>
            </a:ln>
          </p:spPr>
          <p:txBody>
            <a:bodyPr wrap="none" lIns="0" tIns="0" rIns="0" bIns="0" anchor="t" anchorCtr="0">
              <a:spAutoFit/>
            </a:bodyPr>
            <a:lstStyle/>
            <a:p>
              <a:pPr algn="l"/>
              <a:r>
                <a:rPr lang="en-US" sz="11250" b="1" dirty="0">
                  <a:solidFill>
                    <a:srgbClr val="1A3A6B"/>
                  </a:solidFill>
                  <a:latin typeface="Times New Roman" panose="02020603050405020304"/>
                  <a:ea typeface="Times New Roman" panose="02020603050405020304"/>
                  <a:cs typeface="Times New Roman" panose="02020603050405020304"/>
                </a:rPr>
                <a:t>3.67</a:t>
              </a:r>
              <a:endParaRPr lang="en-US" sz="11250" b="1" dirty="0">
                <a:solidFill>
                  <a:srgbClr val="1A3A6B"/>
                </a:solidFill>
                <a:latin typeface="Times New Roman" panose="02020603050405020304"/>
                <a:ea typeface="Times New Roman" panose="02020603050405020304"/>
                <a:cs typeface="Times New Roman" panose="02020603050405020304"/>
              </a:endParaRPr>
            </a:p>
          </p:txBody>
        </p:sp>
        <p:sp>
          <p:nvSpPr>
            <p:cNvPr id="19" name="TextBox 19"/>
            <p:cNvSpPr txBox="1"/>
            <p:nvPr/>
          </p:nvSpPr>
          <p:spPr>
            <a:xfrm>
              <a:off x="714756" y="4044315"/>
              <a:ext cx="2615916" cy="352044"/>
            </a:xfrm>
            <a:prstGeom prst="rect">
              <a:avLst/>
            </a:prstGeom>
            <a:noFill/>
            <a:ln>
              <a:noFill/>
            </a:ln>
          </p:spPr>
          <p:txBody>
            <a:bodyPr wrap="none" lIns="0" tIns="0" rIns="0" bIns="0" anchor="t" anchorCtr="0">
              <a:spAutoFit/>
            </a:bodyPr>
            <a:lstStyle/>
            <a:p>
              <a:pPr algn="l"/>
              <a:r>
                <a:rPr lang="zh-CN" sz="1800" dirty="0">
                  <a:solidFill>
                    <a:srgbClr val="1D2430"/>
                  </a:solidFill>
                  <a:latin typeface="Arial" panose="020B0604020202020204"/>
                  <a:ea typeface="微软雅黑" panose="020B0503020204020204" charset="-122"/>
                  <a:cs typeface="Arial" panose="020B0604020202020204"/>
                </a:rPr>
                <a:t>最终</a:t>
              </a:r>
              <a:r>
                <a:rPr lang="en-US" sz="1800" b="1" dirty="0">
                  <a:solidFill>
                    <a:srgbClr val="C9962B"/>
                  </a:solidFill>
                  <a:latin typeface="Arial" panose="020B0604020202020204"/>
                  <a:ea typeface="Arial" panose="020B0604020202020204"/>
                  <a:cs typeface="Arial" panose="020B0604020202020204"/>
                </a:rPr>
                <a:t> leaderboard </a:t>
              </a:r>
              <a:r>
                <a:rPr lang="zh-CN" sz="1800" dirty="0">
                  <a:solidFill>
                    <a:srgbClr val="1D2430"/>
                  </a:solidFill>
                  <a:latin typeface="Arial" panose="020B0604020202020204"/>
                  <a:ea typeface="微软雅黑" panose="020B0503020204020204" charset="-122"/>
                  <a:cs typeface="Arial" panose="020B0604020202020204"/>
                </a:rPr>
                <a:t>成绩</a:t>
              </a:r>
              <a:endParaRPr lang="zh-CN" sz="1800" dirty="0">
                <a:solidFill>
                  <a:srgbClr val="1D2430"/>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717042" y="4378642"/>
              <a:ext cx="2085975" cy="207645"/>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1</a:t>
              </a:r>
              <a:r>
                <a:rPr lang="en-US" altLang="zh-CN" sz="1350" dirty="0">
                  <a:solidFill>
                    <a:srgbClr val="5A6478"/>
                  </a:solidFill>
                  <a:latin typeface="Arial" panose="020B0604020202020204"/>
                  <a:ea typeface="微软雅黑" panose="020B0503020204020204" charset="-122"/>
                  <a:cs typeface="Arial" panose="020B0604020202020204"/>
                </a:rPr>
                <a:t>80</a:t>
              </a:r>
              <a:r>
                <a:rPr lang="zh-CN" sz="1350" dirty="0">
                  <a:solidFill>
                    <a:srgbClr val="5A6478"/>
                  </a:solidFill>
                  <a:latin typeface="Arial" panose="020B0604020202020204"/>
                  <a:ea typeface="微软雅黑" panose="020B0503020204020204" charset="-122"/>
                  <a:cs typeface="Arial" panose="020B0604020202020204"/>
                </a:rPr>
                <a:t> 样本训练 / 20 样本测试</a:t>
              </a:r>
              <a:endParaRPr lang="zh-CN" sz="1350" dirty="0">
                <a:solidFill>
                  <a:srgbClr val="5A6478"/>
                </a:solidFill>
                <a:latin typeface="Arial" panose="020B0604020202020204"/>
                <a:ea typeface="微软雅黑" panose="020B0503020204020204" charset="-122"/>
                <a:cs typeface="Arial" panose="020B0604020202020204"/>
              </a:endParaRPr>
            </a:p>
          </p:txBody>
        </p:sp>
      </p:grpSp>
      <p:sp>
        <p:nvSpPr>
          <p:cNvPr id="22" name="Line 22"/>
          <p:cNvSpPr/>
          <p:nvPr/>
        </p:nvSpPr>
        <p:spPr>
          <a:xfrm>
            <a:off x="5524500" y="1714500"/>
            <a:ext cx="9525" cy="3429000"/>
          </a:xfrm>
          <a:custGeom>
            <a:avLst/>
            <a:gdLst/>
            <a:ahLst/>
            <a:cxnLst/>
            <a:rect l="l" t="t" r="r" b="b"/>
            <a:pathLst>
              <a:path w="9525" h="3429000">
                <a:moveTo>
                  <a:pt x="0" y="0"/>
                </a:moveTo>
                <a:lnTo>
                  <a:pt x="0" y="3429000"/>
                </a:lnTo>
              </a:path>
            </a:pathLst>
          </a:custGeom>
          <a:noFill/>
          <a:ln w="9525">
            <a:solidFill>
              <a:srgbClr val="E0E4EA"/>
            </a:solidFill>
          </a:ln>
        </p:spPr>
      </p:sp>
      <p:grpSp>
        <p:nvGrpSpPr>
          <p:cNvPr id="28" name="Group 28"/>
          <p:cNvGrpSpPr/>
          <p:nvPr/>
        </p:nvGrpSpPr>
        <p:grpSpPr>
          <a:xfrm>
            <a:off x="5886450" y="2140268"/>
            <a:ext cx="6086856" cy="2541841"/>
            <a:chOff x="5886450" y="2140268"/>
            <a:chExt cx="6086856" cy="2541841"/>
          </a:xfrm>
        </p:grpSpPr>
        <p:sp>
          <p:nvSpPr>
            <p:cNvPr id="23" name="TextBox 23"/>
            <p:cNvSpPr txBox="1"/>
            <p:nvPr/>
          </p:nvSpPr>
          <p:spPr>
            <a:xfrm>
              <a:off x="5898642" y="2140268"/>
              <a:ext cx="1846254" cy="264033"/>
            </a:xfrm>
            <a:prstGeom prst="rect">
              <a:avLst/>
            </a:prstGeom>
            <a:noFill/>
            <a:ln>
              <a:noFill/>
            </a:ln>
          </p:spPr>
          <p:txBody>
            <a:bodyPr wrap="none" lIns="0" tIns="0" rIns="0" bIns="0" anchor="t" anchorCtr="0">
              <a:spAutoFit/>
            </a:bodyPr>
            <a:lstStyle/>
            <a:p>
              <a:pPr algn="l"/>
              <a:r>
                <a:rPr lang="en-US" sz="1350" b="1" spc="75" dirty="0">
                  <a:solidFill>
                    <a:srgbClr val="C9962B"/>
                  </a:solidFill>
                  <a:latin typeface="Times New Roman" panose="02020603050405020304"/>
                  <a:ea typeface="Times New Roman" panose="02020603050405020304"/>
                  <a:cs typeface="Times New Roman" panose="02020603050405020304"/>
                </a:rPr>
                <a:t>PROJECT BRIEF</a:t>
              </a:r>
              <a:endParaRPr lang="en-US" sz="1350" b="1" spc="75" dirty="0">
                <a:solidFill>
                  <a:srgbClr val="C9962B"/>
                </a:solidFill>
                <a:latin typeface="Times New Roman" panose="02020603050405020304"/>
                <a:ea typeface="Times New Roman" panose="02020603050405020304"/>
                <a:cs typeface="Times New Roman" panose="02020603050405020304"/>
              </a:endParaRPr>
            </a:p>
          </p:txBody>
        </p:sp>
        <p:sp>
          <p:nvSpPr>
            <p:cNvPr id="24" name="TextBox 24"/>
            <p:cNvSpPr txBox="1"/>
            <p:nvPr/>
          </p:nvSpPr>
          <p:spPr>
            <a:xfrm>
              <a:off x="5886450" y="2657475"/>
              <a:ext cx="3398520" cy="876300"/>
            </a:xfrm>
            <a:prstGeom prst="rect">
              <a:avLst/>
            </a:prstGeom>
            <a:noFill/>
            <a:ln>
              <a:noFill/>
            </a:ln>
          </p:spPr>
          <p:txBody>
            <a:bodyPr wrap="none" lIns="0" tIns="0" rIns="0" bIns="0" anchor="t" anchorCtr="0">
              <a:spAutoFit/>
            </a:bodyPr>
            <a:lstStyle/>
            <a:p>
              <a:pPr algn="l"/>
              <a:r>
                <a:rPr lang="zh-CN" sz="4500" b="1" dirty="0">
                  <a:solidFill>
                    <a:srgbClr val="1A3A6B"/>
                  </a:solidFill>
                  <a:latin typeface="Times New Roman" panose="02020603050405020304"/>
                  <a:ea typeface="微软雅黑" panose="020B0503020204020204" charset="-122"/>
                  <a:cs typeface="Times New Roman" panose="02020603050405020304"/>
                </a:rPr>
                <a:t>青霉素发酵</a:t>
              </a:r>
              <a:endParaRPr lang="zh-CN" sz="4500" b="1" dirty="0">
                <a:solidFill>
                  <a:srgbClr val="1A3A6B"/>
                </a:solidFill>
                <a:latin typeface="Times New Roman" panose="02020603050405020304"/>
                <a:ea typeface="微软雅黑" panose="020B0503020204020204" charset="-122"/>
                <a:cs typeface="Times New Roman" panose="02020603050405020304"/>
              </a:endParaRPr>
            </a:p>
          </p:txBody>
        </p:sp>
        <p:sp>
          <p:nvSpPr>
            <p:cNvPr id="25" name="TextBox 25"/>
            <p:cNvSpPr txBox="1"/>
            <p:nvPr/>
          </p:nvSpPr>
          <p:spPr>
            <a:xfrm>
              <a:off x="5886450" y="3343275"/>
              <a:ext cx="6086856" cy="876300"/>
            </a:xfrm>
            <a:prstGeom prst="rect">
              <a:avLst/>
            </a:prstGeom>
            <a:noFill/>
            <a:ln>
              <a:noFill/>
            </a:ln>
          </p:spPr>
          <p:txBody>
            <a:bodyPr wrap="none" lIns="0" tIns="0" rIns="0" bIns="0" anchor="t" anchorCtr="0">
              <a:spAutoFit/>
            </a:bodyPr>
            <a:lstStyle/>
            <a:p>
              <a:pPr algn="l"/>
              <a:r>
                <a:rPr lang="zh-CN" sz="4500" b="1" dirty="0">
                  <a:solidFill>
                    <a:srgbClr val="1A3A6B"/>
                  </a:solidFill>
                  <a:latin typeface="Times New Roman" panose="02020603050405020304"/>
                  <a:ea typeface="微软雅黑" panose="020B0503020204020204" charset="-122"/>
                  <a:cs typeface="Times New Roman" panose="02020603050405020304"/>
                </a:rPr>
                <a:t>稳定期目标变量预测</a:t>
              </a:r>
              <a:endParaRPr lang="zh-CN" sz="4500" b="1" dirty="0">
                <a:solidFill>
                  <a:srgbClr val="1A3A6B"/>
                </a:solidFill>
                <a:latin typeface="Times New Roman" panose="02020603050405020304"/>
                <a:ea typeface="微软雅黑" panose="020B0503020204020204" charset="-122"/>
                <a:cs typeface="Times New Roman" panose="02020603050405020304"/>
              </a:endParaRPr>
            </a:p>
          </p:txBody>
        </p:sp>
        <p:sp>
          <p:nvSpPr>
            <p:cNvPr id="26" name="Line 26"/>
            <p:cNvSpPr/>
            <p:nvPr/>
          </p:nvSpPr>
          <p:spPr>
            <a:xfrm>
              <a:off x="5905500" y="4095750"/>
              <a:ext cx="762000" cy="9525"/>
            </a:xfrm>
            <a:custGeom>
              <a:avLst/>
              <a:gdLst/>
              <a:ahLst/>
              <a:cxnLst/>
              <a:rect l="l" t="t" r="r" b="b"/>
              <a:pathLst>
                <a:path w="762000" h="9525">
                  <a:moveTo>
                    <a:pt x="0" y="0"/>
                  </a:moveTo>
                  <a:lnTo>
                    <a:pt x="762000" y="0"/>
                  </a:lnTo>
                </a:path>
              </a:pathLst>
            </a:custGeom>
            <a:noFill/>
            <a:ln w="28575">
              <a:solidFill>
                <a:srgbClr val="C9962B"/>
              </a:solidFill>
            </a:ln>
          </p:spPr>
        </p:sp>
        <p:sp>
          <p:nvSpPr>
            <p:cNvPr id="27" name="TextBox 27"/>
            <p:cNvSpPr txBox="1"/>
            <p:nvPr/>
          </p:nvSpPr>
          <p:spPr>
            <a:xfrm>
              <a:off x="5896356" y="4330065"/>
              <a:ext cx="5711160" cy="352044"/>
            </a:xfrm>
            <a:prstGeom prst="rect">
              <a:avLst/>
            </a:prstGeom>
            <a:noFill/>
            <a:ln>
              <a:noFill/>
            </a:ln>
          </p:spPr>
          <p:txBody>
            <a:bodyPr wrap="none" lIns="0" tIns="0" rIns="0" bIns="0" anchor="t" anchorCtr="0">
              <a:spAutoFit/>
            </a:bodyPr>
            <a:lstStyle/>
            <a:p>
              <a:pPr algn="l"/>
              <a:r>
                <a:rPr lang="zh-CN" sz="1800" dirty="0">
                  <a:solidFill>
                    <a:srgbClr val="5A6478"/>
                  </a:solidFill>
                  <a:latin typeface="Arial" panose="020B0604020202020204"/>
                  <a:ea typeface="微软雅黑" panose="020B0503020204020204" charset="-122"/>
                  <a:cs typeface="Arial" panose="020B0604020202020204"/>
                </a:rPr>
                <a:t>基于</a:t>
              </a:r>
              <a:r>
                <a:rPr lang="zh-CN" sz="1800" b="1" dirty="0">
                  <a:solidFill>
                    <a:srgbClr val="1A3A6B"/>
                  </a:solidFill>
                  <a:latin typeface="Arial" panose="020B0604020202020204"/>
                  <a:ea typeface="微软雅黑" panose="020B0503020204020204" charset="-122"/>
                  <a:cs typeface="Arial" panose="020B0604020202020204"/>
                </a:rPr>
                <a:t> CT 特异性建模</a:t>
              </a:r>
              <a:r>
                <a:rPr lang="zh-CN" sz="1800" dirty="0">
                  <a:solidFill>
                    <a:srgbClr val="5A6478"/>
                  </a:solidFill>
                  <a:latin typeface="Arial" panose="020B0604020202020204"/>
                  <a:ea typeface="微软雅黑" panose="020B0503020204020204" charset="-122"/>
                  <a:cs typeface="Arial" panose="020B0604020202020204"/>
                </a:rPr>
                <a:t>与</a:t>
              </a:r>
              <a:r>
                <a:rPr lang="zh-CN" sz="1800" b="1" dirty="0">
                  <a:solidFill>
                    <a:srgbClr val="1A3A6B"/>
                  </a:solidFill>
                  <a:latin typeface="Arial" panose="020B0604020202020204"/>
                  <a:ea typeface="微软雅黑" panose="020B0503020204020204" charset="-122"/>
                  <a:cs typeface="Arial" panose="020B0604020202020204"/>
                </a:rPr>
                <a:t>分层校准</a:t>
              </a:r>
              <a:r>
                <a:rPr lang="zh-CN" sz="1800" dirty="0">
                  <a:solidFill>
                    <a:srgbClr val="5A6478"/>
                  </a:solidFill>
                  <a:latin typeface="Arial" panose="020B0604020202020204"/>
                  <a:ea typeface="微软雅黑" panose="020B0503020204020204" charset="-122"/>
                  <a:cs typeface="Arial" panose="020B0604020202020204"/>
                </a:rPr>
                <a:t>的小样本回归方案</a:t>
              </a:r>
              <a:endParaRPr lang="zh-CN" sz="1800" dirty="0">
                <a:solidFill>
                  <a:srgbClr val="5A6478"/>
                </a:solidFill>
                <a:latin typeface="Arial" panose="020B0604020202020204"/>
                <a:ea typeface="微软雅黑" panose="020B0503020204020204" charset="-122"/>
                <a:cs typeface="Arial" panose="020B0604020202020204"/>
              </a:endParaRPr>
            </a:p>
          </p:txBody>
        </p:sp>
      </p:grpSp>
      <p:sp>
        <p:nvSpPr>
          <p:cNvPr id="29" name="Line 29"/>
          <p:cNvSpPr/>
          <p:nvPr/>
        </p:nvSpPr>
        <p:spPr>
          <a:xfrm>
            <a:off x="571500" y="5810250"/>
            <a:ext cx="11049000" cy="9525"/>
          </a:xfrm>
          <a:custGeom>
            <a:avLst/>
            <a:gdLst/>
            <a:ahLst/>
            <a:cxnLst/>
            <a:rect l="l" t="t" r="r" b="b"/>
            <a:pathLst>
              <a:path w="11049000" h="9525">
                <a:moveTo>
                  <a:pt x="0" y="0"/>
                </a:moveTo>
                <a:lnTo>
                  <a:pt x="11049000" y="0"/>
                </a:lnTo>
              </a:path>
            </a:pathLst>
          </a:custGeom>
          <a:noFill/>
          <a:ln w="9525">
            <a:solidFill>
              <a:srgbClr val="E0E4EA"/>
            </a:solidFill>
          </a:ln>
        </p:spPr>
      </p:sp>
      <p:grpSp>
        <p:nvGrpSpPr>
          <p:cNvPr id="32" name="Group 32"/>
          <p:cNvGrpSpPr/>
          <p:nvPr/>
        </p:nvGrpSpPr>
        <p:grpSpPr>
          <a:xfrm>
            <a:off x="565404" y="6156960"/>
            <a:ext cx="11061192" cy="234696"/>
            <a:chOff x="565404" y="6156960"/>
            <a:chExt cx="11061192" cy="234696"/>
          </a:xfrm>
        </p:grpSpPr>
        <p:sp>
          <p:nvSpPr>
            <p:cNvPr id="30" name="TextBox 30"/>
            <p:cNvSpPr txBox="1"/>
            <p:nvPr/>
          </p:nvSpPr>
          <p:spPr>
            <a:xfrm>
              <a:off x="565404" y="6156960"/>
              <a:ext cx="3699053"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Arial" panose="020B0604020202020204"/>
                  <a:ea typeface="微软雅黑" panose="020B0503020204020204" charset="-122"/>
                  <a:cs typeface="Arial" panose="020B0604020202020204"/>
                </a:rPr>
                <a:t>梅特勒托利多 AI 竞赛 · 项目方案介绍 · 2026.07</a:t>
              </a:r>
              <a:endParaRPr lang="zh-CN" sz="1200" dirty="0">
                <a:solidFill>
                  <a:srgbClr val="000000"/>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11042599" y="6156960"/>
              <a:ext cx="583997" cy="234696"/>
            </a:xfrm>
            <a:prstGeom prst="rect">
              <a:avLst/>
            </a:prstGeom>
            <a:noFill/>
            <a:ln>
              <a:noFill/>
            </a:ln>
          </p:spPr>
          <p:txBody>
            <a:bodyPr wrap="none" lIns="0" tIns="0" rIns="0" bIns="0" anchor="t" anchorCtr="0">
              <a:spAutoFit/>
            </a:bodyPr>
            <a:lstStyle/>
            <a:p>
              <a:pPr algn="r"/>
              <a:r>
                <a:rPr lang="en-US" sz="1200" dirty="0">
                  <a:solidFill>
                    <a:srgbClr val="8A92A0"/>
                  </a:solidFill>
                  <a:latin typeface="Times New Roman" panose="02020603050405020304"/>
                  <a:ea typeface="Times New Roman" panose="02020603050405020304"/>
                  <a:cs typeface="Times New Roman" panose="02020603050405020304"/>
                </a:rPr>
                <a:t>01 / 05</a:t>
              </a:r>
              <a:endParaRPr lang="en-US" sz="1200" dirty="0">
                <a:solidFill>
                  <a:srgbClr val="8A92A0"/>
                </a:solidFill>
                <a:latin typeface="Times New Roman" panose="02020603050405020304"/>
                <a:ea typeface="Times New Roman" panose="02020603050405020304"/>
                <a:cs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7620000"/>
          </a:xfrm>
          <a:prstGeom prst="rect">
            <a:avLst/>
          </a:prstGeom>
          <a:solidFill>
            <a:srgbClr val="FFFFFF"/>
          </a:solidFill>
          <a:ln>
            <a:noFill/>
          </a:ln>
        </p:spPr>
      </p:sp>
      <p:grpSp>
        <p:nvGrpSpPr>
          <p:cNvPr id="7" name="Group 7"/>
          <p:cNvGrpSpPr/>
          <p:nvPr/>
        </p:nvGrpSpPr>
        <p:grpSpPr>
          <a:xfrm>
            <a:off x="555498" y="476250"/>
            <a:ext cx="11065002" cy="942785"/>
            <a:chOff x="555498" y="476250"/>
            <a:chExt cx="11065002" cy="942785"/>
          </a:xfrm>
        </p:grpSpPr>
        <p:sp>
          <p:nvSpPr>
            <p:cNvPr id="3" name="Rectangle 3"/>
            <p:cNvSpPr/>
            <p:nvPr/>
          </p:nvSpPr>
          <p:spPr>
            <a:xfrm>
              <a:off x="571500" y="476250"/>
              <a:ext cx="38100" cy="304800"/>
            </a:xfrm>
            <a:prstGeom prst="rect">
              <a:avLst/>
            </a:prstGeom>
            <a:solidFill>
              <a:srgbClr val="C9962B"/>
            </a:solidFill>
            <a:ln>
              <a:noFill/>
            </a:ln>
          </p:spPr>
        </p:sp>
        <p:sp>
          <p:nvSpPr>
            <p:cNvPr id="4" name="TextBox 4"/>
            <p:cNvSpPr txBox="1"/>
            <p:nvPr/>
          </p:nvSpPr>
          <p:spPr>
            <a:xfrm>
              <a:off x="736092" y="587692"/>
              <a:ext cx="2141475" cy="264033"/>
            </a:xfrm>
            <a:prstGeom prst="rect">
              <a:avLst/>
            </a:prstGeom>
            <a:noFill/>
            <a:ln>
              <a:noFill/>
            </a:ln>
          </p:spPr>
          <p:txBody>
            <a:bodyPr wrap="none" lIns="0" tIns="0" rIns="0" bIns="0" anchor="t" anchorCtr="0">
              <a:spAutoFit/>
            </a:bodyPr>
            <a:lstStyle/>
            <a:p>
              <a:pPr algn="l"/>
              <a:r>
                <a:rPr lang="en-US" sz="1350" b="1" spc="75" dirty="0">
                  <a:solidFill>
                    <a:srgbClr val="C9962B"/>
                  </a:solidFill>
                  <a:latin typeface="Times New Roman" panose="02020603050405020304"/>
                  <a:ea typeface="Times New Roman" panose="02020603050405020304"/>
                  <a:cs typeface="Times New Roman" panose="02020603050405020304"/>
                </a:rPr>
                <a:t>02 · BACKGROUND</a:t>
              </a:r>
              <a:endParaRPr lang="en-US" sz="1350" b="1" spc="75" dirty="0">
                <a:solidFill>
                  <a:srgbClr val="C9962B"/>
                </a:solidFill>
                <a:latin typeface="Times New Roman" panose="02020603050405020304"/>
                <a:ea typeface="Times New Roman" panose="02020603050405020304"/>
                <a:cs typeface="Times New Roman" panose="02020603050405020304"/>
              </a:endParaRPr>
            </a:p>
          </p:txBody>
        </p:sp>
        <p:sp>
          <p:nvSpPr>
            <p:cNvPr id="5" name="TextBox 5"/>
            <p:cNvSpPr txBox="1"/>
            <p:nvPr/>
          </p:nvSpPr>
          <p:spPr>
            <a:xfrm>
              <a:off x="555498" y="802958"/>
              <a:ext cx="3325216" cy="616077"/>
            </a:xfrm>
            <a:prstGeom prst="rect">
              <a:avLst/>
            </a:prstGeom>
            <a:noFill/>
            <a:ln>
              <a:noFill/>
            </a:ln>
          </p:spPr>
          <p:txBody>
            <a:bodyPr wrap="none" lIns="0" tIns="0" rIns="0" bIns="0" anchor="t" anchorCtr="0">
              <a:spAutoFit/>
            </a:bodyPr>
            <a:lstStyle/>
            <a:p>
              <a:pPr algn="l"/>
              <a:r>
                <a:rPr lang="zh-CN" sz="3150" b="1" dirty="0">
                  <a:solidFill>
                    <a:srgbClr val="1A3A6B"/>
                  </a:solidFill>
                  <a:latin typeface="Times New Roman" panose="02020603050405020304"/>
                  <a:ea typeface="微软雅黑" panose="020B0503020204020204" charset="-122"/>
                  <a:cs typeface="Times New Roman" panose="02020603050405020304"/>
                </a:rPr>
                <a:t>问题背景与挑战</a:t>
              </a:r>
              <a:endParaRPr lang="zh-CN" sz="3150" b="1" dirty="0">
                <a:solidFill>
                  <a:srgbClr val="1A3A6B"/>
                </a:solidFill>
                <a:latin typeface="Times New Roman" panose="02020603050405020304"/>
                <a:ea typeface="微软雅黑" panose="020B0503020204020204" charset="-122"/>
                <a:cs typeface="Times New Roman" panose="02020603050405020304"/>
              </a:endParaRPr>
            </a:p>
          </p:txBody>
        </p:sp>
        <p:sp>
          <p:nvSpPr>
            <p:cNvPr id="6" name="Line 6"/>
            <p:cNvSpPr/>
            <p:nvPr/>
          </p:nvSpPr>
          <p:spPr>
            <a:xfrm>
              <a:off x="571500" y="1314450"/>
              <a:ext cx="11049000" cy="9525"/>
            </a:xfrm>
            <a:custGeom>
              <a:avLst/>
              <a:gdLst/>
              <a:ahLst/>
              <a:cxnLst/>
              <a:rect l="l" t="t" r="r" b="b"/>
              <a:pathLst>
                <a:path w="11049000" h="9525">
                  <a:moveTo>
                    <a:pt x="0" y="0"/>
                  </a:moveTo>
                  <a:lnTo>
                    <a:pt x="11049000" y="0"/>
                  </a:lnTo>
                </a:path>
              </a:pathLst>
            </a:custGeom>
            <a:noFill/>
            <a:ln w="9525">
              <a:solidFill>
                <a:srgbClr val="E0E4EA"/>
              </a:solidFill>
            </a:ln>
          </p:spPr>
        </p:sp>
      </p:grpSp>
      <p:grpSp>
        <p:nvGrpSpPr>
          <p:cNvPr id="24" name="Group 24"/>
          <p:cNvGrpSpPr/>
          <p:nvPr/>
        </p:nvGrpSpPr>
        <p:grpSpPr>
          <a:xfrm>
            <a:off x="562356" y="1504950"/>
            <a:ext cx="11450955" cy="1013651"/>
            <a:chOff x="562356" y="1504950"/>
            <a:chExt cx="11450955" cy="1013651"/>
          </a:xfrm>
        </p:grpSpPr>
        <p:grpSp>
          <p:nvGrpSpPr>
            <p:cNvPr id="15" name="Group 15"/>
            <p:cNvGrpSpPr/>
            <p:nvPr/>
          </p:nvGrpSpPr>
          <p:grpSpPr>
            <a:xfrm>
              <a:off x="562356" y="1540669"/>
              <a:ext cx="6554419" cy="977932"/>
              <a:chOff x="562356" y="1540669"/>
              <a:chExt cx="6554419" cy="977932"/>
            </a:xfrm>
          </p:grpSpPr>
          <p:grpSp>
            <p:nvGrpSpPr>
              <p:cNvPr id="11" name="Group 11"/>
              <p:cNvGrpSpPr/>
              <p:nvPr/>
            </p:nvGrpSpPr>
            <p:grpSpPr>
              <a:xfrm>
                <a:off x="619125" y="1540669"/>
                <a:ext cx="190500" cy="214312"/>
                <a:chOff x="619125" y="1540669"/>
                <a:chExt cx="190500" cy="214312"/>
              </a:xfrm>
            </p:grpSpPr>
            <p:sp>
              <p:nvSpPr>
                <p:cNvPr id="8" name="Freeform 8"/>
                <p:cNvSpPr/>
                <p:nvPr/>
              </p:nvSpPr>
              <p:spPr>
                <a:xfrm>
                  <a:off x="619125" y="1540669"/>
                  <a:ext cx="190500" cy="71438"/>
                </a:xfrm>
                <a:custGeom>
                  <a:avLst/>
                  <a:gdLst/>
                  <a:ahLst/>
                  <a:cxnLst/>
                  <a:rect l="l" t="t" r="r" b="b"/>
                  <a:pathLst>
                    <a:path w="190500" h="71438">
                      <a:moveTo>
                        <a:pt x="0" y="35719"/>
                      </a:moveTo>
                      <a:cubicBezTo>
                        <a:pt x="0" y="55446"/>
                        <a:pt x="42645" y="71438"/>
                        <a:pt x="95250" y="71438"/>
                      </a:cubicBezTo>
                      <a:cubicBezTo>
                        <a:pt x="147855" y="71438"/>
                        <a:pt x="190500" y="55446"/>
                        <a:pt x="190500" y="35719"/>
                      </a:cubicBezTo>
                      <a:cubicBezTo>
                        <a:pt x="190500" y="15992"/>
                        <a:pt x="147855" y="0"/>
                        <a:pt x="95250" y="0"/>
                      </a:cubicBezTo>
                      <a:cubicBezTo>
                        <a:pt x="42645" y="0"/>
                        <a:pt x="0" y="15992"/>
                        <a:pt x="0" y="35719"/>
                      </a:cubicBezTo>
                    </a:path>
                  </a:pathLst>
                </a:custGeom>
                <a:noFill/>
                <a:ln w="19050">
                  <a:solidFill>
                    <a:srgbClr val="1A3A6B"/>
                  </a:solidFill>
                </a:ln>
              </p:spPr>
            </p:sp>
            <p:sp>
              <p:nvSpPr>
                <p:cNvPr id="9" name="Freeform 9"/>
                <p:cNvSpPr/>
                <p:nvPr/>
              </p:nvSpPr>
              <p:spPr>
                <a:xfrm>
                  <a:off x="619125" y="1576388"/>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1A3A6B"/>
                  </a:solidFill>
                </a:ln>
              </p:spPr>
            </p:sp>
            <p:sp>
              <p:nvSpPr>
                <p:cNvPr id="10" name="Freeform 10"/>
                <p:cNvSpPr/>
                <p:nvPr/>
              </p:nvSpPr>
              <p:spPr>
                <a:xfrm>
                  <a:off x="619125" y="1647825"/>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1A3A6B"/>
                  </a:solidFill>
                </a:ln>
              </p:spPr>
            </p:sp>
          </p:grpSp>
          <p:sp>
            <p:nvSpPr>
              <p:cNvPr id="12" name="TextBox 12"/>
              <p:cNvSpPr txBox="1"/>
              <p:nvPr/>
            </p:nvSpPr>
            <p:spPr>
              <a:xfrm>
                <a:off x="945642" y="1568768"/>
                <a:ext cx="807301" cy="264033"/>
              </a:xfrm>
              <a:prstGeom prst="rect">
                <a:avLst/>
              </a:prstGeom>
              <a:noFill/>
              <a:ln>
                <a:noFill/>
              </a:ln>
            </p:spPr>
            <p:txBody>
              <a:bodyPr wrap="none" lIns="0" tIns="0" rIns="0" bIns="0" anchor="t" anchorCtr="0">
                <a:spAutoFit/>
              </a:bodyPr>
              <a:lstStyle/>
              <a:p>
                <a:pPr algn="l"/>
                <a:r>
                  <a:rPr lang="zh-CN" sz="1350" b="1" spc="75" dirty="0">
                    <a:solidFill>
                      <a:srgbClr val="5A6478"/>
                    </a:solidFill>
                    <a:latin typeface="Arial" panose="020B0604020202020204"/>
                    <a:ea typeface="微软雅黑" panose="020B0503020204020204" charset="-122"/>
                    <a:cs typeface="Arial" panose="020B0604020202020204"/>
                  </a:rPr>
                  <a:t>任务定义</a:t>
                </a:r>
                <a:endParaRPr lang="zh-CN" sz="1350" b="1" spc="75" dirty="0">
                  <a:solidFill>
                    <a:srgbClr val="5A6478"/>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562356" y="1901190"/>
                <a:ext cx="4489018" cy="352044"/>
              </a:xfrm>
              <a:prstGeom prst="rect">
                <a:avLst/>
              </a:prstGeom>
              <a:noFill/>
              <a:ln>
                <a:noFill/>
              </a:ln>
            </p:spPr>
            <p:txBody>
              <a:bodyPr wrap="none" lIns="0" tIns="0" rIns="0" bIns="0" anchor="t" anchorCtr="0">
                <a:spAutoFit/>
              </a:bodyPr>
              <a:lstStyle/>
              <a:p>
                <a:pPr algn="l"/>
                <a:r>
                  <a:rPr lang="zh-CN" sz="1800" dirty="0">
                    <a:solidFill>
                      <a:srgbClr val="1D2430"/>
                    </a:solidFill>
                    <a:latin typeface="Arial" panose="020B0604020202020204"/>
                    <a:ea typeface="微软雅黑" panose="020B0503020204020204" charset="-122"/>
                    <a:cs typeface="Arial" panose="020B0604020202020204"/>
                  </a:rPr>
                  <a:t>预测青霉素发酵批次</a:t>
                </a:r>
                <a:r>
                  <a:rPr lang="zh-CN" sz="1800" b="1" dirty="0">
                    <a:solidFill>
                      <a:srgbClr val="1A3A6B"/>
                    </a:solidFill>
                    <a:latin typeface="Arial" panose="020B0604020202020204"/>
                    <a:ea typeface="微软雅黑" panose="020B0503020204020204" charset="-122"/>
                    <a:cs typeface="Arial" panose="020B0604020202020204"/>
                  </a:rPr>
                  <a:t>稳定期目标变量均值</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564642" y="2254568"/>
                <a:ext cx="6552133"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回归任务 · MAE 评价 · 输入：SPC 拉曼光谱（64 通道）+ 过程变量（33 列）</a:t>
                </a:r>
                <a:endParaRPr lang="zh-CN" sz="1350" dirty="0">
                  <a:solidFill>
                    <a:srgbClr val="5A6478"/>
                  </a:solidFill>
                  <a:latin typeface="Arial" panose="020B0604020202020204"/>
                  <a:ea typeface="微软雅黑" panose="020B0503020204020204" charset="-122"/>
                  <a:cs typeface="Arial" panose="020B0604020202020204"/>
                </a:endParaRPr>
              </a:p>
            </p:txBody>
          </p:sp>
        </p:grpSp>
        <p:sp>
          <p:nvSpPr>
            <p:cNvPr id="16" name="Line 16"/>
            <p:cNvSpPr/>
            <p:nvPr/>
          </p:nvSpPr>
          <p:spPr>
            <a:xfrm>
              <a:off x="6858000" y="1504950"/>
              <a:ext cx="9525" cy="990600"/>
            </a:xfrm>
            <a:custGeom>
              <a:avLst/>
              <a:gdLst/>
              <a:ahLst/>
              <a:cxnLst/>
              <a:rect l="l" t="t" r="r" b="b"/>
              <a:pathLst>
                <a:path w="9525" h="990600">
                  <a:moveTo>
                    <a:pt x="0" y="0"/>
                  </a:moveTo>
                  <a:lnTo>
                    <a:pt x="0" y="990600"/>
                  </a:lnTo>
                </a:path>
              </a:pathLst>
            </a:custGeom>
            <a:noFill/>
            <a:ln w="9525">
              <a:solidFill>
                <a:srgbClr val="E0E4EA"/>
              </a:solidFill>
            </a:ln>
          </p:spPr>
        </p:sp>
        <p:grpSp>
          <p:nvGrpSpPr>
            <p:cNvPr id="23" name="Group 23"/>
            <p:cNvGrpSpPr/>
            <p:nvPr/>
          </p:nvGrpSpPr>
          <p:grpSpPr>
            <a:xfrm>
              <a:off x="7132320" y="1568768"/>
              <a:ext cx="4880991" cy="841438"/>
              <a:chOff x="7132320" y="1568768"/>
              <a:chExt cx="4880991" cy="841438"/>
            </a:xfrm>
          </p:grpSpPr>
          <p:sp>
            <p:nvSpPr>
              <p:cNvPr id="17" name="TextBox 17"/>
              <p:cNvSpPr txBox="1"/>
              <p:nvPr/>
            </p:nvSpPr>
            <p:spPr>
              <a:xfrm>
                <a:off x="7136892" y="1568768"/>
                <a:ext cx="807301" cy="264033"/>
              </a:xfrm>
              <a:prstGeom prst="rect">
                <a:avLst/>
              </a:prstGeom>
              <a:noFill/>
              <a:ln>
                <a:noFill/>
              </a:ln>
            </p:spPr>
            <p:txBody>
              <a:bodyPr wrap="none" lIns="0" tIns="0" rIns="0" bIns="0" anchor="t" anchorCtr="0">
                <a:spAutoFit/>
              </a:bodyPr>
              <a:lstStyle/>
              <a:p>
                <a:pPr algn="l"/>
                <a:r>
                  <a:rPr lang="zh-CN" sz="1350" b="1" spc="75" dirty="0">
                    <a:solidFill>
                      <a:srgbClr val="5A6478"/>
                    </a:solidFill>
                    <a:latin typeface="Arial" panose="020B0604020202020204"/>
                    <a:ea typeface="微软雅黑" panose="020B0503020204020204" charset="-122"/>
                    <a:cs typeface="Arial" panose="020B0604020202020204"/>
                  </a:rPr>
                  <a:t>数据规模</a:t>
                </a:r>
                <a:endParaRPr lang="zh-CN" sz="1350" b="1" spc="75" dirty="0">
                  <a:solidFill>
                    <a:srgbClr val="5A6478"/>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132320" y="1871662"/>
                <a:ext cx="814705" cy="346075"/>
              </a:xfrm>
              <a:prstGeom prst="rect">
                <a:avLst/>
              </a:prstGeom>
              <a:noFill/>
              <a:ln>
                <a:noFill/>
              </a:ln>
            </p:spPr>
            <p:txBody>
              <a:bodyPr wrap="none" lIns="0" tIns="0" rIns="0" bIns="0" anchor="t" anchorCtr="0">
                <a:spAutoFit/>
              </a:bodyPr>
              <a:lstStyle/>
              <a:p>
                <a:pPr algn="l"/>
                <a:r>
                  <a:rPr lang="en-US" sz="2250" b="1" dirty="0">
                    <a:solidFill>
                      <a:srgbClr val="1A3A6B"/>
                    </a:solidFill>
                    <a:latin typeface="Times New Roman" panose="02020603050405020304"/>
                    <a:ea typeface="Times New Roman" panose="02020603050405020304"/>
                    <a:cs typeface="Times New Roman" panose="02020603050405020304"/>
                  </a:rPr>
                  <a:t>180</a:t>
                </a:r>
                <a:r>
                  <a:rPr lang="zh-CN" sz="1350" dirty="0">
                    <a:solidFill>
                      <a:srgbClr val="8A92A0"/>
                    </a:solidFill>
                    <a:latin typeface="Times New Roman" panose="02020603050405020304"/>
                    <a:ea typeface="微软雅黑" panose="020B0503020204020204" charset="-122"/>
                    <a:cs typeface="Times New Roman" panose="02020603050405020304"/>
                  </a:rPr>
                  <a:t> 训练</a:t>
                </a:r>
                <a:endParaRPr lang="zh-CN" sz="1350" dirty="0">
                  <a:solidFill>
                    <a:srgbClr val="8A92A0"/>
                  </a:solidFill>
                  <a:latin typeface="Times New Roman" panose="02020603050405020304"/>
                  <a:ea typeface="微软雅黑" panose="020B0503020204020204" charset="-122"/>
                  <a:cs typeface="Times New Roman" panose="02020603050405020304"/>
                </a:endParaRPr>
              </a:p>
            </p:txBody>
          </p:sp>
          <p:sp>
            <p:nvSpPr>
              <p:cNvPr id="19" name="TextBox 19"/>
              <p:cNvSpPr txBox="1"/>
              <p:nvPr/>
            </p:nvSpPr>
            <p:spPr>
              <a:xfrm>
                <a:off x="8161020" y="1862138"/>
                <a:ext cx="834161" cy="440055"/>
              </a:xfrm>
              <a:prstGeom prst="rect">
                <a:avLst/>
              </a:prstGeom>
              <a:noFill/>
              <a:ln>
                <a:noFill/>
              </a:ln>
            </p:spPr>
            <p:txBody>
              <a:bodyPr wrap="none" lIns="0" tIns="0" rIns="0" bIns="0" anchor="t" anchorCtr="0">
                <a:spAutoFit/>
              </a:bodyPr>
              <a:lstStyle/>
              <a:p>
                <a:pPr algn="l"/>
                <a:r>
                  <a:rPr lang="en-US" sz="2250" b="1" dirty="0">
                    <a:solidFill>
                      <a:srgbClr val="1A3A6B"/>
                    </a:solidFill>
                    <a:latin typeface="Times New Roman" panose="02020603050405020304"/>
                    <a:ea typeface="Times New Roman" panose="02020603050405020304"/>
                    <a:cs typeface="Times New Roman" panose="02020603050405020304"/>
                  </a:rPr>
                  <a:t>20</a:t>
                </a:r>
                <a:r>
                  <a:rPr lang="zh-CN" sz="1350" dirty="0">
                    <a:solidFill>
                      <a:srgbClr val="8A92A0"/>
                    </a:solidFill>
                    <a:latin typeface="Times New Roman" panose="02020603050405020304"/>
                    <a:ea typeface="微软雅黑" panose="020B0503020204020204" charset="-122"/>
                    <a:cs typeface="Times New Roman" panose="02020603050405020304"/>
                  </a:rPr>
                  <a:t> 测试</a:t>
                </a:r>
                <a:endParaRPr lang="zh-CN" sz="1350" dirty="0">
                  <a:solidFill>
                    <a:srgbClr val="8A92A0"/>
                  </a:solidFill>
                  <a:latin typeface="Times New Roman" panose="02020603050405020304"/>
                  <a:ea typeface="微软雅黑" panose="020B0503020204020204" charset="-122"/>
                  <a:cs typeface="Times New Roman" panose="02020603050405020304"/>
                </a:endParaRPr>
              </a:p>
            </p:txBody>
          </p:sp>
          <p:sp>
            <p:nvSpPr>
              <p:cNvPr id="20" name="TextBox 20"/>
              <p:cNvSpPr txBox="1"/>
              <p:nvPr/>
            </p:nvSpPr>
            <p:spPr>
              <a:xfrm>
                <a:off x="9123045" y="1871662"/>
                <a:ext cx="1026185" cy="440055"/>
              </a:xfrm>
              <a:prstGeom prst="rect">
                <a:avLst/>
              </a:prstGeom>
              <a:noFill/>
              <a:ln>
                <a:noFill/>
              </a:ln>
            </p:spPr>
            <p:txBody>
              <a:bodyPr wrap="none" lIns="0" tIns="0" rIns="0" bIns="0" anchor="t" anchorCtr="0">
                <a:spAutoFit/>
              </a:bodyPr>
              <a:lstStyle/>
              <a:p>
                <a:pPr algn="l"/>
                <a:r>
                  <a:rPr lang="en-US" sz="2250" b="1" dirty="0">
                    <a:solidFill>
                      <a:srgbClr val="C9962B"/>
                    </a:solidFill>
                    <a:latin typeface="Times New Roman" panose="02020603050405020304"/>
                    <a:ea typeface="Times New Roman" panose="02020603050405020304"/>
                    <a:cs typeface="Times New Roman" panose="02020603050405020304"/>
                  </a:rPr>
                  <a:t>97</a:t>
                </a:r>
                <a:r>
                  <a:rPr lang="zh-CN" sz="1350" dirty="0">
                    <a:solidFill>
                      <a:srgbClr val="8A92A0"/>
                    </a:solidFill>
                    <a:latin typeface="Times New Roman" panose="02020603050405020304"/>
                    <a:ea typeface="微软雅黑" panose="020B0503020204020204" charset="-122"/>
                    <a:cs typeface="Times New Roman" panose="02020603050405020304"/>
                  </a:rPr>
                  <a:t> 维特征</a:t>
                </a:r>
                <a:endParaRPr lang="zh-CN" sz="1350" dirty="0">
                  <a:solidFill>
                    <a:srgbClr val="8A92A0"/>
                  </a:solidFill>
                  <a:latin typeface="Times New Roman" panose="02020603050405020304"/>
                  <a:ea typeface="微软雅黑" panose="020B0503020204020204" charset="-122"/>
                  <a:cs typeface="Times New Roman" panose="02020603050405020304"/>
                </a:endParaRPr>
              </a:p>
            </p:txBody>
          </p:sp>
          <p:sp>
            <p:nvSpPr>
              <p:cNvPr id="21" name="TextBox 21"/>
              <p:cNvSpPr txBox="1"/>
              <p:nvPr/>
            </p:nvSpPr>
            <p:spPr>
              <a:xfrm>
                <a:off x="10890504" y="2175510"/>
                <a:ext cx="496824" cy="234696"/>
              </a:xfrm>
              <a:prstGeom prst="rect">
                <a:avLst/>
              </a:prstGeom>
              <a:noFill/>
              <a:ln>
                <a:noFill/>
              </a:ln>
            </p:spPr>
            <p:txBody>
              <a:bodyPr wrap="none" lIns="0" tIns="0" rIns="0" bIns="0" anchor="t" anchorCtr="0">
                <a:spAutoFit/>
              </a:bodyPr>
              <a:lstStyle/>
              <a:p>
                <a:pPr algn="l"/>
                <a:r>
                  <a:rPr lang="zh-CN" sz="1200" dirty="0">
                    <a:solidFill>
                      <a:srgbClr val="8A92A0"/>
                    </a:solidFill>
                    <a:latin typeface="Arial" panose="020B0604020202020204"/>
                    <a:ea typeface="微软雅黑" panose="020B0503020204020204" charset="-122"/>
                    <a:cs typeface="Arial" panose="020B0604020202020204"/>
                  </a:rPr>
                  <a:t>时间点</a:t>
                </a:r>
                <a:endParaRPr lang="zh-CN" sz="1200" dirty="0">
                  <a:solidFill>
                    <a:srgbClr val="8A92A0"/>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10142220" y="1862138"/>
                <a:ext cx="1871091" cy="440055"/>
              </a:xfrm>
              <a:prstGeom prst="rect">
                <a:avLst/>
              </a:prstGeom>
              <a:noFill/>
              <a:ln>
                <a:noFill/>
              </a:ln>
            </p:spPr>
            <p:txBody>
              <a:bodyPr wrap="none" lIns="0" tIns="0" rIns="0" bIns="0" anchor="t" anchorCtr="0">
                <a:spAutoFit/>
              </a:bodyPr>
              <a:lstStyle/>
              <a:p>
                <a:pPr algn="l"/>
                <a:r>
                  <a:rPr lang="en-US" sz="2250" b="1" dirty="0">
                    <a:solidFill>
                      <a:srgbClr val="C9962B"/>
                    </a:solidFill>
                    <a:latin typeface="Times New Roman" panose="02020603050405020304"/>
                    <a:ea typeface="Times New Roman" panose="02020603050405020304"/>
                    <a:cs typeface="Times New Roman" panose="02020603050405020304"/>
                  </a:rPr>
                  <a:t>5/10/20/35</a:t>
                </a:r>
                <a:endParaRPr lang="en-US" sz="2250" b="1" dirty="0">
                  <a:solidFill>
                    <a:srgbClr val="C9962B"/>
                  </a:solidFill>
                  <a:latin typeface="Times New Roman" panose="02020603050405020304"/>
                  <a:ea typeface="Times New Roman" panose="02020603050405020304"/>
                  <a:cs typeface="Times New Roman" panose="02020603050405020304"/>
                </a:endParaRPr>
              </a:p>
            </p:txBody>
          </p:sp>
        </p:grpSp>
      </p:grpSp>
      <p:sp>
        <p:nvSpPr>
          <p:cNvPr id="25" name="Line 25"/>
          <p:cNvSpPr/>
          <p:nvPr/>
        </p:nvSpPr>
        <p:spPr>
          <a:xfrm>
            <a:off x="571500" y="2714625"/>
            <a:ext cx="11049000" cy="9525"/>
          </a:xfrm>
          <a:custGeom>
            <a:avLst/>
            <a:gdLst/>
            <a:ahLst/>
            <a:cxnLst/>
            <a:rect l="l" t="t" r="r" b="b"/>
            <a:pathLst>
              <a:path w="11049000" h="9525">
                <a:moveTo>
                  <a:pt x="0" y="0"/>
                </a:moveTo>
                <a:lnTo>
                  <a:pt x="11049000" y="0"/>
                </a:lnTo>
              </a:path>
            </a:pathLst>
          </a:custGeom>
          <a:noFill/>
          <a:ln w="9525">
            <a:solidFill>
              <a:srgbClr val="EDEFF2"/>
            </a:solidFill>
          </a:ln>
        </p:spPr>
      </p:sp>
      <p:sp>
        <p:nvSpPr>
          <p:cNvPr id="26" name="TextBox 26"/>
          <p:cNvSpPr txBox="1"/>
          <p:nvPr/>
        </p:nvSpPr>
        <p:spPr>
          <a:xfrm>
            <a:off x="564642" y="2807018"/>
            <a:ext cx="4069808" cy="264033"/>
          </a:xfrm>
          <a:prstGeom prst="rect">
            <a:avLst/>
          </a:prstGeom>
          <a:noFill/>
          <a:ln>
            <a:noFill/>
          </a:ln>
        </p:spPr>
        <p:txBody>
          <a:bodyPr wrap="none" lIns="0" tIns="0" rIns="0" bIns="0" anchor="t" anchorCtr="0">
            <a:spAutoFit/>
          </a:bodyPr>
          <a:lstStyle/>
          <a:p>
            <a:pPr algn="l"/>
            <a:r>
              <a:rPr lang="zh-CN" sz="1350" b="1" spc="75" dirty="0">
                <a:solidFill>
                  <a:srgbClr val="C9962B"/>
                </a:solidFill>
                <a:latin typeface="Times New Roman" panose="02020603050405020304"/>
                <a:ea typeface="微软雅黑" panose="020B0503020204020204" charset="-122"/>
                <a:cs typeface="Times New Roman" panose="02020603050405020304"/>
              </a:rPr>
              <a:t>CORE CHALLENGES · 三大核心挑战</a:t>
            </a:r>
            <a:endParaRPr lang="zh-CN" sz="1350" b="1" spc="75" dirty="0">
              <a:solidFill>
                <a:srgbClr val="C9962B"/>
              </a:solidFill>
              <a:latin typeface="Times New Roman" panose="02020603050405020304"/>
              <a:ea typeface="微软雅黑" panose="020B0503020204020204" charset="-122"/>
              <a:cs typeface="Times New Roman" panose="02020603050405020304"/>
            </a:endParaRPr>
          </a:p>
        </p:txBody>
      </p:sp>
      <p:grpSp>
        <p:nvGrpSpPr>
          <p:cNvPr id="66" name="Group 66"/>
          <p:cNvGrpSpPr/>
          <p:nvPr/>
        </p:nvGrpSpPr>
        <p:grpSpPr>
          <a:xfrm>
            <a:off x="723900" y="3124200"/>
            <a:ext cx="10896600" cy="2733675"/>
            <a:chOff x="723900" y="3124200"/>
            <a:chExt cx="10896600" cy="2733675"/>
          </a:xfrm>
        </p:grpSpPr>
        <p:sp>
          <p:nvSpPr>
            <p:cNvPr id="27" name="Line 27"/>
            <p:cNvSpPr/>
            <p:nvPr/>
          </p:nvSpPr>
          <p:spPr>
            <a:xfrm>
              <a:off x="952500" y="3190875"/>
              <a:ext cx="9525" cy="2667000"/>
            </a:xfrm>
            <a:custGeom>
              <a:avLst/>
              <a:gdLst/>
              <a:ahLst/>
              <a:cxnLst/>
              <a:rect l="l" t="t" r="r" b="b"/>
              <a:pathLst>
                <a:path w="9525" h="2667000">
                  <a:moveTo>
                    <a:pt x="0" y="0"/>
                  </a:moveTo>
                  <a:lnTo>
                    <a:pt x="0" y="2667000"/>
                  </a:lnTo>
                </a:path>
              </a:pathLst>
            </a:custGeom>
            <a:noFill/>
            <a:ln w="19050" cap="rnd">
              <a:solidFill>
                <a:srgbClr val="1A3A6B"/>
              </a:solidFill>
            </a:ln>
          </p:spPr>
        </p:sp>
        <p:grpSp>
          <p:nvGrpSpPr>
            <p:cNvPr id="39" name="Group 39"/>
            <p:cNvGrpSpPr/>
            <p:nvPr/>
          </p:nvGrpSpPr>
          <p:grpSpPr>
            <a:xfrm>
              <a:off x="723900" y="3124200"/>
              <a:ext cx="10896600" cy="609600"/>
              <a:chOff x="723900" y="3124200"/>
              <a:chExt cx="10896600" cy="609600"/>
            </a:xfrm>
          </p:grpSpPr>
          <p:sp>
            <p:nvSpPr>
              <p:cNvPr id="28" name="Ellipse 28"/>
              <p:cNvSpPr/>
              <p:nvPr/>
            </p:nvSpPr>
            <p:spPr>
              <a:xfrm>
                <a:off x="723900" y="3200400"/>
                <a:ext cx="457200" cy="457200"/>
              </a:xfrm>
              <a:prstGeom prst="ellipse">
                <a:avLst/>
              </a:prstGeom>
              <a:solidFill>
                <a:srgbClr val="1A3A6B"/>
              </a:solidFill>
              <a:ln>
                <a:noFill/>
              </a:ln>
            </p:spPr>
          </p:sp>
          <p:sp>
            <p:nvSpPr>
              <p:cNvPr id="29" name="TextBox 29"/>
              <p:cNvSpPr txBox="1"/>
              <p:nvPr/>
            </p:nvSpPr>
            <p:spPr>
              <a:xfrm>
                <a:off x="840689" y="3349942"/>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panose="020B0604020202020204"/>
                    <a:ea typeface="Arial" panose="020B0604020202020204"/>
                    <a:cs typeface="Arial" panose="020B0604020202020204"/>
                  </a:rPr>
                  <a:t>01</a:t>
                </a:r>
                <a:endParaRPr lang="en-US" sz="1350" b="1" dirty="0">
                  <a:solidFill>
                    <a:srgbClr val="FFFFFF"/>
                  </a:solidFill>
                  <a:latin typeface="Arial" panose="020B0604020202020204"/>
                  <a:ea typeface="Arial" panose="020B0604020202020204"/>
                  <a:cs typeface="Arial" panose="020B0604020202020204"/>
                </a:endParaRPr>
              </a:p>
            </p:txBody>
          </p:sp>
          <p:sp>
            <p:nvSpPr>
              <p:cNvPr id="30" name="Line 30"/>
              <p:cNvSpPr/>
              <p:nvPr/>
            </p:nvSpPr>
            <p:spPr>
              <a:xfrm>
                <a:off x="1219200" y="3429000"/>
                <a:ext cx="304800" cy="9525"/>
              </a:xfrm>
              <a:custGeom>
                <a:avLst/>
                <a:gdLst/>
                <a:ahLst/>
                <a:cxnLst/>
                <a:rect l="l" t="t" r="r" b="b"/>
                <a:pathLst>
                  <a:path w="304800" h="9525">
                    <a:moveTo>
                      <a:pt x="0" y="0"/>
                    </a:moveTo>
                    <a:lnTo>
                      <a:pt x="304800" y="0"/>
                    </a:lnTo>
                  </a:path>
                </a:pathLst>
              </a:custGeom>
              <a:noFill/>
              <a:ln w="14288">
                <a:solidFill>
                  <a:srgbClr val="1A3A6B"/>
                </a:solidFill>
                <a:custDash>
                  <a:ds d="266666" sp="200000"/>
                </a:custDash>
              </a:ln>
            </p:spPr>
          </p:sp>
          <p:sp>
            <p:nvSpPr>
              <p:cNvPr id="31" name="Rectangle 31"/>
              <p:cNvSpPr/>
              <p:nvPr/>
            </p:nvSpPr>
            <p:spPr>
              <a:xfrm>
                <a:off x="1524000" y="3124200"/>
                <a:ext cx="10096500" cy="609600"/>
              </a:xfrm>
              <a:prstGeom prst="roundRect">
                <a:avLst>
                  <a:gd name="adj" fmla="val 6250"/>
                </a:avLst>
              </a:prstGeom>
              <a:solidFill>
                <a:srgbClr val="F8FAFB"/>
              </a:solidFill>
              <a:ln w="9525">
                <a:solidFill>
                  <a:srgbClr val="E0E4EA"/>
                </a:solidFill>
              </a:ln>
            </p:spPr>
          </p:sp>
          <p:sp>
            <p:nvSpPr>
              <p:cNvPr id="32" name="Rectangle 32"/>
              <p:cNvSpPr/>
              <p:nvPr/>
            </p:nvSpPr>
            <p:spPr>
              <a:xfrm>
                <a:off x="1524000" y="3124200"/>
                <a:ext cx="47625" cy="609600"/>
              </a:xfrm>
              <a:prstGeom prst="rect">
                <a:avLst/>
              </a:prstGeom>
              <a:solidFill>
                <a:srgbClr val="1A3A6B"/>
              </a:solidFill>
              <a:ln>
                <a:noFill/>
              </a:ln>
            </p:spPr>
          </p:sp>
          <p:grpSp>
            <p:nvGrpSpPr>
              <p:cNvPr id="36" name="Group 36"/>
              <p:cNvGrpSpPr/>
              <p:nvPr/>
            </p:nvGrpSpPr>
            <p:grpSpPr>
              <a:xfrm>
                <a:off x="1738819" y="3291431"/>
                <a:ext cx="256151" cy="220068"/>
                <a:chOff x="1738819" y="3291431"/>
                <a:chExt cx="256151" cy="220068"/>
              </a:xfrm>
            </p:grpSpPr>
            <p:sp>
              <p:nvSpPr>
                <p:cNvPr id="33" name="Freeform 33"/>
                <p:cNvSpPr/>
                <p:nvPr/>
              </p:nvSpPr>
              <p:spPr>
                <a:xfrm>
                  <a:off x="1866900" y="3371850"/>
                  <a:ext cx="9525" cy="50800"/>
                </a:xfrm>
                <a:custGeom>
                  <a:avLst/>
                  <a:gdLst/>
                  <a:ahLst/>
                  <a:cxnLst/>
                  <a:rect l="l" t="t" r="r" b="b"/>
                  <a:pathLst>
                    <a:path w="9525" h="50800">
                      <a:moveTo>
                        <a:pt x="0" y="0"/>
                      </a:moveTo>
                      <a:lnTo>
                        <a:pt x="0" y="50800"/>
                      </a:lnTo>
                    </a:path>
                  </a:pathLst>
                </a:custGeom>
                <a:noFill/>
                <a:ln w="19050">
                  <a:solidFill>
                    <a:srgbClr val="1A3A6B"/>
                  </a:solidFill>
                </a:ln>
              </p:spPr>
            </p:sp>
            <p:sp>
              <p:nvSpPr>
                <p:cNvPr id="34" name="Freeform 34"/>
                <p:cNvSpPr/>
                <p:nvPr/>
              </p:nvSpPr>
              <p:spPr>
                <a:xfrm>
                  <a:off x="1738819" y="329143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19050">
                  <a:solidFill>
                    <a:srgbClr val="1A3A6B"/>
                  </a:solidFill>
                </a:ln>
              </p:spPr>
            </p:sp>
            <p:sp>
              <p:nvSpPr>
                <p:cNvPr id="35" name="Freeform 35"/>
                <p:cNvSpPr/>
                <p:nvPr/>
              </p:nvSpPr>
              <p:spPr>
                <a:xfrm>
                  <a:off x="1866900" y="3460749"/>
                  <a:ext cx="9525" cy="9525"/>
                </a:xfrm>
                <a:custGeom>
                  <a:avLst/>
                  <a:gdLst/>
                  <a:ahLst/>
                  <a:cxnLst/>
                  <a:rect l="l" t="t" r="r" b="b"/>
                  <a:pathLst>
                    <a:path w="9525" h="9525">
                      <a:moveTo>
                        <a:pt x="0" y="0"/>
                      </a:moveTo>
                      <a:lnTo>
                        <a:pt x="127" y="0"/>
                      </a:lnTo>
                    </a:path>
                  </a:pathLst>
                </a:custGeom>
                <a:noFill/>
                <a:ln w="19050">
                  <a:solidFill>
                    <a:srgbClr val="1A3A6B"/>
                  </a:solidFill>
                </a:ln>
              </p:spPr>
            </p:sp>
          </p:grpSp>
          <p:sp>
            <p:nvSpPr>
              <p:cNvPr id="37" name="TextBox 37"/>
              <p:cNvSpPr txBox="1"/>
              <p:nvPr/>
            </p:nvSpPr>
            <p:spPr>
              <a:xfrm>
                <a:off x="2143506" y="3177540"/>
                <a:ext cx="1290447"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小样本高维</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2145792" y="3492818"/>
                <a:ext cx="5039360" cy="207645"/>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仅 1</a:t>
                </a:r>
                <a:r>
                  <a:rPr lang="en-US" altLang="zh-CN" sz="1350" dirty="0">
                    <a:solidFill>
                      <a:srgbClr val="5A6478"/>
                    </a:solidFill>
                    <a:latin typeface="Arial" panose="020B0604020202020204"/>
                    <a:ea typeface="微软雅黑" panose="020B0503020204020204" charset="-122"/>
                    <a:cs typeface="Arial" panose="020B0604020202020204"/>
                  </a:rPr>
                  <a:t>80</a:t>
                </a:r>
                <a:r>
                  <a:rPr lang="zh-CN" sz="1350" dirty="0">
                    <a:solidFill>
                      <a:srgbClr val="5A6478"/>
                    </a:solidFill>
                    <a:latin typeface="Arial" panose="020B0604020202020204"/>
                    <a:ea typeface="微软雅黑" panose="020B0503020204020204" charset="-122"/>
                    <a:cs typeface="Arial" panose="020B0604020202020204"/>
                  </a:rPr>
                  <a:t> 个训练样本 + </a:t>
                </a:r>
                <a:r>
                  <a:rPr lang="en-US" altLang="zh-CN" sz="1350" dirty="0">
                    <a:solidFill>
                      <a:srgbClr val="5A6478"/>
                    </a:solidFill>
                    <a:latin typeface="Arial" panose="020B0604020202020204"/>
                    <a:ea typeface="微软雅黑" panose="020B0503020204020204" charset="-122"/>
                    <a:cs typeface="Arial" panose="020B0604020202020204"/>
                  </a:rPr>
                  <a:t>103</a:t>
                </a:r>
                <a:r>
                  <a:rPr lang="zh-CN" sz="1350" dirty="0">
                    <a:solidFill>
                      <a:srgbClr val="5A6478"/>
                    </a:solidFill>
                    <a:latin typeface="Arial" panose="020B0604020202020204"/>
                    <a:ea typeface="微软雅黑" panose="020B0503020204020204" charset="-122"/>
                    <a:cs typeface="Arial" panose="020B0604020202020204"/>
                  </a:rPr>
                  <a:t> 维特征，样本/特征比 =1.</a:t>
                </a:r>
                <a:r>
                  <a:rPr lang="en-US" altLang="zh-CN" sz="1350" dirty="0">
                    <a:solidFill>
                      <a:srgbClr val="5A6478"/>
                    </a:solidFill>
                    <a:latin typeface="Arial" panose="020B0604020202020204"/>
                    <a:ea typeface="微软雅黑" panose="020B0503020204020204" charset="-122"/>
                    <a:cs typeface="Arial" panose="020B0604020202020204"/>
                  </a:rPr>
                  <a:t>74</a:t>
                </a:r>
                <a:r>
                  <a:rPr lang="zh-CN" sz="1350" dirty="0">
                    <a:solidFill>
                      <a:srgbClr val="5A6478"/>
                    </a:solidFill>
                    <a:latin typeface="Arial" panose="020B0604020202020204"/>
                    <a:ea typeface="微软雅黑" panose="020B0503020204020204" charset="-122"/>
                    <a:cs typeface="Arial" panose="020B0604020202020204"/>
                  </a:rPr>
                  <a:t>，极易过拟合</a:t>
                </a:r>
                <a:endParaRPr lang="zh-CN" sz="1350" dirty="0">
                  <a:solidFill>
                    <a:srgbClr val="5A6478"/>
                  </a:solidFill>
                  <a:latin typeface="Arial" panose="020B0604020202020204"/>
                  <a:ea typeface="微软雅黑" panose="020B0503020204020204" charset="-122"/>
                  <a:cs typeface="Arial" panose="020B0604020202020204"/>
                </a:endParaRPr>
              </a:p>
            </p:txBody>
          </p:sp>
        </p:grpSp>
        <p:grpSp>
          <p:nvGrpSpPr>
            <p:cNvPr id="50" name="Group 50"/>
            <p:cNvGrpSpPr/>
            <p:nvPr/>
          </p:nvGrpSpPr>
          <p:grpSpPr>
            <a:xfrm>
              <a:off x="723900" y="4124325"/>
              <a:ext cx="10896600" cy="632650"/>
              <a:chOff x="723900" y="4124325"/>
              <a:chExt cx="10896600" cy="632650"/>
            </a:xfrm>
          </p:grpSpPr>
          <p:sp>
            <p:nvSpPr>
              <p:cNvPr id="40" name="Ellipse 40"/>
              <p:cNvSpPr/>
              <p:nvPr/>
            </p:nvSpPr>
            <p:spPr>
              <a:xfrm>
                <a:off x="723900" y="4200525"/>
                <a:ext cx="457200" cy="457200"/>
              </a:xfrm>
              <a:prstGeom prst="ellipse">
                <a:avLst/>
              </a:prstGeom>
              <a:solidFill>
                <a:srgbClr val="4A7BB5"/>
              </a:solidFill>
              <a:ln>
                <a:noFill/>
              </a:ln>
            </p:spPr>
          </p:sp>
          <p:sp>
            <p:nvSpPr>
              <p:cNvPr id="41" name="TextBox 41"/>
              <p:cNvSpPr txBox="1"/>
              <p:nvPr/>
            </p:nvSpPr>
            <p:spPr>
              <a:xfrm>
                <a:off x="834748" y="435006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Times New Roman" panose="02020603050405020304"/>
                    <a:ea typeface="Times New Roman" panose="02020603050405020304"/>
                    <a:cs typeface="Times New Roman" panose="02020603050405020304"/>
                  </a:rPr>
                  <a:t>02</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42" name="Line 42"/>
              <p:cNvSpPr/>
              <p:nvPr/>
            </p:nvSpPr>
            <p:spPr>
              <a:xfrm>
                <a:off x="1219200" y="4429125"/>
                <a:ext cx="304800" cy="9525"/>
              </a:xfrm>
              <a:custGeom>
                <a:avLst/>
                <a:gdLst/>
                <a:ahLst/>
                <a:cxnLst/>
                <a:rect l="l" t="t" r="r" b="b"/>
                <a:pathLst>
                  <a:path w="304800" h="9525">
                    <a:moveTo>
                      <a:pt x="0" y="0"/>
                    </a:moveTo>
                    <a:lnTo>
                      <a:pt x="304800" y="0"/>
                    </a:lnTo>
                  </a:path>
                </a:pathLst>
              </a:custGeom>
              <a:noFill/>
              <a:ln w="14288">
                <a:solidFill>
                  <a:srgbClr val="4A7BB5"/>
                </a:solidFill>
                <a:custDash>
                  <a:ds d="266666" sp="200000"/>
                </a:custDash>
              </a:ln>
            </p:spPr>
          </p:sp>
          <p:sp>
            <p:nvSpPr>
              <p:cNvPr id="43" name="Rectangle 43"/>
              <p:cNvSpPr/>
              <p:nvPr/>
            </p:nvSpPr>
            <p:spPr>
              <a:xfrm>
                <a:off x="1524000" y="4124325"/>
                <a:ext cx="10096500" cy="609600"/>
              </a:xfrm>
              <a:prstGeom prst="roundRect">
                <a:avLst>
                  <a:gd name="adj" fmla="val 6250"/>
                </a:avLst>
              </a:prstGeom>
              <a:solidFill>
                <a:srgbClr val="F8FAFB"/>
              </a:solidFill>
              <a:ln w="9525">
                <a:solidFill>
                  <a:srgbClr val="E0E4EA"/>
                </a:solidFill>
              </a:ln>
            </p:spPr>
          </p:sp>
          <p:sp>
            <p:nvSpPr>
              <p:cNvPr id="44" name="Rectangle 44"/>
              <p:cNvSpPr/>
              <p:nvPr/>
            </p:nvSpPr>
            <p:spPr>
              <a:xfrm>
                <a:off x="1524000" y="4124325"/>
                <a:ext cx="47625" cy="609600"/>
              </a:xfrm>
              <a:prstGeom prst="rect">
                <a:avLst/>
              </a:prstGeom>
              <a:solidFill>
                <a:srgbClr val="4A7BB5"/>
              </a:solidFill>
              <a:ln>
                <a:noFill/>
              </a:ln>
            </p:spPr>
          </p:sp>
          <p:grpSp>
            <p:nvGrpSpPr>
              <p:cNvPr id="47" name="Group 47"/>
              <p:cNvGrpSpPr/>
              <p:nvPr/>
            </p:nvGrpSpPr>
            <p:grpSpPr>
              <a:xfrm>
                <a:off x="1765300" y="4333875"/>
                <a:ext cx="203199" cy="174624"/>
                <a:chOff x="1765300" y="4333875"/>
                <a:chExt cx="203199" cy="174624"/>
              </a:xfrm>
            </p:grpSpPr>
            <p:sp>
              <p:nvSpPr>
                <p:cNvPr id="45" name="Freeform 45"/>
                <p:cNvSpPr/>
                <p:nvPr/>
              </p:nvSpPr>
              <p:spPr>
                <a:xfrm>
                  <a:off x="1765300" y="4498974"/>
                  <a:ext cx="203199" cy="9525"/>
                </a:xfrm>
                <a:custGeom>
                  <a:avLst/>
                  <a:gdLst/>
                  <a:ahLst/>
                  <a:cxnLst/>
                  <a:rect l="l" t="t" r="r" b="b"/>
                  <a:pathLst>
                    <a:path w="203199" h="9525">
                      <a:moveTo>
                        <a:pt x="0" y="0"/>
                      </a:moveTo>
                      <a:lnTo>
                        <a:pt x="203199" y="0"/>
                      </a:lnTo>
                    </a:path>
                  </a:pathLst>
                </a:custGeom>
                <a:noFill/>
                <a:ln w="19050">
                  <a:solidFill>
                    <a:srgbClr val="4A7BB5"/>
                  </a:solidFill>
                </a:ln>
              </p:spPr>
            </p:sp>
            <p:sp>
              <p:nvSpPr>
                <p:cNvPr id="46" name="Freeform 46"/>
                <p:cNvSpPr/>
                <p:nvPr/>
              </p:nvSpPr>
              <p:spPr>
                <a:xfrm>
                  <a:off x="1765300" y="4333875"/>
                  <a:ext cx="203199" cy="114300"/>
                </a:xfrm>
                <a:custGeom>
                  <a:avLst/>
                  <a:gdLst/>
                  <a:ahLst/>
                  <a:cxnLst/>
                  <a:rect l="l" t="t" r="r" b="b"/>
                  <a:pathLst>
                    <a:path w="203199" h="114300">
                      <a:moveTo>
                        <a:pt x="0" y="114300"/>
                      </a:moveTo>
                      <a:lnTo>
                        <a:pt x="50800" y="38100"/>
                      </a:lnTo>
                      <a:lnTo>
                        <a:pt x="101600" y="63500"/>
                      </a:lnTo>
                      <a:lnTo>
                        <a:pt x="152400" y="0"/>
                      </a:lnTo>
                      <a:lnTo>
                        <a:pt x="203199" y="50800"/>
                      </a:lnTo>
                    </a:path>
                  </a:pathLst>
                </a:custGeom>
                <a:noFill/>
                <a:ln w="19050">
                  <a:solidFill>
                    <a:srgbClr val="4A7BB5"/>
                  </a:solidFill>
                </a:ln>
              </p:spPr>
            </p:sp>
          </p:grpSp>
          <p:sp>
            <p:nvSpPr>
              <p:cNvPr id="48" name="TextBox 48"/>
              <p:cNvSpPr txBox="1"/>
              <p:nvPr/>
            </p:nvSpPr>
            <p:spPr>
              <a:xfrm>
                <a:off x="2143506" y="4177665"/>
                <a:ext cx="1799311"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不等长时间序列</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2145792" y="4492942"/>
                <a:ext cx="5792953"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批次时长不一致（5/10/20/35 个时间点），需压缩为固定长度特征向量</a:t>
                </a:r>
                <a:endParaRPr lang="zh-CN" sz="1350" dirty="0">
                  <a:solidFill>
                    <a:srgbClr val="5A6478"/>
                  </a:solidFill>
                  <a:latin typeface="Arial" panose="020B0604020202020204"/>
                  <a:ea typeface="微软雅黑" panose="020B0503020204020204" charset="-122"/>
                  <a:cs typeface="Arial" panose="020B0604020202020204"/>
                </a:endParaRPr>
              </a:p>
            </p:txBody>
          </p:sp>
        </p:grpSp>
        <p:grpSp>
          <p:nvGrpSpPr>
            <p:cNvPr id="65" name="Group 65"/>
            <p:cNvGrpSpPr/>
            <p:nvPr/>
          </p:nvGrpSpPr>
          <p:grpSpPr>
            <a:xfrm>
              <a:off x="723900" y="5124450"/>
              <a:ext cx="10896600" cy="632651"/>
              <a:chOff x="723900" y="5124450"/>
              <a:chExt cx="10896600" cy="632651"/>
            </a:xfrm>
          </p:grpSpPr>
          <p:sp>
            <p:nvSpPr>
              <p:cNvPr id="51" name="Ellipse 51"/>
              <p:cNvSpPr/>
              <p:nvPr/>
            </p:nvSpPr>
            <p:spPr>
              <a:xfrm>
                <a:off x="723900" y="5200650"/>
                <a:ext cx="457200" cy="457200"/>
              </a:xfrm>
              <a:prstGeom prst="ellipse">
                <a:avLst/>
              </a:prstGeom>
              <a:solidFill>
                <a:srgbClr val="C9962B"/>
              </a:solidFill>
              <a:ln>
                <a:noFill/>
              </a:ln>
            </p:spPr>
          </p:sp>
          <p:sp>
            <p:nvSpPr>
              <p:cNvPr id="52" name="TextBox 52"/>
              <p:cNvSpPr txBox="1"/>
              <p:nvPr/>
            </p:nvSpPr>
            <p:spPr>
              <a:xfrm>
                <a:off x="834748" y="5350192"/>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Times New Roman" panose="02020603050405020304"/>
                    <a:ea typeface="Times New Roman" panose="02020603050405020304"/>
                    <a:cs typeface="Times New Roman" panose="02020603050405020304"/>
                  </a:rPr>
                  <a:t>03</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53" name="Line 53"/>
              <p:cNvSpPr/>
              <p:nvPr/>
            </p:nvSpPr>
            <p:spPr>
              <a:xfrm>
                <a:off x="1219200" y="5429250"/>
                <a:ext cx="304800" cy="9525"/>
              </a:xfrm>
              <a:custGeom>
                <a:avLst/>
                <a:gdLst/>
                <a:ahLst/>
                <a:cxnLst/>
                <a:rect l="l" t="t" r="r" b="b"/>
                <a:pathLst>
                  <a:path w="304800" h="9525">
                    <a:moveTo>
                      <a:pt x="0" y="0"/>
                    </a:moveTo>
                    <a:lnTo>
                      <a:pt x="304800" y="0"/>
                    </a:lnTo>
                  </a:path>
                </a:pathLst>
              </a:custGeom>
              <a:noFill/>
              <a:ln w="14288">
                <a:solidFill>
                  <a:srgbClr val="C9962B"/>
                </a:solidFill>
                <a:custDash>
                  <a:ds d="266666" sp="200000"/>
                </a:custDash>
              </a:ln>
            </p:spPr>
          </p:sp>
          <p:sp>
            <p:nvSpPr>
              <p:cNvPr id="54" name="Rectangle 54"/>
              <p:cNvSpPr/>
              <p:nvPr/>
            </p:nvSpPr>
            <p:spPr>
              <a:xfrm>
                <a:off x="1524000" y="5124450"/>
                <a:ext cx="10096500" cy="609600"/>
              </a:xfrm>
              <a:prstGeom prst="roundRect">
                <a:avLst>
                  <a:gd name="adj" fmla="val 6250"/>
                </a:avLst>
              </a:prstGeom>
              <a:solidFill>
                <a:srgbClr val="F8FAFB"/>
              </a:solidFill>
              <a:ln w="9525">
                <a:solidFill>
                  <a:srgbClr val="E0E4EA"/>
                </a:solidFill>
              </a:ln>
            </p:spPr>
          </p:sp>
          <p:sp>
            <p:nvSpPr>
              <p:cNvPr id="55" name="Rectangle 55"/>
              <p:cNvSpPr/>
              <p:nvPr/>
            </p:nvSpPr>
            <p:spPr>
              <a:xfrm>
                <a:off x="1524000" y="5124450"/>
                <a:ext cx="47625" cy="609600"/>
              </a:xfrm>
              <a:prstGeom prst="rect">
                <a:avLst/>
              </a:prstGeom>
              <a:solidFill>
                <a:srgbClr val="C9962B"/>
              </a:solidFill>
              <a:ln>
                <a:noFill/>
              </a:ln>
            </p:spPr>
          </p:sp>
          <p:grpSp>
            <p:nvGrpSpPr>
              <p:cNvPr id="62" name="Group 62"/>
              <p:cNvGrpSpPr/>
              <p:nvPr/>
            </p:nvGrpSpPr>
            <p:grpSpPr>
              <a:xfrm>
                <a:off x="1752600" y="5295900"/>
                <a:ext cx="228599" cy="228599"/>
                <a:chOff x="1752600" y="5295900"/>
                <a:chExt cx="228599" cy="228599"/>
              </a:xfrm>
            </p:grpSpPr>
            <p:sp>
              <p:nvSpPr>
                <p:cNvPr id="56" name="Freeform 56"/>
                <p:cNvSpPr/>
                <p:nvPr/>
              </p:nvSpPr>
              <p:spPr>
                <a:xfrm>
                  <a:off x="1752600" y="5295900"/>
                  <a:ext cx="228599" cy="228599"/>
                </a:xfrm>
                <a:custGeom>
                  <a:avLst/>
                  <a:gdLst/>
                  <a:ahLst/>
                  <a:cxnLst/>
                  <a:rect l="l" t="t" r="r" b="b"/>
                  <a:pathLst>
                    <a:path w="228599" h="228599">
                      <a:moveTo>
                        <a:pt x="0" y="0"/>
                      </a:moveTo>
                      <a:lnTo>
                        <a:pt x="0" y="228599"/>
                      </a:lnTo>
                      <a:lnTo>
                        <a:pt x="228599" y="228599"/>
                      </a:lnTo>
                    </a:path>
                  </a:pathLst>
                </a:custGeom>
                <a:noFill/>
                <a:ln w="19050">
                  <a:solidFill>
                    <a:srgbClr val="C9962B"/>
                  </a:solidFill>
                </a:ln>
              </p:spPr>
            </p:sp>
            <p:sp>
              <p:nvSpPr>
                <p:cNvPr id="57" name="Freeform 57"/>
                <p:cNvSpPr/>
                <p:nvPr/>
              </p:nvSpPr>
              <p:spPr>
                <a:xfrm>
                  <a:off x="1803400" y="5346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9962B"/>
                  </a:solidFill>
                </a:ln>
              </p:spPr>
            </p:sp>
            <p:sp>
              <p:nvSpPr>
                <p:cNvPr id="58" name="Freeform 58"/>
                <p:cNvSpPr/>
                <p:nvPr/>
              </p:nvSpPr>
              <p:spPr>
                <a:xfrm>
                  <a:off x="1930399" y="53213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9962B"/>
                  </a:solidFill>
                </a:ln>
              </p:spPr>
            </p:sp>
            <p:sp>
              <p:nvSpPr>
                <p:cNvPr id="59" name="Freeform 59"/>
                <p:cNvSpPr/>
                <p:nvPr/>
              </p:nvSpPr>
              <p:spPr>
                <a:xfrm>
                  <a:off x="1866900" y="5422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9962B"/>
                  </a:solidFill>
                </a:ln>
              </p:spPr>
            </p:sp>
            <p:sp>
              <p:nvSpPr>
                <p:cNvPr id="60" name="Freeform 60"/>
                <p:cNvSpPr/>
                <p:nvPr/>
              </p:nvSpPr>
              <p:spPr>
                <a:xfrm>
                  <a:off x="1843532" y="5392674"/>
                  <a:ext cx="29718" cy="36576"/>
                </a:xfrm>
                <a:custGeom>
                  <a:avLst/>
                  <a:gdLst/>
                  <a:ahLst/>
                  <a:cxnLst/>
                  <a:rect l="l" t="t" r="r" b="b"/>
                  <a:pathLst>
                    <a:path w="29718" h="36576">
                      <a:moveTo>
                        <a:pt x="0" y="0"/>
                      </a:moveTo>
                      <a:lnTo>
                        <a:pt x="29718" y="36576"/>
                      </a:lnTo>
                    </a:path>
                  </a:pathLst>
                </a:custGeom>
                <a:noFill/>
                <a:ln w="19050">
                  <a:solidFill>
                    <a:srgbClr val="C9962B"/>
                  </a:solidFill>
                </a:ln>
              </p:spPr>
            </p:sp>
            <p:sp>
              <p:nvSpPr>
                <p:cNvPr id="61" name="Freeform 61"/>
                <p:cNvSpPr/>
                <p:nvPr/>
              </p:nvSpPr>
              <p:spPr>
                <a:xfrm>
                  <a:off x="1906117" y="5368823"/>
                  <a:ext cx="36030" cy="58242"/>
                </a:xfrm>
                <a:custGeom>
                  <a:avLst/>
                  <a:gdLst/>
                  <a:ahLst/>
                  <a:cxnLst/>
                  <a:rect l="l" t="t" r="r" b="b"/>
                  <a:pathLst>
                    <a:path w="36030" h="58242">
                      <a:moveTo>
                        <a:pt x="0" y="58242"/>
                      </a:moveTo>
                      <a:lnTo>
                        <a:pt x="36030" y="0"/>
                      </a:lnTo>
                    </a:path>
                  </a:pathLst>
                </a:custGeom>
                <a:noFill/>
                <a:ln w="19050">
                  <a:solidFill>
                    <a:srgbClr val="C9962B"/>
                  </a:solidFill>
                </a:ln>
              </p:spPr>
            </p:sp>
          </p:grpSp>
          <p:sp>
            <p:nvSpPr>
              <p:cNvPr id="63" name="TextBox 63"/>
              <p:cNvSpPr txBox="1"/>
              <p:nvPr/>
            </p:nvSpPr>
            <p:spPr>
              <a:xfrm>
                <a:off x="2143506" y="5177790"/>
                <a:ext cx="1201156"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CT 异质性</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2145792" y="5493068"/>
                <a:ext cx="6083732"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三种控制类型（recipe / operator / apc）工艺逻辑不同，目标分布差异大</a:t>
                </a:r>
                <a:endParaRPr lang="zh-CN" sz="1350" dirty="0">
                  <a:solidFill>
                    <a:srgbClr val="5A6478"/>
                  </a:solidFill>
                  <a:latin typeface="Arial" panose="020B0604020202020204"/>
                  <a:ea typeface="微软雅黑" panose="020B0503020204020204" charset="-122"/>
                  <a:cs typeface="Arial" panose="020B0604020202020204"/>
                </a:endParaRPr>
              </a:p>
            </p:txBody>
          </p:sp>
        </p:grpSp>
      </p:grpSp>
      <p:grpSp>
        <p:nvGrpSpPr>
          <p:cNvPr id="70" name="Group 70"/>
          <p:cNvGrpSpPr/>
          <p:nvPr/>
        </p:nvGrpSpPr>
        <p:grpSpPr>
          <a:xfrm>
            <a:off x="565404" y="6334125"/>
            <a:ext cx="11061192" cy="343281"/>
            <a:chOff x="565404" y="6334125"/>
            <a:chExt cx="11061192" cy="343281"/>
          </a:xfrm>
        </p:grpSpPr>
        <p:sp>
          <p:nvSpPr>
            <p:cNvPr id="67" name="Line 67"/>
            <p:cNvSpPr/>
            <p:nvPr/>
          </p:nvSpPr>
          <p:spPr>
            <a:xfrm>
              <a:off x="571500" y="6334125"/>
              <a:ext cx="11049000" cy="9525"/>
            </a:xfrm>
            <a:custGeom>
              <a:avLst/>
              <a:gdLst/>
              <a:ahLst/>
              <a:cxnLst/>
              <a:rect l="l" t="t" r="r" b="b"/>
              <a:pathLst>
                <a:path w="11049000" h="9525">
                  <a:moveTo>
                    <a:pt x="0" y="0"/>
                  </a:moveTo>
                  <a:lnTo>
                    <a:pt x="11049000" y="0"/>
                  </a:lnTo>
                </a:path>
              </a:pathLst>
            </a:custGeom>
            <a:noFill/>
            <a:ln w="9525">
              <a:solidFill>
                <a:srgbClr val="EDEFF2"/>
              </a:solidFill>
            </a:ln>
          </p:spPr>
        </p:sp>
        <p:sp>
          <p:nvSpPr>
            <p:cNvPr id="68" name="TextBox 68"/>
            <p:cNvSpPr txBox="1"/>
            <p:nvPr/>
          </p:nvSpPr>
          <p:spPr>
            <a:xfrm>
              <a:off x="565404" y="6442710"/>
              <a:ext cx="3105760"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Arial" panose="020B0604020202020204"/>
                  <a:ea typeface="微软雅黑" panose="020B0503020204020204" charset="-122"/>
                  <a:cs typeface="Arial" panose="020B0604020202020204"/>
                </a:rPr>
                <a:t>青霉素发酵稳定期目标变量预测 · 项目方案</a:t>
              </a:r>
              <a:endParaRPr lang="zh-CN" sz="1200" dirty="0">
                <a:solidFill>
                  <a:srgbClr val="000000"/>
                </a:solidFill>
                <a:latin typeface="Arial" panose="020B0604020202020204"/>
                <a:ea typeface="微软雅黑" panose="020B0503020204020204" charset="-122"/>
                <a:cs typeface="Arial" panose="020B0604020202020204"/>
              </a:endParaRPr>
            </a:p>
          </p:txBody>
        </p:sp>
        <p:sp>
          <p:nvSpPr>
            <p:cNvPr id="69" name="TextBox 69"/>
            <p:cNvSpPr txBox="1"/>
            <p:nvPr/>
          </p:nvSpPr>
          <p:spPr>
            <a:xfrm>
              <a:off x="11042599" y="6442710"/>
              <a:ext cx="583997" cy="234696"/>
            </a:xfrm>
            <a:prstGeom prst="rect">
              <a:avLst/>
            </a:prstGeom>
            <a:noFill/>
            <a:ln>
              <a:noFill/>
            </a:ln>
          </p:spPr>
          <p:txBody>
            <a:bodyPr wrap="none" lIns="0" tIns="0" rIns="0" bIns="0" anchor="t" anchorCtr="0">
              <a:spAutoFit/>
            </a:bodyPr>
            <a:lstStyle/>
            <a:p>
              <a:pPr algn="r"/>
              <a:r>
                <a:rPr lang="en-US" sz="1200" dirty="0">
                  <a:solidFill>
                    <a:srgbClr val="8A92A0"/>
                  </a:solidFill>
                  <a:latin typeface="Times New Roman" panose="02020603050405020304"/>
                  <a:ea typeface="Times New Roman" panose="02020603050405020304"/>
                  <a:cs typeface="Times New Roman" panose="02020603050405020304"/>
                </a:rPr>
                <a:t>02 / 05</a:t>
              </a:r>
              <a:endParaRPr lang="en-US" sz="1200" dirty="0">
                <a:solidFill>
                  <a:srgbClr val="8A92A0"/>
                </a:solidFill>
                <a:latin typeface="Times New Roman" panose="02020603050405020304"/>
                <a:ea typeface="Times New Roman" panose="02020603050405020304"/>
                <a:cs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7620000"/>
          </a:xfrm>
          <a:prstGeom prst="rect">
            <a:avLst/>
          </a:prstGeom>
          <a:solidFill>
            <a:srgbClr val="FFFFFF"/>
          </a:solidFill>
          <a:ln>
            <a:noFill/>
          </a:ln>
        </p:spPr>
      </p:sp>
      <p:grpSp>
        <p:nvGrpSpPr>
          <p:cNvPr id="8" name="Group 8"/>
          <p:cNvGrpSpPr/>
          <p:nvPr/>
        </p:nvGrpSpPr>
        <p:grpSpPr>
          <a:xfrm>
            <a:off x="555498" y="476250"/>
            <a:ext cx="11065002" cy="1228725"/>
            <a:chOff x="555498" y="476250"/>
            <a:chExt cx="11065002" cy="1228725"/>
          </a:xfrm>
        </p:grpSpPr>
        <p:sp>
          <p:nvSpPr>
            <p:cNvPr id="3" name="Rectangle 3"/>
            <p:cNvSpPr/>
            <p:nvPr/>
          </p:nvSpPr>
          <p:spPr>
            <a:xfrm>
              <a:off x="571500" y="476250"/>
              <a:ext cx="38100" cy="304800"/>
            </a:xfrm>
            <a:prstGeom prst="rect">
              <a:avLst/>
            </a:prstGeom>
            <a:solidFill>
              <a:srgbClr val="C9962B"/>
            </a:solidFill>
            <a:ln>
              <a:noFill/>
            </a:ln>
          </p:spPr>
        </p:sp>
        <p:sp>
          <p:nvSpPr>
            <p:cNvPr id="4" name="TextBox 4"/>
            <p:cNvSpPr txBox="1"/>
            <p:nvPr/>
          </p:nvSpPr>
          <p:spPr>
            <a:xfrm>
              <a:off x="736092" y="587692"/>
              <a:ext cx="2953691" cy="264033"/>
            </a:xfrm>
            <a:prstGeom prst="rect">
              <a:avLst/>
            </a:prstGeom>
            <a:noFill/>
            <a:ln>
              <a:noFill/>
            </a:ln>
          </p:spPr>
          <p:txBody>
            <a:bodyPr wrap="none" lIns="0" tIns="0" rIns="0" bIns="0" anchor="t" anchorCtr="0">
              <a:spAutoFit/>
            </a:bodyPr>
            <a:lstStyle/>
            <a:p>
              <a:pPr algn="l"/>
              <a:r>
                <a:rPr lang="en-US" sz="1350" b="1" spc="75" dirty="0">
                  <a:solidFill>
                    <a:srgbClr val="C9962B"/>
                  </a:solidFill>
                  <a:latin typeface="Times New Roman" panose="02020603050405020304"/>
                  <a:ea typeface="Times New Roman" panose="02020603050405020304"/>
                  <a:cs typeface="Times New Roman" panose="02020603050405020304"/>
                </a:rPr>
                <a:t>03 · DATA EXPLORATION</a:t>
              </a:r>
              <a:endParaRPr lang="en-US" sz="1350" b="1" spc="75" dirty="0">
                <a:solidFill>
                  <a:srgbClr val="C9962B"/>
                </a:solidFill>
                <a:latin typeface="Times New Roman" panose="02020603050405020304"/>
                <a:ea typeface="Times New Roman" panose="02020603050405020304"/>
                <a:cs typeface="Times New Roman" panose="02020603050405020304"/>
              </a:endParaRPr>
            </a:p>
          </p:txBody>
        </p:sp>
        <p:sp>
          <p:nvSpPr>
            <p:cNvPr id="5" name="TextBox 5"/>
            <p:cNvSpPr txBox="1"/>
            <p:nvPr/>
          </p:nvSpPr>
          <p:spPr>
            <a:xfrm>
              <a:off x="555498" y="802958"/>
              <a:ext cx="4266133" cy="616077"/>
            </a:xfrm>
            <a:prstGeom prst="rect">
              <a:avLst/>
            </a:prstGeom>
            <a:noFill/>
            <a:ln>
              <a:noFill/>
            </a:ln>
          </p:spPr>
          <p:txBody>
            <a:bodyPr wrap="none" lIns="0" tIns="0" rIns="0" bIns="0" anchor="t" anchorCtr="0">
              <a:spAutoFit/>
            </a:bodyPr>
            <a:lstStyle/>
            <a:p>
              <a:pPr algn="l"/>
              <a:r>
                <a:rPr lang="zh-CN" sz="3150" b="1" dirty="0">
                  <a:solidFill>
                    <a:srgbClr val="1A3A6B"/>
                  </a:solidFill>
                  <a:latin typeface="Times New Roman" panose="02020603050405020304"/>
                  <a:ea typeface="微软雅黑" panose="020B0503020204020204" charset="-122"/>
                  <a:cs typeface="Times New Roman" panose="02020603050405020304"/>
                </a:rPr>
                <a:t>数据探索与核心发现</a:t>
              </a:r>
              <a:endParaRPr lang="zh-CN" sz="3150" b="1" dirty="0">
                <a:solidFill>
                  <a:srgbClr val="1A3A6B"/>
                </a:solidFill>
                <a:latin typeface="Times New Roman" panose="02020603050405020304"/>
                <a:ea typeface="微软雅黑" panose="020B0503020204020204" charset="-122"/>
                <a:cs typeface="Times New Roman" panose="02020603050405020304"/>
              </a:endParaRPr>
            </a:p>
          </p:txBody>
        </p:sp>
        <p:sp>
          <p:nvSpPr>
            <p:cNvPr id="6" name="TextBox 6"/>
            <p:cNvSpPr txBox="1"/>
            <p:nvPr/>
          </p:nvSpPr>
          <p:spPr>
            <a:xfrm>
              <a:off x="562356" y="1310640"/>
              <a:ext cx="9555480" cy="352044"/>
            </a:xfrm>
            <a:prstGeom prst="rect">
              <a:avLst/>
            </a:prstGeom>
            <a:noFill/>
            <a:ln>
              <a:noFill/>
            </a:ln>
          </p:spPr>
          <p:txBody>
            <a:bodyPr wrap="none" lIns="0" tIns="0" rIns="0" bIns="0" anchor="t" anchorCtr="0">
              <a:spAutoFit/>
            </a:bodyPr>
            <a:lstStyle/>
            <a:p>
              <a:pPr algn="l"/>
              <a:r>
                <a:rPr lang="zh-CN" sz="1800" dirty="0">
                  <a:solidFill>
                    <a:srgbClr val="1D2430"/>
                  </a:solidFill>
                  <a:latin typeface="Arial" panose="020B0604020202020204"/>
                  <a:ea typeface="微软雅黑" panose="020B0503020204020204" charset="-122"/>
                  <a:cs typeface="Arial" panose="020B0604020202020204"/>
                </a:rPr>
                <a:t>三类控制类型目标分布</a:t>
              </a:r>
              <a:r>
                <a:rPr lang="zh-CN" sz="1800" b="1" dirty="0">
                  <a:solidFill>
                    <a:srgbClr val="C9962B"/>
                  </a:solidFill>
                  <a:latin typeface="Arial" panose="020B0604020202020204"/>
                  <a:ea typeface="微软雅黑" panose="020B0503020204020204" charset="-122"/>
                  <a:cs typeface="Arial" panose="020B0604020202020204"/>
                </a:rPr>
                <a:t>显著不同</a:t>
              </a:r>
              <a:r>
                <a:rPr lang="zh-CN" sz="1800" dirty="0">
                  <a:solidFill>
                    <a:srgbClr val="1D2430"/>
                  </a:solidFill>
                  <a:latin typeface="Arial" panose="020B0604020202020204"/>
                  <a:ea typeface="微软雅黑" panose="020B0503020204020204" charset="-122"/>
                  <a:cs typeface="Arial" panose="020B0604020202020204"/>
                </a:rPr>
                <a:t>——这是整个方案的</a:t>
              </a:r>
              <a:r>
                <a:rPr lang="zh-CN" sz="1800" b="1" dirty="0">
                  <a:solidFill>
                    <a:srgbClr val="1A3A6B"/>
                  </a:solidFill>
                  <a:latin typeface="Arial" panose="020B0604020202020204"/>
                  <a:ea typeface="微软雅黑" panose="020B0503020204020204" charset="-122"/>
                  <a:cs typeface="Arial" panose="020B0604020202020204"/>
                </a:rPr>
                <a:t>核心决策点</a:t>
              </a:r>
              <a:r>
                <a:rPr lang="zh-CN" sz="1800" dirty="0">
                  <a:solidFill>
                    <a:srgbClr val="1D2430"/>
                  </a:solidFill>
                  <a:latin typeface="Arial" panose="020B0604020202020204"/>
                  <a:ea typeface="微软雅黑" panose="020B0503020204020204" charset="-122"/>
                  <a:cs typeface="Arial" panose="020B0604020202020204"/>
                </a:rPr>
                <a:t>，决定按 CT 分别建模</a:t>
              </a:r>
              <a:endParaRPr lang="zh-CN" sz="1800" dirty="0">
                <a:solidFill>
                  <a:srgbClr val="1D2430"/>
                </a:solidFill>
                <a:latin typeface="Arial" panose="020B0604020202020204"/>
                <a:ea typeface="微软雅黑" panose="020B0503020204020204" charset="-122"/>
                <a:cs typeface="Arial" panose="020B0604020202020204"/>
              </a:endParaRPr>
            </a:p>
          </p:txBody>
        </p:sp>
        <p:sp>
          <p:nvSpPr>
            <p:cNvPr id="7" name="Line 7"/>
            <p:cNvSpPr/>
            <p:nvPr/>
          </p:nvSpPr>
          <p:spPr>
            <a:xfrm>
              <a:off x="571500" y="1695450"/>
              <a:ext cx="11049000" cy="9525"/>
            </a:xfrm>
            <a:custGeom>
              <a:avLst/>
              <a:gdLst/>
              <a:ahLst/>
              <a:cxnLst/>
              <a:rect l="l" t="t" r="r" b="b"/>
              <a:pathLst>
                <a:path w="11049000" h="9525">
                  <a:moveTo>
                    <a:pt x="0" y="0"/>
                  </a:moveTo>
                  <a:lnTo>
                    <a:pt x="11049000" y="0"/>
                  </a:lnTo>
                </a:path>
              </a:pathLst>
            </a:custGeom>
            <a:noFill/>
            <a:ln w="9525">
              <a:solidFill>
                <a:srgbClr val="E0E4EA"/>
              </a:solidFill>
            </a:ln>
          </p:spPr>
        </p:sp>
      </p:grpSp>
      <p:grpSp>
        <p:nvGrpSpPr>
          <p:cNvPr id="40" name="Group 40"/>
          <p:cNvGrpSpPr/>
          <p:nvPr/>
        </p:nvGrpSpPr>
        <p:grpSpPr>
          <a:xfrm>
            <a:off x="565404" y="1905000"/>
            <a:ext cx="6005293" cy="2962656"/>
            <a:chOff x="565404" y="1905000"/>
            <a:chExt cx="6005293" cy="2962656"/>
          </a:xfrm>
        </p:grpSpPr>
        <p:sp>
          <p:nvSpPr>
            <p:cNvPr id="9" name="Rectangle 9"/>
            <p:cNvSpPr/>
            <p:nvPr/>
          </p:nvSpPr>
          <p:spPr>
            <a:xfrm>
              <a:off x="571500" y="1905000"/>
              <a:ext cx="5905500" cy="2647950"/>
            </a:xfrm>
            <a:prstGeom prst="rect">
              <a:avLst/>
            </a:prstGeom>
            <a:noFill/>
            <a:ln w="14288">
              <a:solidFill>
                <a:srgbClr val="E0E4EA"/>
              </a:solidFill>
            </a:ln>
          </p:spPr>
        </p:sp>
        <p:grpSp>
          <p:nvGrpSpPr>
            <p:cNvPr id="38" name="Group 38"/>
            <p:cNvGrpSpPr/>
            <p:nvPr/>
          </p:nvGrpSpPr>
          <p:grpSpPr>
            <a:xfrm>
              <a:off x="571500" y="1905000"/>
              <a:ext cx="5905500" cy="2647950"/>
              <a:chOff x="571500" y="1905000"/>
              <a:chExt cx="5905500" cy="2647950"/>
            </a:xfrm>
          </p:grpSpPr>
          <p:sp>
            <p:nvSpPr>
              <p:cNvPr id="10" name="Rectangle 10"/>
              <p:cNvSpPr/>
              <p:nvPr/>
            </p:nvSpPr>
            <p:spPr>
              <a:xfrm>
                <a:off x="571500" y="1905000"/>
                <a:ext cx="5905500" cy="457200"/>
              </a:xfrm>
              <a:prstGeom prst="rect">
                <a:avLst/>
              </a:prstGeom>
              <a:solidFill>
                <a:srgbClr val="1A3A6B"/>
              </a:solidFill>
              <a:ln>
                <a:noFill/>
              </a:ln>
            </p:spPr>
          </p:sp>
          <p:sp>
            <p:nvSpPr>
              <p:cNvPr id="11" name="TextBox 11"/>
              <p:cNvSpPr txBox="1"/>
              <p:nvPr/>
            </p:nvSpPr>
            <p:spPr>
              <a:xfrm>
                <a:off x="715640" y="2061210"/>
                <a:ext cx="664220" cy="234696"/>
              </a:xfrm>
              <a:prstGeom prst="rect">
                <a:avLst/>
              </a:prstGeom>
              <a:noFill/>
              <a:ln>
                <a:noFill/>
              </a:ln>
            </p:spPr>
            <p:txBody>
              <a:bodyPr wrap="none" lIns="0" tIns="0" rIns="0" bIns="0" anchor="t" anchorCtr="0">
                <a:spAutoFit/>
              </a:bodyPr>
              <a:lstStyle/>
              <a:p>
                <a:pPr algn="ctr"/>
                <a:r>
                  <a:rPr lang="zh-CN" sz="1200" b="1" spc="75" dirty="0">
                    <a:solidFill>
                      <a:srgbClr val="FFFFFF"/>
                    </a:solidFill>
                    <a:latin typeface="Arial" panose="020B0604020202020204"/>
                    <a:ea typeface="微软雅黑" panose="020B0503020204020204" charset="-122"/>
                    <a:cs typeface="Arial" panose="020B0604020202020204"/>
                  </a:rPr>
                  <a:t>CT 类型</a:t>
                </a:r>
                <a:endParaRPr lang="zh-CN" sz="1200" b="1" spc="75" dirty="0">
                  <a:solidFill>
                    <a:srgbClr val="FFFFFF"/>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1634376" y="2061210"/>
                <a:ext cx="541249" cy="234696"/>
              </a:xfrm>
              <a:prstGeom prst="rect">
                <a:avLst/>
              </a:prstGeom>
              <a:noFill/>
              <a:ln>
                <a:noFill/>
              </a:ln>
            </p:spPr>
            <p:txBody>
              <a:bodyPr wrap="none" lIns="0" tIns="0" rIns="0" bIns="0" anchor="t" anchorCtr="0">
                <a:spAutoFit/>
              </a:bodyPr>
              <a:lstStyle/>
              <a:p>
                <a:pPr algn="ctr"/>
                <a:r>
                  <a:rPr lang="zh-CN" sz="1200" b="1" spc="75" dirty="0">
                    <a:solidFill>
                      <a:srgbClr val="FFFFFF"/>
                    </a:solidFill>
                    <a:latin typeface="Arial" panose="020B0604020202020204"/>
                    <a:ea typeface="微软雅黑" panose="020B0503020204020204" charset="-122"/>
                    <a:cs typeface="Arial" panose="020B0604020202020204"/>
                  </a:rPr>
                  <a:t>样本数</a:t>
                </a:r>
                <a:endParaRPr lang="zh-CN" sz="1200" b="1" spc="75" dirty="0">
                  <a:solidFill>
                    <a:srgbClr val="FFFFFF"/>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2735142" y="2061210"/>
                <a:ext cx="720966" cy="234696"/>
              </a:xfrm>
              <a:prstGeom prst="rect">
                <a:avLst/>
              </a:prstGeom>
              <a:noFill/>
              <a:ln>
                <a:noFill/>
              </a:ln>
            </p:spPr>
            <p:txBody>
              <a:bodyPr wrap="none" lIns="0" tIns="0" rIns="0" bIns="0" anchor="t" anchorCtr="0">
                <a:spAutoFit/>
              </a:bodyPr>
              <a:lstStyle/>
              <a:p>
                <a:pPr algn="ctr"/>
                <a:r>
                  <a:rPr lang="zh-CN" sz="1200" b="1" spc="75" dirty="0">
                    <a:solidFill>
                      <a:srgbClr val="FFFFFF"/>
                    </a:solidFill>
                    <a:latin typeface="Arial" panose="020B0604020202020204"/>
                    <a:ea typeface="微软雅黑" panose="020B0503020204020204" charset="-122"/>
                    <a:cs typeface="Arial" panose="020B0604020202020204"/>
                  </a:rPr>
                  <a:t>工艺含义</a:t>
                </a:r>
                <a:endParaRPr lang="zh-CN" sz="1200" b="1" spc="75" dirty="0">
                  <a:solidFill>
                    <a:srgbClr val="FFFFFF"/>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4449642" y="2061210"/>
                <a:ext cx="720966" cy="234696"/>
              </a:xfrm>
              <a:prstGeom prst="rect">
                <a:avLst/>
              </a:prstGeom>
              <a:noFill/>
              <a:ln>
                <a:noFill/>
              </a:ln>
            </p:spPr>
            <p:txBody>
              <a:bodyPr wrap="none" lIns="0" tIns="0" rIns="0" bIns="0" anchor="t" anchorCtr="0">
                <a:spAutoFit/>
              </a:bodyPr>
              <a:lstStyle/>
              <a:p>
                <a:pPr algn="ctr"/>
                <a:r>
                  <a:rPr lang="zh-CN" sz="1200" b="1" spc="75" dirty="0">
                    <a:solidFill>
                      <a:srgbClr val="FFFFFF"/>
                    </a:solidFill>
                    <a:latin typeface="Arial" panose="020B0604020202020204"/>
                    <a:ea typeface="微软雅黑" panose="020B0503020204020204" charset="-122"/>
                    <a:cs typeface="Arial" panose="020B0604020202020204"/>
                  </a:rPr>
                  <a:t>目标均值</a:t>
                </a:r>
                <a:endParaRPr lang="zh-CN" sz="1200" b="1" spc="75"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5587251" y="2061210"/>
                <a:ext cx="541249" cy="234696"/>
              </a:xfrm>
              <a:prstGeom prst="rect">
                <a:avLst/>
              </a:prstGeom>
              <a:noFill/>
              <a:ln>
                <a:noFill/>
              </a:ln>
            </p:spPr>
            <p:txBody>
              <a:bodyPr wrap="none" lIns="0" tIns="0" rIns="0" bIns="0" anchor="t" anchorCtr="0">
                <a:spAutoFit/>
              </a:bodyPr>
              <a:lstStyle/>
              <a:p>
                <a:pPr algn="ctr"/>
                <a:r>
                  <a:rPr lang="zh-CN" sz="1200" b="1" spc="75" dirty="0">
                    <a:solidFill>
                      <a:srgbClr val="FFFFFF"/>
                    </a:solidFill>
                    <a:latin typeface="Arial" panose="020B0604020202020204"/>
                    <a:ea typeface="微软雅黑" panose="020B0503020204020204" charset="-122"/>
                    <a:cs typeface="Arial" panose="020B0604020202020204"/>
                  </a:rPr>
                  <a:t>标准差</a:t>
                </a:r>
                <a:endParaRPr lang="zh-CN" sz="1200" b="1" spc="75" dirty="0">
                  <a:solidFill>
                    <a:srgbClr val="FFFFFF"/>
                  </a:solidFill>
                  <a:latin typeface="Arial" panose="020B0604020202020204"/>
                  <a:ea typeface="微软雅黑" panose="020B0503020204020204" charset="-122"/>
                  <a:cs typeface="Arial" panose="020B0604020202020204"/>
                </a:endParaRPr>
              </a:p>
            </p:txBody>
          </p:sp>
          <p:sp>
            <p:nvSpPr>
              <p:cNvPr id="16" name="Line 16"/>
              <p:cNvSpPr/>
              <p:nvPr/>
            </p:nvSpPr>
            <p:spPr>
              <a:xfrm>
                <a:off x="1524000" y="1905000"/>
                <a:ext cx="9525" cy="2647950"/>
              </a:xfrm>
              <a:custGeom>
                <a:avLst/>
                <a:gdLst/>
                <a:ahLst/>
                <a:cxnLst/>
                <a:rect l="l" t="t" r="r" b="b"/>
                <a:pathLst>
                  <a:path w="9525" h="2647950">
                    <a:moveTo>
                      <a:pt x="0" y="0"/>
                    </a:moveTo>
                    <a:lnTo>
                      <a:pt x="0" y="2647950"/>
                    </a:lnTo>
                  </a:path>
                </a:pathLst>
              </a:custGeom>
              <a:noFill/>
              <a:ln w="9525">
                <a:solidFill>
                  <a:srgbClr val="E0E4EA"/>
                </a:solidFill>
              </a:ln>
            </p:spPr>
          </p:sp>
          <p:sp>
            <p:nvSpPr>
              <p:cNvPr id="17" name="Line 17"/>
              <p:cNvSpPr/>
              <p:nvPr/>
            </p:nvSpPr>
            <p:spPr>
              <a:xfrm>
                <a:off x="2286000" y="1905000"/>
                <a:ext cx="9525" cy="2647950"/>
              </a:xfrm>
              <a:custGeom>
                <a:avLst/>
                <a:gdLst/>
                <a:ahLst/>
                <a:cxnLst/>
                <a:rect l="l" t="t" r="r" b="b"/>
                <a:pathLst>
                  <a:path w="9525" h="2647950">
                    <a:moveTo>
                      <a:pt x="0" y="0"/>
                    </a:moveTo>
                    <a:lnTo>
                      <a:pt x="0" y="2647950"/>
                    </a:lnTo>
                  </a:path>
                </a:pathLst>
              </a:custGeom>
              <a:noFill/>
              <a:ln w="9525">
                <a:solidFill>
                  <a:srgbClr val="E0E4EA"/>
                </a:solidFill>
              </a:ln>
            </p:spPr>
          </p:sp>
          <p:sp>
            <p:nvSpPr>
              <p:cNvPr id="18" name="Line 18"/>
              <p:cNvSpPr/>
              <p:nvPr/>
            </p:nvSpPr>
            <p:spPr>
              <a:xfrm>
                <a:off x="3905250" y="1905000"/>
                <a:ext cx="9525" cy="2647950"/>
              </a:xfrm>
              <a:custGeom>
                <a:avLst/>
                <a:gdLst/>
                <a:ahLst/>
                <a:cxnLst/>
                <a:rect l="l" t="t" r="r" b="b"/>
                <a:pathLst>
                  <a:path w="9525" h="2647950">
                    <a:moveTo>
                      <a:pt x="0" y="0"/>
                    </a:moveTo>
                    <a:lnTo>
                      <a:pt x="0" y="2647950"/>
                    </a:lnTo>
                  </a:path>
                </a:pathLst>
              </a:custGeom>
              <a:noFill/>
              <a:ln w="9525">
                <a:solidFill>
                  <a:srgbClr val="E0E4EA"/>
                </a:solidFill>
              </a:ln>
            </p:spPr>
          </p:sp>
          <p:sp>
            <p:nvSpPr>
              <p:cNvPr id="19" name="Line 19"/>
              <p:cNvSpPr/>
              <p:nvPr/>
            </p:nvSpPr>
            <p:spPr>
              <a:xfrm>
                <a:off x="5238750" y="1905000"/>
                <a:ext cx="9525" cy="2647950"/>
              </a:xfrm>
              <a:custGeom>
                <a:avLst/>
                <a:gdLst/>
                <a:ahLst/>
                <a:cxnLst/>
                <a:rect l="l" t="t" r="r" b="b"/>
                <a:pathLst>
                  <a:path w="9525" h="2647950">
                    <a:moveTo>
                      <a:pt x="0" y="0"/>
                    </a:moveTo>
                    <a:lnTo>
                      <a:pt x="0" y="2647950"/>
                    </a:lnTo>
                  </a:path>
                </a:pathLst>
              </a:custGeom>
              <a:noFill/>
              <a:ln w="9525">
                <a:solidFill>
                  <a:srgbClr val="E0E4EA"/>
                </a:solidFill>
              </a:ln>
            </p:spPr>
          </p:sp>
          <p:sp>
            <p:nvSpPr>
              <p:cNvPr id="20" name="TextBox 20"/>
              <p:cNvSpPr txBox="1"/>
              <p:nvPr/>
            </p:nvSpPr>
            <p:spPr>
              <a:xfrm>
                <a:off x="716790" y="2552700"/>
                <a:ext cx="661921" cy="293370"/>
              </a:xfrm>
              <a:prstGeom prst="rect">
                <a:avLst/>
              </a:prstGeom>
              <a:noFill/>
              <a:ln>
                <a:noFill/>
              </a:ln>
            </p:spPr>
            <p:txBody>
              <a:bodyPr wrap="none" lIns="0" tIns="0" rIns="0" bIns="0" anchor="t" anchorCtr="0">
                <a:spAutoFit/>
              </a:bodyPr>
              <a:lstStyle/>
              <a:p>
                <a:pPr algn="ctr"/>
                <a:r>
                  <a:rPr lang="en-US" sz="1500" b="1" dirty="0">
                    <a:solidFill>
                      <a:srgbClr val="1A3A6B"/>
                    </a:solidFill>
                    <a:latin typeface="Arial" panose="020B0604020202020204"/>
                    <a:ea typeface="Arial" panose="020B0604020202020204"/>
                    <a:cs typeface="Arial" panose="020B0604020202020204"/>
                  </a:rPr>
                  <a:t>recipe</a:t>
                </a:r>
                <a:endParaRPr lang="en-US" sz="1500" b="1" dirty="0">
                  <a:solidFill>
                    <a:srgbClr val="1A3A6B"/>
                  </a:solidFill>
                  <a:latin typeface="Arial" panose="020B0604020202020204"/>
                  <a:ea typeface="Arial" panose="020B0604020202020204"/>
                  <a:cs typeface="Arial" panose="020B0604020202020204"/>
                </a:endParaRPr>
              </a:p>
            </p:txBody>
          </p:sp>
          <p:sp>
            <p:nvSpPr>
              <p:cNvPr id="21" name="TextBox 21"/>
              <p:cNvSpPr txBox="1"/>
              <p:nvPr/>
            </p:nvSpPr>
            <p:spPr>
              <a:xfrm>
                <a:off x="1809750" y="2552700"/>
                <a:ext cx="190500" cy="230505"/>
              </a:xfrm>
              <a:prstGeom prst="rect">
                <a:avLst/>
              </a:prstGeom>
              <a:noFill/>
              <a:ln>
                <a:noFill/>
              </a:ln>
            </p:spPr>
            <p:txBody>
              <a:bodyPr wrap="none" lIns="0" tIns="0" rIns="0" bIns="0" anchor="t" anchorCtr="0">
                <a:spAutoFit/>
              </a:bodyPr>
              <a:lstStyle/>
              <a:p>
                <a:pPr algn="ctr"/>
                <a:r>
                  <a:rPr lang="en-US" sz="1500" b="1" dirty="0">
                    <a:solidFill>
                      <a:srgbClr val="000000"/>
                    </a:solidFill>
                    <a:latin typeface="Times New Roman" panose="02020603050405020304"/>
                    <a:ea typeface="Times New Roman" panose="02020603050405020304"/>
                    <a:cs typeface="Times New Roman" panose="02020603050405020304"/>
                  </a:rPr>
                  <a:t>60</a:t>
                </a:r>
                <a:endParaRPr lang="en-US" sz="1500" b="1" dirty="0">
                  <a:solidFill>
                    <a:srgbClr val="000000"/>
                  </a:solidFill>
                  <a:latin typeface="Times New Roman" panose="02020603050405020304"/>
                  <a:ea typeface="Times New Roman" panose="02020603050405020304"/>
                  <a:cs typeface="Times New Roman" panose="02020603050405020304"/>
                </a:endParaRPr>
              </a:p>
            </p:txBody>
          </p:sp>
          <p:sp>
            <p:nvSpPr>
              <p:cNvPr id="22" name="TextBox 22"/>
              <p:cNvSpPr txBox="1"/>
              <p:nvPr/>
            </p:nvSpPr>
            <p:spPr>
              <a:xfrm>
                <a:off x="2393442" y="2568892"/>
                <a:ext cx="1205103" cy="264033"/>
              </a:xfrm>
              <a:prstGeom prst="rect">
                <a:avLst/>
              </a:prstGeom>
              <a:noFill/>
              <a:ln>
                <a:noFill/>
              </a:ln>
            </p:spPr>
            <p:txBody>
              <a:bodyPr wrap="none" lIns="0" tIns="0" rIns="0" bIns="0" anchor="t" anchorCtr="0">
                <a:spAutoFit/>
              </a:bodyPr>
              <a:lstStyle/>
              <a:p>
                <a:pPr algn="l"/>
                <a:r>
                  <a:rPr lang="zh-CN" sz="1350" spc="150" dirty="0">
                    <a:solidFill>
                      <a:srgbClr val="1D2430"/>
                    </a:solidFill>
                    <a:latin typeface="Arial" panose="020B0604020202020204"/>
                    <a:ea typeface="微软雅黑" panose="020B0503020204020204" charset="-122"/>
                    <a:cs typeface="Arial" panose="020B0604020202020204"/>
                  </a:rPr>
                  <a:t>固定配方控制</a:t>
                </a:r>
                <a:endParaRPr lang="zh-CN" sz="1350" spc="150" dirty="0">
                  <a:solidFill>
                    <a:srgbClr val="1D2430"/>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4395711" y="2536508"/>
                <a:ext cx="737121" cy="322707"/>
              </a:xfrm>
              <a:prstGeom prst="rect">
                <a:avLst/>
              </a:prstGeom>
              <a:noFill/>
              <a:ln>
                <a:noFill/>
              </a:ln>
            </p:spPr>
            <p:txBody>
              <a:bodyPr wrap="none" lIns="0" tIns="0" rIns="0" bIns="0" anchor="t" anchorCtr="0">
                <a:spAutoFit/>
              </a:bodyPr>
              <a:lstStyle/>
              <a:p>
                <a:pPr algn="r"/>
                <a:r>
                  <a:rPr lang="en-US" sz="1650" b="1" spc="75" dirty="0">
                    <a:solidFill>
                      <a:srgbClr val="1A3A6B"/>
                    </a:solidFill>
                    <a:latin typeface="Times New Roman" panose="02020603050405020304"/>
                    <a:ea typeface="Times New Roman" panose="02020603050405020304"/>
                    <a:cs typeface="Times New Roman" panose="02020603050405020304"/>
                  </a:rPr>
                  <a:t>24.84</a:t>
                </a:r>
                <a:endParaRPr lang="en-US" sz="1650" b="1" spc="75" dirty="0">
                  <a:solidFill>
                    <a:srgbClr val="1A3A6B"/>
                  </a:solidFill>
                  <a:latin typeface="Times New Roman" panose="02020603050405020304"/>
                  <a:ea typeface="Times New Roman" panose="02020603050405020304"/>
                  <a:cs typeface="Times New Roman" panose="02020603050405020304"/>
                </a:endParaRPr>
              </a:p>
            </p:txBody>
          </p:sp>
          <p:sp>
            <p:nvSpPr>
              <p:cNvPr id="24" name="TextBox 24"/>
              <p:cNvSpPr txBox="1"/>
              <p:nvPr/>
            </p:nvSpPr>
            <p:spPr>
              <a:xfrm>
                <a:off x="4730401" y="2791778"/>
                <a:ext cx="399383" cy="205359"/>
              </a:xfrm>
              <a:prstGeom prst="rect">
                <a:avLst/>
              </a:prstGeom>
              <a:noFill/>
              <a:ln>
                <a:noFill/>
              </a:ln>
            </p:spPr>
            <p:txBody>
              <a:bodyPr wrap="none" lIns="0" tIns="0" rIns="0" bIns="0" anchor="t" anchorCtr="0">
                <a:spAutoFit/>
              </a:bodyPr>
              <a:lstStyle/>
              <a:p>
                <a:pPr algn="r"/>
                <a:r>
                  <a:rPr lang="en-US" sz="1050" dirty="0">
                    <a:solidFill>
                      <a:srgbClr val="8A92A0"/>
                    </a:solidFill>
                    <a:latin typeface="Arial" panose="020B0604020202020204"/>
                    <a:ea typeface="Arial" panose="020B0604020202020204"/>
                    <a:cs typeface="Arial" panose="020B0604020202020204"/>
                  </a:rPr>
                  <a:t>±4.56</a:t>
                </a:r>
                <a:endParaRPr lang="en-US" sz="1050" dirty="0">
                  <a:solidFill>
                    <a:srgbClr val="8A92A0"/>
                  </a:solidFill>
                  <a:latin typeface="Arial" panose="020B0604020202020204"/>
                  <a:ea typeface="Arial" panose="020B0604020202020204"/>
                  <a:cs typeface="Arial" panose="020B0604020202020204"/>
                </a:endParaRPr>
              </a:p>
            </p:txBody>
          </p:sp>
          <p:sp>
            <p:nvSpPr>
              <p:cNvPr id="25" name="Line 25"/>
              <p:cNvSpPr/>
              <p:nvPr/>
            </p:nvSpPr>
            <p:spPr>
              <a:xfrm>
                <a:off x="571500" y="3028950"/>
                <a:ext cx="5905500" cy="9525"/>
              </a:xfrm>
              <a:custGeom>
                <a:avLst/>
                <a:gdLst/>
                <a:ahLst/>
                <a:cxnLst/>
                <a:rect l="l" t="t" r="r" b="b"/>
                <a:pathLst>
                  <a:path w="5905500" h="9525">
                    <a:moveTo>
                      <a:pt x="0" y="0"/>
                    </a:moveTo>
                    <a:lnTo>
                      <a:pt x="5905500" y="0"/>
                    </a:lnTo>
                  </a:path>
                </a:pathLst>
              </a:custGeom>
              <a:noFill/>
              <a:ln w="9525">
                <a:solidFill>
                  <a:srgbClr val="EDEFF2"/>
                </a:solidFill>
              </a:ln>
            </p:spPr>
          </p:sp>
          <p:sp>
            <p:nvSpPr>
              <p:cNvPr id="26" name="TextBox 26"/>
              <p:cNvSpPr txBox="1"/>
              <p:nvPr/>
            </p:nvSpPr>
            <p:spPr>
              <a:xfrm>
                <a:off x="573672" y="3219450"/>
                <a:ext cx="948157" cy="293370"/>
              </a:xfrm>
              <a:prstGeom prst="rect">
                <a:avLst/>
              </a:prstGeom>
              <a:noFill/>
              <a:ln>
                <a:noFill/>
              </a:ln>
            </p:spPr>
            <p:txBody>
              <a:bodyPr wrap="none" lIns="0" tIns="0" rIns="0" bIns="0" anchor="t" anchorCtr="0">
                <a:spAutoFit/>
              </a:bodyPr>
              <a:lstStyle/>
              <a:p>
                <a:pPr algn="ctr"/>
                <a:r>
                  <a:rPr lang="en-US" sz="1500" b="1" dirty="0">
                    <a:solidFill>
                      <a:srgbClr val="4A7BB5"/>
                    </a:solidFill>
                    <a:latin typeface="Arial" panose="020B0604020202020204"/>
                    <a:ea typeface="Arial" panose="020B0604020202020204"/>
                    <a:cs typeface="Arial" panose="020B0604020202020204"/>
                  </a:rPr>
                  <a:t>operator</a:t>
                </a:r>
                <a:endParaRPr lang="en-US" sz="1500" b="1" dirty="0">
                  <a:solidFill>
                    <a:srgbClr val="4A7BB5"/>
                  </a:solidFill>
                  <a:latin typeface="Arial" panose="020B0604020202020204"/>
                  <a:ea typeface="Arial" panose="020B0604020202020204"/>
                  <a:cs typeface="Arial" panose="020B0604020202020204"/>
                </a:endParaRPr>
              </a:p>
            </p:txBody>
          </p:sp>
          <p:sp>
            <p:nvSpPr>
              <p:cNvPr id="27" name="TextBox 27"/>
              <p:cNvSpPr txBox="1"/>
              <p:nvPr/>
            </p:nvSpPr>
            <p:spPr>
              <a:xfrm>
                <a:off x="1809750" y="3219450"/>
                <a:ext cx="190500" cy="230505"/>
              </a:xfrm>
              <a:prstGeom prst="rect">
                <a:avLst/>
              </a:prstGeom>
              <a:noFill/>
              <a:ln>
                <a:noFill/>
              </a:ln>
            </p:spPr>
            <p:txBody>
              <a:bodyPr wrap="none" lIns="0" tIns="0" rIns="0" bIns="0" anchor="t" anchorCtr="0">
                <a:spAutoFit/>
              </a:bodyPr>
              <a:lstStyle/>
              <a:p>
                <a:pPr algn="ctr"/>
                <a:r>
                  <a:rPr lang="en-US" sz="1500" b="1" dirty="0">
                    <a:solidFill>
                      <a:srgbClr val="000000"/>
                    </a:solidFill>
                    <a:latin typeface="Times New Roman" panose="02020603050405020304"/>
                    <a:ea typeface="Times New Roman" panose="02020603050405020304"/>
                    <a:cs typeface="Times New Roman" panose="02020603050405020304"/>
                  </a:rPr>
                  <a:t>60</a:t>
                </a:r>
                <a:endParaRPr lang="en-US" sz="1500" b="1" dirty="0">
                  <a:solidFill>
                    <a:srgbClr val="000000"/>
                  </a:solidFill>
                  <a:latin typeface="Times New Roman" panose="02020603050405020304"/>
                  <a:ea typeface="Times New Roman" panose="02020603050405020304"/>
                  <a:cs typeface="Times New Roman" panose="02020603050405020304"/>
                </a:endParaRPr>
              </a:p>
            </p:txBody>
          </p:sp>
          <p:sp>
            <p:nvSpPr>
              <p:cNvPr id="28" name="TextBox 28"/>
              <p:cNvSpPr txBox="1"/>
              <p:nvPr/>
            </p:nvSpPr>
            <p:spPr>
              <a:xfrm>
                <a:off x="2393442" y="3235642"/>
                <a:ext cx="1285875"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操作员人工干预</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4438383" y="3203258"/>
                <a:ext cx="694449" cy="322707"/>
              </a:xfrm>
              <a:prstGeom prst="rect">
                <a:avLst/>
              </a:prstGeom>
              <a:noFill/>
              <a:ln>
                <a:noFill/>
              </a:ln>
            </p:spPr>
            <p:txBody>
              <a:bodyPr wrap="none" lIns="0" tIns="0" rIns="0" bIns="0" anchor="t" anchorCtr="0">
                <a:spAutoFit/>
              </a:bodyPr>
              <a:lstStyle/>
              <a:p>
                <a:pPr algn="r"/>
                <a:r>
                  <a:rPr lang="en-US" sz="1650" b="1" dirty="0">
                    <a:solidFill>
                      <a:srgbClr val="4A7BB5"/>
                    </a:solidFill>
                    <a:latin typeface="Times New Roman" panose="02020603050405020304"/>
                    <a:ea typeface="Times New Roman" panose="02020603050405020304"/>
                    <a:cs typeface="Times New Roman" panose="02020603050405020304"/>
                  </a:rPr>
                  <a:t>25.05</a:t>
                </a:r>
                <a:endParaRPr lang="en-US" sz="1650" b="1" dirty="0">
                  <a:solidFill>
                    <a:srgbClr val="4A7BB5"/>
                  </a:solidFill>
                  <a:latin typeface="Times New Roman" panose="02020603050405020304"/>
                  <a:ea typeface="Times New Roman" panose="02020603050405020304"/>
                  <a:cs typeface="Times New Roman" panose="02020603050405020304"/>
                </a:endParaRPr>
              </a:p>
            </p:txBody>
          </p:sp>
          <p:sp>
            <p:nvSpPr>
              <p:cNvPr id="30" name="TextBox 30"/>
              <p:cNvSpPr txBox="1"/>
              <p:nvPr/>
            </p:nvSpPr>
            <p:spPr>
              <a:xfrm>
                <a:off x="4730401" y="3458528"/>
                <a:ext cx="399383" cy="205359"/>
              </a:xfrm>
              <a:prstGeom prst="rect">
                <a:avLst/>
              </a:prstGeom>
              <a:noFill/>
              <a:ln>
                <a:noFill/>
              </a:ln>
            </p:spPr>
            <p:txBody>
              <a:bodyPr wrap="none" lIns="0" tIns="0" rIns="0" bIns="0" anchor="t" anchorCtr="0">
                <a:spAutoFit/>
              </a:bodyPr>
              <a:lstStyle/>
              <a:p>
                <a:pPr algn="r"/>
                <a:r>
                  <a:rPr lang="en-US" sz="1050" dirty="0">
                    <a:solidFill>
                      <a:srgbClr val="8A92A0"/>
                    </a:solidFill>
                    <a:latin typeface="Arial" panose="020B0604020202020204"/>
                    <a:ea typeface="Arial" panose="020B0604020202020204"/>
                    <a:cs typeface="Arial" panose="020B0604020202020204"/>
                  </a:rPr>
                  <a:t>±4.89</a:t>
                </a:r>
                <a:endParaRPr lang="en-US" sz="1050" dirty="0">
                  <a:solidFill>
                    <a:srgbClr val="8A92A0"/>
                  </a:solidFill>
                  <a:latin typeface="Arial" panose="020B0604020202020204"/>
                  <a:ea typeface="Arial" panose="020B0604020202020204"/>
                  <a:cs typeface="Arial" panose="020B0604020202020204"/>
                </a:endParaRPr>
              </a:p>
            </p:txBody>
          </p:sp>
          <p:sp>
            <p:nvSpPr>
              <p:cNvPr id="31" name="Line 31"/>
              <p:cNvSpPr/>
              <p:nvPr/>
            </p:nvSpPr>
            <p:spPr>
              <a:xfrm>
                <a:off x="571500" y="3695700"/>
                <a:ext cx="5905500" cy="9525"/>
              </a:xfrm>
              <a:custGeom>
                <a:avLst/>
                <a:gdLst/>
                <a:ahLst/>
                <a:cxnLst/>
                <a:rect l="l" t="t" r="r" b="b"/>
                <a:pathLst>
                  <a:path w="5905500" h="9525">
                    <a:moveTo>
                      <a:pt x="0" y="0"/>
                    </a:moveTo>
                    <a:lnTo>
                      <a:pt x="5905500" y="0"/>
                    </a:lnTo>
                  </a:path>
                </a:pathLst>
              </a:custGeom>
              <a:noFill/>
              <a:ln w="9525">
                <a:solidFill>
                  <a:srgbClr val="EDEFF2"/>
                </a:solidFill>
              </a:ln>
            </p:spPr>
          </p:sp>
          <p:sp>
            <p:nvSpPr>
              <p:cNvPr id="32" name="Rectangle 32"/>
              <p:cNvSpPr/>
              <p:nvPr/>
            </p:nvSpPr>
            <p:spPr>
              <a:xfrm>
                <a:off x="571500" y="3695700"/>
                <a:ext cx="5905500" cy="857250"/>
              </a:xfrm>
              <a:prstGeom prst="rect">
                <a:avLst/>
              </a:prstGeom>
              <a:solidFill>
                <a:srgbClr val="FBF6EC">
                  <a:alpha val="50000"/>
                </a:srgbClr>
              </a:solidFill>
              <a:ln>
                <a:noFill/>
              </a:ln>
            </p:spPr>
          </p:sp>
          <p:sp>
            <p:nvSpPr>
              <p:cNvPr id="33" name="TextBox 33"/>
              <p:cNvSpPr txBox="1"/>
              <p:nvPr/>
            </p:nvSpPr>
            <p:spPr>
              <a:xfrm>
                <a:off x="865208" y="3886200"/>
                <a:ext cx="365084" cy="293370"/>
              </a:xfrm>
              <a:prstGeom prst="rect">
                <a:avLst/>
              </a:prstGeom>
              <a:noFill/>
              <a:ln>
                <a:noFill/>
              </a:ln>
            </p:spPr>
            <p:txBody>
              <a:bodyPr wrap="none" lIns="0" tIns="0" rIns="0" bIns="0" anchor="t" anchorCtr="0">
                <a:spAutoFit/>
              </a:bodyPr>
              <a:lstStyle/>
              <a:p>
                <a:pPr algn="ctr"/>
                <a:r>
                  <a:rPr lang="en-US" sz="1500" b="1" dirty="0">
                    <a:solidFill>
                      <a:srgbClr val="C9962B"/>
                    </a:solidFill>
                    <a:latin typeface="Arial" panose="020B0604020202020204"/>
                    <a:ea typeface="Arial" panose="020B0604020202020204"/>
                    <a:cs typeface="Arial" panose="020B0604020202020204"/>
                  </a:rPr>
                  <a:t>apc</a:t>
                </a:r>
                <a:endParaRPr lang="en-US" sz="1500" b="1" dirty="0">
                  <a:solidFill>
                    <a:srgbClr val="C9962B"/>
                  </a:solidFill>
                  <a:latin typeface="Arial" panose="020B0604020202020204"/>
                  <a:ea typeface="Arial" panose="020B0604020202020204"/>
                  <a:cs typeface="Arial" panose="020B0604020202020204"/>
                </a:endParaRPr>
              </a:p>
            </p:txBody>
          </p:sp>
          <p:sp>
            <p:nvSpPr>
              <p:cNvPr id="34" name="TextBox 34"/>
              <p:cNvSpPr txBox="1"/>
              <p:nvPr/>
            </p:nvSpPr>
            <p:spPr>
              <a:xfrm>
                <a:off x="1809749" y="3886200"/>
                <a:ext cx="190500" cy="230505"/>
              </a:xfrm>
              <a:prstGeom prst="rect">
                <a:avLst/>
              </a:prstGeom>
              <a:noFill/>
              <a:ln>
                <a:noFill/>
              </a:ln>
            </p:spPr>
            <p:txBody>
              <a:bodyPr wrap="none" lIns="0" tIns="0" rIns="0" bIns="0" anchor="t" anchorCtr="0">
                <a:spAutoFit/>
              </a:bodyPr>
              <a:lstStyle/>
              <a:p>
                <a:pPr algn="ctr"/>
                <a:r>
                  <a:rPr lang="en-US" sz="1500" b="1" dirty="0">
                    <a:solidFill>
                      <a:srgbClr val="000000"/>
                    </a:solidFill>
                    <a:latin typeface="Times New Roman" panose="02020603050405020304"/>
                    <a:ea typeface="Times New Roman" panose="02020603050405020304"/>
                    <a:cs typeface="Times New Roman" panose="02020603050405020304"/>
                  </a:rPr>
                  <a:t>60</a:t>
                </a:r>
                <a:endParaRPr lang="en-US" sz="1500" b="1" dirty="0">
                  <a:solidFill>
                    <a:srgbClr val="000000"/>
                  </a:solidFill>
                  <a:latin typeface="Times New Roman" panose="02020603050405020304"/>
                  <a:ea typeface="Times New Roman" panose="02020603050405020304"/>
                  <a:cs typeface="Times New Roman" panose="02020603050405020304"/>
                </a:endParaRPr>
              </a:p>
            </p:txBody>
          </p:sp>
          <p:sp>
            <p:nvSpPr>
              <p:cNvPr id="35" name="TextBox 35"/>
              <p:cNvSpPr txBox="1"/>
              <p:nvPr/>
            </p:nvSpPr>
            <p:spPr>
              <a:xfrm>
                <a:off x="2393442" y="3902392"/>
                <a:ext cx="1104138"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自动过程控制</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4438383" y="3870008"/>
                <a:ext cx="694449" cy="322707"/>
              </a:xfrm>
              <a:prstGeom prst="rect">
                <a:avLst/>
              </a:prstGeom>
              <a:noFill/>
              <a:ln>
                <a:noFill/>
              </a:ln>
            </p:spPr>
            <p:txBody>
              <a:bodyPr wrap="none" lIns="0" tIns="0" rIns="0" bIns="0" anchor="t" anchorCtr="0">
                <a:spAutoFit/>
              </a:bodyPr>
              <a:lstStyle/>
              <a:p>
                <a:pPr algn="r"/>
                <a:r>
                  <a:rPr lang="en-US" sz="1650" b="1" dirty="0">
                    <a:solidFill>
                      <a:srgbClr val="C9962B"/>
                    </a:solidFill>
                    <a:latin typeface="Times New Roman" panose="02020603050405020304"/>
                    <a:ea typeface="Times New Roman" panose="02020603050405020304"/>
                    <a:cs typeface="Times New Roman" panose="02020603050405020304"/>
                  </a:rPr>
                  <a:t>28.16</a:t>
                </a:r>
                <a:endParaRPr lang="en-US" sz="1650" b="1" dirty="0">
                  <a:solidFill>
                    <a:srgbClr val="C9962B"/>
                  </a:solidFill>
                  <a:latin typeface="Times New Roman" panose="02020603050405020304"/>
                  <a:ea typeface="Times New Roman" panose="02020603050405020304"/>
                  <a:cs typeface="Times New Roman" panose="02020603050405020304"/>
                </a:endParaRPr>
              </a:p>
            </p:txBody>
          </p:sp>
          <p:sp>
            <p:nvSpPr>
              <p:cNvPr id="37" name="TextBox 37"/>
              <p:cNvSpPr txBox="1"/>
              <p:nvPr/>
            </p:nvSpPr>
            <p:spPr>
              <a:xfrm>
                <a:off x="4730401" y="4125278"/>
                <a:ext cx="399383" cy="205359"/>
              </a:xfrm>
              <a:prstGeom prst="rect">
                <a:avLst/>
              </a:prstGeom>
              <a:noFill/>
              <a:ln>
                <a:noFill/>
              </a:ln>
            </p:spPr>
            <p:txBody>
              <a:bodyPr wrap="none" lIns="0" tIns="0" rIns="0" bIns="0" anchor="t" anchorCtr="0">
                <a:spAutoFit/>
              </a:bodyPr>
              <a:lstStyle/>
              <a:p>
                <a:pPr algn="r"/>
                <a:r>
                  <a:rPr lang="en-US" sz="1050" dirty="0">
                    <a:solidFill>
                      <a:srgbClr val="8A92A0"/>
                    </a:solidFill>
                    <a:latin typeface="Arial" panose="020B0604020202020204"/>
                    <a:ea typeface="Arial" panose="020B0604020202020204"/>
                    <a:cs typeface="Arial" panose="020B0604020202020204"/>
                  </a:rPr>
                  <a:t>±3.14</a:t>
                </a:r>
                <a:endParaRPr lang="en-US" sz="1050" dirty="0">
                  <a:solidFill>
                    <a:srgbClr val="8A92A0"/>
                  </a:solidFill>
                  <a:latin typeface="Arial" panose="020B0604020202020204"/>
                  <a:ea typeface="Arial" panose="020B0604020202020204"/>
                  <a:cs typeface="Arial" panose="020B0604020202020204"/>
                </a:endParaRPr>
              </a:p>
            </p:txBody>
          </p:sp>
        </p:grpSp>
        <p:sp>
          <p:nvSpPr>
            <p:cNvPr id="39" name="TextBox 39"/>
            <p:cNvSpPr txBox="1"/>
            <p:nvPr/>
          </p:nvSpPr>
          <p:spPr>
            <a:xfrm>
              <a:off x="565404" y="4632960"/>
              <a:ext cx="6005293" cy="234696"/>
            </a:xfrm>
            <a:prstGeom prst="rect">
              <a:avLst/>
            </a:prstGeom>
            <a:noFill/>
            <a:ln>
              <a:noFill/>
            </a:ln>
          </p:spPr>
          <p:txBody>
            <a:bodyPr wrap="none" lIns="0" tIns="0" rIns="0" bIns="0" anchor="t" anchorCtr="0">
              <a:spAutoFit/>
            </a:bodyPr>
            <a:lstStyle/>
            <a:p>
              <a:pPr algn="l"/>
              <a:r>
                <a:rPr lang="zh-CN" sz="1200" b="1" dirty="0">
                  <a:solidFill>
                    <a:srgbClr val="8A92A0"/>
                  </a:solidFill>
                  <a:latin typeface="Arial" panose="020B0604020202020204"/>
                  <a:ea typeface="微软雅黑" panose="020B0503020204020204" charset="-122"/>
                  <a:cs typeface="Arial" panose="020B0604020202020204"/>
                </a:rPr>
                <a:t>注：apc 仅 6 个样本但均值最高（28.16），分布差异驱动 CT 特异性建模策略</a:t>
              </a:r>
              <a:endParaRPr lang="zh-CN" sz="1200" b="1" dirty="0">
                <a:solidFill>
                  <a:srgbClr val="8A92A0"/>
                </a:solidFill>
                <a:latin typeface="Arial" panose="020B0604020202020204"/>
                <a:ea typeface="微软雅黑" panose="020B0503020204020204" charset="-122"/>
                <a:cs typeface="Arial" panose="020B0604020202020204"/>
              </a:endParaRPr>
            </a:p>
          </p:txBody>
        </p:sp>
      </p:grpSp>
      <p:grpSp>
        <p:nvGrpSpPr>
          <p:cNvPr id="69" name="Group 69"/>
          <p:cNvGrpSpPr/>
          <p:nvPr/>
        </p:nvGrpSpPr>
        <p:grpSpPr>
          <a:xfrm>
            <a:off x="6851142" y="1854518"/>
            <a:ext cx="4769358" cy="4146232"/>
            <a:chOff x="6851142" y="1854518"/>
            <a:chExt cx="4769358" cy="4146232"/>
          </a:xfrm>
        </p:grpSpPr>
        <p:sp>
          <p:nvSpPr>
            <p:cNvPr id="41" name="TextBox 41"/>
            <p:cNvSpPr txBox="1"/>
            <p:nvPr/>
          </p:nvSpPr>
          <p:spPr>
            <a:xfrm>
              <a:off x="6851142" y="1854518"/>
              <a:ext cx="2940025" cy="264033"/>
            </a:xfrm>
            <a:prstGeom prst="rect">
              <a:avLst/>
            </a:prstGeom>
            <a:noFill/>
            <a:ln>
              <a:noFill/>
            </a:ln>
          </p:spPr>
          <p:txBody>
            <a:bodyPr wrap="none" lIns="0" tIns="0" rIns="0" bIns="0" anchor="t" anchorCtr="0">
              <a:spAutoFit/>
            </a:bodyPr>
            <a:lstStyle/>
            <a:p>
              <a:pPr algn="l"/>
              <a:r>
                <a:rPr lang="zh-CN" sz="1350" b="1" spc="75" dirty="0">
                  <a:solidFill>
                    <a:srgbClr val="C9962B"/>
                  </a:solidFill>
                  <a:latin typeface="Times New Roman" panose="02020603050405020304"/>
                  <a:ea typeface="微软雅黑" panose="020B0503020204020204" charset="-122"/>
                  <a:cs typeface="Times New Roman" panose="02020603050405020304"/>
                </a:rPr>
                <a:t>KEY FINDINGS · 关键发现</a:t>
              </a:r>
              <a:endParaRPr lang="zh-CN" sz="1350" b="1" spc="75" dirty="0">
                <a:solidFill>
                  <a:srgbClr val="C9962B"/>
                </a:solidFill>
                <a:latin typeface="Times New Roman" panose="02020603050405020304"/>
                <a:ea typeface="微软雅黑" panose="020B0503020204020204" charset="-122"/>
                <a:cs typeface="Times New Roman" panose="02020603050405020304"/>
              </a:endParaRPr>
            </a:p>
          </p:txBody>
        </p:sp>
        <p:grpSp>
          <p:nvGrpSpPr>
            <p:cNvPr id="50" name="Group 50"/>
            <p:cNvGrpSpPr/>
            <p:nvPr/>
          </p:nvGrpSpPr>
          <p:grpSpPr>
            <a:xfrm>
              <a:off x="6858000" y="2190750"/>
              <a:ext cx="4762500" cy="1143000"/>
              <a:chOff x="6858000" y="2190750"/>
              <a:chExt cx="4762500" cy="1143000"/>
            </a:xfrm>
          </p:grpSpPr>
          <p:sp>
            <p:nvSpPr>
              <p:cNvPr id="42" name="Rectangle 42"/>
              <p:cNvSpPr/>
              <p:nvPr/>
            </p:nvSpPr>
            <p:spPr>
              <a:xfrm>
                <a:off x="6858000" y="2190750"/>
                <a:ext cx="4762500" cy="1143000"/>
              </a:xfrm>
              <a:prstGeom prst="roundRect">
                <a:avLst>
                  <a:gd name="adj" fmla="val 3333"/>
                </a:avLst>
              </a:prstGeom>
              <a:solidFill>
                <a:srgbClr val="F8FAFB"/>
              </a:solidFill>
              <a:ln w="9525">
                <a:solidFill>
                  <a:srgbClr val="E0E4EA"/>
                </a:solidFill>
              </a:ln>
            </p:spPr>
          </p:sp>
          <p:sp>
            <p:nvSpPr>
              <p:cNvPr id="43" name="Rectangle 43"/>
              <p:cNvSpPr/>
              <p:nvPr/>
            </p:nvSpPr>
            <p:spPr>
              <a:xfrm>
                <a:off x="6858000" y="2190750"/>
                <a:ext cx="47625" cy="1143000"/>
              </a:xfrm>
              <a:prstGeom prst="rect">
                <a:avLst/>
              </a:prstGeom>
              <a:solidFill>
                <a:srgbClr val="C9962B"/>
              </a:solidFill>
              <a:ln>
                <a:noFill/>
              </a:ln>
            </p:spPr>
          </p:sp>
          <p:grpSp>
            <p:nvGrpSpPr>
              <p:cNvPr id="46" name="Group 46"/>
              <p:cNvGrpSpPr/>
              <p:nvPr/>
            </p:nvGrpSpPr>
            <p:grpSpPr>
              <a:xfrm>
                <a:off x="7127081" y="2402681"/>
                <a:ext cx="242888" cy="242888"/>
                <a:chOff x="7127081" y="2402681"/>
                <a:chExt cx="242888" cy="242888"/>
              </a:xfrm>
            </p:grpSpPr>
            <p:sp>
              <p:nvSpPr>
                <p:cNvPr id="44" name="Freeform 44"/>
                <p:cNvSpPr/>
                <p:nvPr/>
              </p:nvSpPr>
              <p:spPr>
                <a:xfrm>
                  <a:off x="7127081" y="2402681"/>
                  <a:ext cx="242888" cy="242888"/>
                </a:xfrm>
                <a:custGeom>
                  <a:avLst/>
                  <a:gdLst/>
                  <a:ahLst/>
                  <a:cxnLst/>
                  <a:rect l="l" t="t" r="r" b="b"/>
                  <a:pathLst>
                    <a:path w="242888" h="242888">
                      <a:moveTo>
                        <a:pt x="0" y="121444"/>
                      </a:moveTo>
                      <a:cubicBezTo>
                        <a:pt x="0" y="188516"/>
                        <a:pt x="54372" y="242888"/>
                        <a:pt x="121444" y="242888"/>
                      </a:cubicBezTo>
                      <a:cubicBezTo>
                        <a:pt x="188516" y="242888"/>
                        <a:pt x="242888" y="188516"/>
                        <a:pt x="242888" y="121444"/>
                      </a:cubicBezTo>
                      <a:cubicBezTo>
                        <a:pt x="242888" y="54372"/>
                        <a:pt x="188516" y="0"/>
                        <a:pt x="121444" y="0"/>
                      </a:cubicBezTo>
                      <a:cubicBezTo>
                        <a:pt x="54372" y="0"/>
                        <a:pt x="0" y="54372"/>
                        <a:pt x="0" y="121444"/>
                      </a:cubicBezTo>
                    </a:path>
                  </a:pathLst>
                </a:custGeom>
                <a:noFill/>
                <a:ln w="19050">
                  <a:solidFill>
                    <a:srgbClr val="C9962B"/>
                  </a:solidFill>
                </a:ln>
              </p:spPr>
            </p:sp>
            <p:sp>
              <p:nvSpPr>
                <p:cNvPr id="45" name="Freeform 45"/>
                <p:cNvSpPr/>
                <p:nvPr/>
              </p:nvSpPr>
              <p:spPr>
                <a:xfrm>
                  <a:off x="7208044" y="2497138"/>
                  <a:ext cx="80963" cy="53975"/>
                </a:xfrm>
                <a:custGeom>
                  <a:avLst/>
                  <a:gdLst/>
                  <a:ahLst/>
                  <a:cxnLst/>
                  <a:rect l="l" t="t" r="r" b="b"/>
                  <a:pathLst>
                    <a:path w="80963" h="53975">
                      <a:moveTo>
                        <a:pt x="0" y="26988"/>
                      </a:moveTo>
                      <a:lnTo>
                        <a:pt x="26988" y="53975"/>
                      </a:lnTo>
                      <a:lnTo>
                        <a:pt x="80963" y="0"/>
                      </a:lnTo>
                    </a:path>
                  </a:pathLst>
                </a:custGeom>
                <a:noFill/>
                <a:ln w="19050">
                  <a:solidFill>
                    <a:srgbClr val="C9962B"/>
                  </a:solidFill>
                </a:ln>
              </p:spPr>
            </p:sp>
          </p:grpSp>
          <p:sp>
            <p:nvSpPr>
              <p:cNvPr id="47" name="TextBox 47"/>
              <p:cNvSpPr txBox="1"/>
              <p:nvPr/>
            </p:nvSpPr>
            <p:spPr>
              <a:xfrm>
                <a:off x="7515606" y="2358390"/>
                <a:ext cx="2854482"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CT 分布差异 → 分别建模</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7517892" y="2692718"/>
                <a:ext cx="4094226"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三类 CT 目标均值跨度 3.32（24.84→28.16），</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7517892" y="3016568"/>
                <a:ext cx="3175940"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不应该使用同一模型建模 — </a:t>
                </a:r>
                <a:r>
                  <a:rPr lang="zh-CN" sz="1350" b="1" dirty="0">
                    <a:solidFill>
                      <a:srgbClr val="C9962B"/>
                    </a:solidFill>
                    <a:latin typeface="Arial" panose="020B0604020202020204"/>
                    <a:ea typeface="微软雅黑" panose="020B0503020204020204" charset="-122"/>
                    <a:cs typeface="Arial" panose="020B0604020202020204"/>
                  </a:rPr>
                  <a:t>核心决策点</a:t>
                </a:r>
                <a:endParaRPr lang="zh-CN" sz="1350" b="1" dirty="0">
                  <a:solidFill>
                    <a:srgbClr val="C9962B"/>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6858000" y="3524250"/>
              <a:ext cx="4762500" cy="1143000"/>
              <a:chOff x="6858000" y="3524250"/>
              <a:chExt cx="4762500" cy="1143000"/>
            </a:xfrm>
          </p:grpSpPr>
          <p:sp>
            <p:nvSpPr>
              <p:cNvPr id="51" name="Rectangle 51"/>
              <p:cNvSpPr/>
              <p:nvPr/>
            </p:nvSpPr>
            <p:spPr>
              <a:xfrm>
                <a:off x="6858000" y="3524250"/>
                <a:ext cx="4762500" cy="1143000"/>
              </a:xfrm>
              <a:prstGeom prst="roundRect">
                <a:avLst>
                  <a:gd name="adj" fmla="val 3333"/>
                </a:avLst>
              </a:prstGeom>
              <a:solidFill>
                <a:srgbClr val="F8FAFB"/>
              </a:solidFill>
              <a:ln w="9525">
                <a:solidFill>
                  <a:srgbClr val="E0E4EA"/>
                </a:solidFill>
              </a:ln>
            </p:spPr>
          </p:sp>
          <p:sp>
            <p:nvSpPr>
              <p:cNvPr id="52" name="Rectangle 52"/>
              <p:cNvSpPr/>
              <p:nvPr/>
            </p:nvSpPr>
            <p:spPr>
              <a:xfrm>
                <a:off x="6858000" y="3524250"/>
                <a:ext cx="47625" cy="1143000"/>
              </a:xfrm>
              <a:prstGeom prst="rect">
                <a:avLst/>
              </a:prstGeom>
              <a:solidFill>
                <a:srgbClr val="1A3A6B"/>
              </a:solidFill>
              <a:ln>
                <a:noFill/>
              </a:ln>
            </p:spPr>
          </p:sp>
          <p:sp>
            <p:nvSpPr>
              <p:cNvPr id="53" name="Freeform 53"/>
              <p:cNvSpPr/>
              <p:nvPr/>
            </p:nvSpPr>
            <p:spPr>
              <a:xfrm>
                <a:off x="7140575" y="3749675"/>
                <a:ext cx="215901" cy="229394"/>
              </a:xfrm>
              <a:custGeom>
                <a:avLst/>
                <a:gdLst/>
                <a:ahLst/>
                <a:cxnLst/>
                <a:rect l="l" t="t" r="r" b="b"/>
                <a:pathLst>
                  <a:path w="215901" h="229394">
                    <a:moveTo>
                      <a:pt x="0" y="0"/>
                    </a:moveTo>
                    <a:lnTo>
                      <a:pt x="215901" y="0"/>
                    </a:lnTo>
                    <a:lnTo>
                      <a:pt x="215901" y="29308"/>
                    </a:lnTo>
                    <a:cubicBezTo>
                      <a:pt x="215899" y="36465"/>
                      <a:pt x="213055" y="43329"/>
                      <a:pt x="207993" y="48389"/>
                    </a:cubicBezTo>
                    <a:lnTo>
                      <a:pt x="148432" y="107950"/>
                    </a:lnTo>
                    <a:lnTo>
                      <a:pt x="148432" y="202407"/>
                    </a:lnTo>
                    <a:lnTo>
                      <a:pt x="67469" y="229394"/>
                    </a:lnTo>
                    <a:lnTo>
                      <a:pt x="67469" y="114697"/>
                    </a:lnTo>
                    <a:lnTo>
                      <a:pt x="7017" y="48200"/>
                    </a:lnTo>
                    <a:cubicBezTo>
                      <a:pt x="2502" y="43233"/>
                      <a:pt x="1" y="36762"/>
                      <a:pt x="0" y="30051"/>
                    </a:cubicBezTo>
                    <a:lnTo>
                      <a:pt x="0" y="0"/>
                    </a:lnTo>
                  </a:path>
                </a:pathLst>
              </a:custGeom>
              <a:noFill/>
              <a:ln w="19050">
                <a:solidFill>
                  <a:srgbClr val="1A3A6B"/>
                </a:solidFill>
              </a:ln>
            </p:spPr>
          </p:sp>
          <p:sp>
            <p:nvSpPr>
              <p:cNvPr id="54" name="TextBox 54"/>
              <p:cNvSpPr txBox="1"/>
              <p:nvPr/>
            </p:nvSpPr>
            <p:spPr>
              <a:xfrm>
                <a:off x="7515606" y="3691890"/>
                <a:ext cx="2424349"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SPC 通道需特征选择</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7517892" y="4026218"/>
                <a:ext cx="3553044"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64 通道中仅 </a:t>
                </a:r>
                <a:r>
                  <a:rPr lang="zh-CN" sz="1350" b="1" dirty="0">
                    <a:solidFill>
                      <a:srgbClr val="1A3A6B"/>
                    </a:solidFill>
                    <a:latin typeface="Arial" panose="020B0604020202020204"/>
                    <a:ea typeface="微软雅黑" panose="020B0503020204020204" charset="-122"/>
                    <a:cs typeface="Arial" panose="020B0604020202020204"/>
                  </a:rPr>
                  <a:t>8-12 个强相关</a:t>
                </a:r>
                <a:r>
                  <a:rPr lang="zh-CN" sz="1350" dirty="0">
                    <a:solidFill>
                      <a:srgbClr val="5A6478"/>
                    </a:solidFill>
                    <a:latin typeface="Arial" panose="020B0604020202020204"/>
                    <a:ea typeface="微软雅黑" panose="020B0503020204020204" charset="-122"/>
                    <a:cs typeface="Arial" panose="020B0604020202020204"/>
                  </a:rPr>
                  <a:t>（|r| &gt; 0.3），</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7517892" y="4350068"/>
                <a:ext cx="3066898"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20-30 个弱相关 — 需按 CT 分别筛选</a:t>
                </a:r>
                <a:endParaRPr lang="zh-CN" sz="1350" dirty="0">
                  <a:solidFill>
                    <a:srgbClr val="5A6478"/>
                  </a:solidFill>
                  <a:latin typeface="Arial" panose="020B0604020202020204"/>
                  <a:ea typeface="微软雅黑" panose="020B0503020204020204" charset="-122"/>
                  <a:cs typeface="Arial" panose="020B0604020202020204"/>
                </a:endParaRPr>
              </a:p>
            </p:txBody>
          </p:sp>
        </p:grpSp>
        <p:grpSp>
          <p:nvGrpSpPr>
            <p:cNvPr id="68" name="Group 68"/>
            <p:cNvGrpSpPr/>
            <p:nvPr/>
          </p:nvGrpSpPr>
          <p:grpSpPr>
            <a:xfrm>
              <a:off x="6858000" y="4857750"/>
              <a:ext cx="4762500" cy="1143000"/>
              <a:chOff x="6858000" y="4857750"/>
              <a:chExt cx="4762500" cy="1143000"/>
            </a:xfrm>
          </p:grpSpPr>
          <p:sp>
            <p:nvSpPr>
              <p:cNvPr id="58" name="Rectangle 58"/>
              <p:cNvSpPr/>
              <p:nvPr/>
            </p:nvSpPr>
            <p:spPr>
              <a:xfrm>
                <a:off x="6858000" y="4857750"/>
                <a:ext cx="4762500" cy="1143000"/>
              </a:xfrm>
              <a:prstGeom prst="roundRect">
                <a:avLst>
                  <a:gd name="adj" fmla="val 3333"/>
                </a:avLst>
              </a:prstGeom>
              <a:solidFill>
                <a:srgbClr val="F8FAFB"/>
              </a:solidFill>
              <a:ln w="9525">
                <a:solidFill>
                  <a:srgbClr val="E0E4EA"/>
                </a:solidFill>
              </a:ln>
            </p:spPr>
          </p:sp>
          <p:sp>
            <p:nvSpPr>
              <p:cNvPr id="59" name="Rectangle 59"/>
              <p:cNvSpPr/>
              <p:nvPr/>
            </p:nvSpPr>
            <p:spPr>
              <a:xfrm>
                <a:off x="6858000" y="4857750"/>
                <a:ext cx="47625" cy="1143000"/>
              </a:xfrm>
              <a:prstGeom prst="rect">
                <a:avLst/>
              </a:prstGeom>
              <a:solidFill>
                <a:srgbClr val="4A7BB5"/>
              </a:solidFill>
              <a:ln>
                <a:noFill/>
              </a:ln>
            </p:spPr>
          </p:sp>
          <p:grpSp>
            <p:nvGrpSpPr>
              <p:cNvPr id="64" name="Group 64"/>
              <p:cNvGrpSpPr/>
              <p:nvPr/>
            </p:nvGrpSpPr>
            <p:grpSpPr>
              <a:xfrm>
                <a:off x="7127081" y="5083175"/>
                <a:ext cx="242889" cy="225426"/>
                <a:chOff x="7127081" y="5083175"/>
                <a:chExt cx="242889" cy="225426"/>
              </a:xfrm>
            </p:grpSpPr>
            <p:sp>
              <p:nvSpPr>
                <p:cNvPr id="60" name="Freeform 60"/>
                <p:cNvSpPr/>
                <p:nvPr/>
              </p:nvSpPr>
              <p:spPr>
                <a:xfrm>
                  <a:off x="7127081" y="5191125"/>
                  <a:ext cx="80963" cy="107950"/>
                </a:xfrm>
                <a:custGeom>
                  <a:avLst/>
                  <a:gdLst/>
                  <a:ahLst/>
                  <a:cxnLst/>
                  <a:rect l="l" t="t" r="r" b="b"/>
                  <a:pathLst>
                    <a:path w="80963" h="107950">
                      <a:moveTo>
                        <a:pt x="0" y="13494"/>
                      </a:moveTo>
                      <a:cubicBezTo>
                        <a:pt x="0" y="6041"/>
                        <a:pt x="6041" y="0"/>
                        <a:pt x="13494" y="0"/>
                      </a:cubicBezTo>
                      <a:lnTo>
                        <a:pt x="67469" y="0"/>
                      </a:lnTo>
                      <a:cubicBezTo>
                        <a:pt x="74921" y="0"/>
                        <a:pt x="80963" y="6041"/>
                        <a:pt x="80963" y="13494"/>
                      </a:cubicBezTo>
                      <a:lnTo>
                        <a:pt x="80963" y="94456"/>
                      </a:lnTo>
                      <a:cubicBezTo>
                        <a:pt x="80963" y="101909"/>
                        <a:pt x="74921" y="107950"/>
                        <a:pt x="67469" y="107950"/>
                      </a:cubicBezTo>
                      <a:lnTo>
                        <a:pt x="13494" y="107950"/>
                      </a:lnTo>
                      <a:cubicBezTo>
                        <a:pt x="6041" y="107950"/>
                        <a:pt x="0" y="101909"/>
                        <a:pt x="0" y="94456"/>
                      </a:cubicBezTo>
                      <a:lnTo>
                        <a:pt x="0" y="13494"/>
                      </a:lnTo>
                    </a:path>
                  </a:pathLst>
                </a:custGeom>
                <a:noFill/>
                <a:ln w="19050">
                  <a:solidFill>
                    <a:srgbClr val="4A7BB5"/>
                  </a:solidFill>
                </a:ln>
              </p:spPr>
            </p:sp>
            <p:sp>
              <p:nvSpPr>
                <p:cNvPr id="61" name="Freeform 61"/>
                <p:cNvSpPr/>
                <p:nvPr/>
              </p:nvSpPr>
              <p:spPr>
                <a:xfrm>
                  <a:off x="7289007" y="5137150"/>
                  <a:ext cx="80963" cy="161925"/>
                </a:xfrm>
                <a:custGeom>
                  <a:avLst/>
                  <a:gdLst/>
                  <a:ahLst/>
                  <a:cxnLst/>
                  <a:rect l="l" t="t" r="r" b="b"/>
                  <a:pathLst>
                    <a:path w="80963" h="161925">
                      <a:moveTo>
                        <a:pt x="0" y="13494"/>
                      </a:moveTo>
                      <a:cubicBezTo>
                        <a:pt x="0" y="6041"/>
                        <a:pt x="6041" y="0"/>
                        <a:pt x="13494" y="0"/>
                      </a:cubicBezTo>
                      <a:lnTo>
                        <a:pt x="67469" y="0"/>
                      </a:lnTo>
                      <a:cubicBezTo>
                        <a:pt x="74921" y="0"/>
                        <a:pt x="80963" y="6041"/>
                        <a:pt x="80963" y="13494"/>
                      </a:cubicBezTo>
                      <a:lnTo>
                        <a:pt x="80963" y="148432"/>
                      </a:lnTo>
                      <a:cubicBezTo>
                        <a:pt x="80963" y="155884"/>
                        <a:pt x="74921" y="161925"/>
                        <a:pt x="67469" y="161925"/>
                      </a:cubicBezTo>
                      <a:lnTo>
                        <a:pt x="13494" y="161925"/>
                      </a:lnTo>
                      <a:cubicBezTo>
                        <a:pt x="6041" y="161925"/>
                        <a:pt x="0" y="155884"/>
                        <a:pt x="0" y="148432"/>
                      </a:cubicBezTo>
                      <a:lnTo>
                        <a:pt x="0" y="13494"/>
                      </a:lnTo>
                    </a:path>
                  </a:pathLst>
                </a:custGeom>
                <a:noFill/>
                <a:ln w="19050">
                  <a:solidFill>
                    <a:srgbClr val="4A7BB5"/>
                  </a:solidFill>
                </a:ln>
              </p:spPr>
            </p:sp>
            <p:sp>
              <p:nvSpPr>
                <p:cNvPr id="62" name="Freeform 62"/>
                <p:cNvSpPr/>
                <p:nvPr/>
              </p:nvSpPr>
              <p:spPr>
                <a:xfrm>
                  <a:off x="7208044" y="5083175"/>
                  <a:ext cx="80963" cy="215901"/>
                </a:xfrm>
                <a:custGeom>
                  <a:avLst/>
                  <a:gdLst/>
                  <a:ahLst/>
                  <a:cxnLst/>
                  <a:rect l="l" t="t" r="r" b="b"/>
                  <a:pathLst>
                    <a:path w="80963" h="215901">
                      <a:moveTo>
                        <a:pt x="0" y="13494"/>
                      </a:moveTo>
                      <a:cubicBezTo>
                        <a:pt x="0" y="6041"/>
                        <a:pt x="6041" y="0"/>
                        <a:pt x="13494" y="0"/>
                      </a:cubicBezTo>
                      <a:lnTo>
                        <a:pt x="67469" y="0"/>
                      </a:lnTo>
                      <a:cubicBezTo>
                        <a:pt x="74921" y="0"/>
                        <a:pt x="80963" y="6041"/>
                        <a:pt x="80963" y="13494"/>
                      </a:cubicBezTo>
                      <a:lnTo>
                        <a:pt x="80963" y="202407"/>
                      </a:lnTo>
                      <a:cubicBezTo>
                        <a:pt x="80963" y="209859"/>
                        <a:pt x="74921" y="215901"/>
                        <a:pt x="67469" y="215901"/>
                      </a:cubicBezTo>
                      <a:lnTo>
                        <a:pt x="13494" y="215901"/>
                      </a:lnTo>
                      <a:cubicBezTo>
                        <a:pt x="6041" y="215901"/>
                        <a:pt x="0" y="209859"/>
                        <a:pt x="0" y="202407"/>
                      </a:cubicBezTo>
                      <a:lnTo>
                        <a:pt x="0" y="13494"/>
                      </a:lnTo>
                    </a:path>
                  </a:pathLst>
                </a:custGeom>
                <a:noFill/>
                <a:ln w="19050">
                  <a:solidFill>
                    <a:srgbClr val="4A7BB5"/>
                  </a:solidFill>
                </a:ln>
              </p:spPr>
            </p:sp>
            <p:sp>
              <p:nvSpPr>
                <p:cNvPr id="63" name="Freeform 63"/>
                <p:cNvSpPr/>
                <p:nvPr/>
              </p:nvSpPr>
              <p:spPr>
                <a:xfrm>
                  <a:off x="7140575" y="5299076"/>
                  <a:ext cx="188913" cy="9525"/>
                </a:xfrm>
                <a:custGeom>
                  <a:avLst/>
                  <a:gdLst/>
                  <a:ahLst/>
                  <a:cxnLst/>
                  <a:rect l="l" t="t" r="r" b="b"/>
                  <a:pathLst>
                    <a:path w="188913" h="9525">
                      <a:moveTo>
                        <a:pt x="0" y="0"/>
                      </a:moveTo>
                      <a:lnTo>
                        <a:pt x="188913" y="0"/>
                      </a:lnTo>
                    </a:path>
                  </a:pathLst>
                </a:custGeom>
                <a:noFill/>
                <a:ln w="19050">
                  <a:solidFill>
                    <a:srgbClr val="4A7BB5"/>
                  </a:solidFill>
                </a:ln>
              </p:spPr>
            </p:sp>
          </p:grpSp>
          <p:sp>
            <p:nvSpPr>
              <p:cNvPr id="65" name="TextBox 65"/>
              <p:cNvSpPr txBox="1"/>
              <p:nvPr/>
            </p:nvSpPr>
            <p:spPr>
              <a:xfrm>
                <a:off x="7515606" y="5025390"/>
                <a:ext cx="2308174" cy="352044"/>
              </a:xfrm>
              <a:prstGeom prst="rect">
                <a:avLst/>
              </a:prstGeom>
              <a:noFill/>
              <a:ln>
                <a:noFill/>
              </a:ln>
            </p:spPr>
            <p:txBody>
              <a:bodyPr wrap="none" lIns="0" tIns="0" rIns="0" bIns="0" anchor="t" anchorCtr="0">
                <a:spAutoFit/>
              </a:bodyPr>
              <a:lstStyle/>
              <a:p>
                <a:pPr algn="l"/>
                <a:r>
                  <a:rPr lang="zh-CN" sz="1800" b="1" dirty="0">
                    <a:solidFill>
                      <a:srgbClr val="1A3A6B"/>
                    </a:solidFill>
                    <a:latin typeface="Arial" panose="020B0604020202020204"/>
                    <a:ea typeface="微软雅黑" panose="020B0503020204020204" charset="-122"/>
                    <a:cs typeface="Arial" panose="020B0604020202020204"/>
                  </a:rPr>
                  <a:t>过程变量未提升性能</a:t>
                </a:r>
                <a:endParaRPr lang="zh-CN" sz="1800" b="1" dirty="0">
                  <a:solidFill>
                    <a:srgbClr val="1A3A6B"/>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7517892" y="5359718"/>
                <a:ext cx="3153823"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温度/pH/DO 等在 CV 实验中无增益，</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7517892" y="5683568"/>
                <a:ext cx="2243595"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最终方案</a:t>
                </a:r>
                <a:r>
                  <a:rPr lang="zh-CN" sz="1350" b="1" dirty="0">
                    <a:solidFill>
                      <a:srgbClr val="4A7BB5"/>
                    </a:solidFill>
                    <a:latin typeface="Arial" panose="020B0604020202020204"/>
                    <a:ea typeface="微软雅黑" panose="020B0503020204020204" charset="-122"/>
                    <a:cs typeface="Arial" panose="020B0604020202020204"/>
                  </a:rPr>
                  <a:t>仅使用 SPC 特征</a:t>
                </a:r>
                <a:endParaRPr lang="zh-CN" sz="1350" b="1" dirty="0">
                  <a:solidFill>
                    <a:srgbClr val="4A7BB5"/>
                  </a:solidFill>
                  <a:latin typeface="Arial" panose="020B0604020202020204"/>
                  <a:ea typeface="微软雅黑" panose="020B0503020204020204" charset="-122"/>
                  <a:cs typeface="Arial" panose="020B0604020202020204"/>
                </a:endParaRPr>
              </a:p>
            </p:txBody>
          </p:sp>
        </p:grpSp>
      </p:grpSp>
      <p:grpSp>
        <p:nvGrpSpPr>
          <p:cNvPr id="73" name="Group 73"/>
          <p:cNvGrpSpPr/>
          <p:nvPr/>
        </p:nvGrpSpPr>
        <p:grpSpPr>
          <a:xfrm>
            <a:off x="565404" y="6334125"/>
            <a:ext cx="11061192" cy="343281"/>
            <a:chOff x="565404" y="6334125"/>
            <a:chExt cx="11061192" cy="343281"/>
          </a:xfrm>
        </p:grpSpPr>
        <p:sp>
          <p:nvSpPr>
            <p:cNvPr id="70" name="Line 70"/>
            <p:cNvSpPr/>
            <p:nvPr/>
          </p:nvSpPr>
          <p:spPr>
            <a:xfrm>
              <a:off x="571500" y="6334125"/>
              <a:ext cx="11049000" cy="9525"/>
            </a:xfrm>
            <a:custGeom>
              <a:avLst/>
              <a:gdLst/>
              <a:ahLst/>
              <a:cxnLst/>
              <a:rect l="l" t="t" r="r" b="b"/>
              <a:pathLst>
                <a:path w="11049000" h="9525">
                  <a:moveTo>
                    <a:pt x="0" y="0"/>
                  </a:moveTo>
                  <a:lnTo>
                    <a:pt x="11049000" y="0"/>
                  </a:lnTo>
                </a:path>
              </a:pathLst>
            </a:custGeom>
            <a:noFill/>
            <a:ln w="9525">
              <a:solidFill>
                <a:srgbClr val="EDEFF2"/>
              </a:solidFill>
            </a:ln>
          </p:spPr>
        </p:sp>
        <p:sp>
          <p:nvSpPr>
            <p:cNvPr id="71" name="TextBox 71"/>
            <p:cNvSpPr txBox="1"/>
            <p:nvPr/>
          </p:nvSpPr>
          <p:spPr>
            <a:xfrm>
              <a:off x="565404" y="6442710"/>
              <a:ext cx="4494356"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Arial" panose="020B0604020202020204"/>
                  <a:ea typeface="微软雅黑" panose="020B0503020204020204" charset="-122"/>
                  <a:cs typeface="Arial" panose="020B0604020202020204"/>
                </a:rPr>
                <a:t>数据来源：训练集 105 样本 EDA · target_stable_mean 统计</a:t>
              </a:r>
              <a:endParaRPr lang="zh-CN" sz="1200" dirty="0">
                <a:solidFill>
                  <a:srgbClr val="000000"/>
                </a:solidFill>
                <a:latin typeface="Arial" panose="020B0604020202020204"/>
                <a:ea typeface="微软雅黑" panose="020B0503020204020204" charset="-122"/>
                <a:cs typeface="Arial" panose="020B0604020202020204"/>
              </a:endParaRPr>
            </a:p>
          </p:txBody>
        </p:sp>
        <p:sp>
          <p:nvSpPr>
            <p:cNvPr id="72" name="TextBox 72"/>
            <p:cNvSpPr txBox="1"/>
            <p:nvPr/>
          </p:nvSpPr>
          <p:spPr>
            <a:xfrm>
              <a:off x="11042599" y="6442710"/>
              <a:ext cx="583997" cy="234696"/>
            </a:xfrm>
            <a:prstGeom prst="rect">
              <a:avLst/>
            </a:prstGeom>
            <a:noFill/>
            <a:ln>
              <a:noFill/>
            </a:ln>
          </p:spPr>
          <p:txBody>
            <a:bodyPr wrap="none" lIns="0" tIns="0" rIns="0" bIns="0" anchor="t" anchorCtr="0">
              <a:spAutoFit/>
            </a:bodyPr>
            <a:lstStyle/>
            <a:p>
              <a:pPr algn="r"/>
              <a:r>
                <a:rPr lang="en-US" sz="1200" dirty="0">
                  <a:solidFill>
                    <a:srgbClr val="8A92A0"/>
                  </a:solidFill>
                  <a:latin typeface="Times New Roman" panose="02020603050405020304"/>
                  <a:ea typeface="Times New Roman" panose="02020603050405020304"/>
                  <a:cs typeface="Times New Roman" panose="02020603050405020304"/>
                </a:rPr>
                <a:t>03 / 05</a:t>
              </a:r>
              <a:endParaRPr lang="en-US" sz="1200" dirty="0">
                <a:solidFill>
                  <a:srgbClr val="8A92A0"/>
                </a:solidFill>
                <a:latin typeface="Times New Roman" panose="02020603050405020304"/>
                <a:ea typeface="Times New Roman" panose="02020603050405020304"/>
                <a:cs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7620000"/>
          </a:xfrm>
          <a:prstGeom prst="rect">
            <a:avLst/>
          </a:prstGeom>
          <a:solidFill>
            <a:srgbClr val="FFFFFF"/>
          </a:solidFill>
          <a:ln>
            <a:noFill/>
          </a:ln>
        </p:spPr>
      </p:sp>
      <p:grpSp>
        <p:nvGrpSpPr>
          <p:cNvPr id="8" name="Group 8"/>
          <p:cNvGrpSpPr/>
          <p:nvPr/>
        </p:nvGrpSpPr>
        <p:grpSpPr>
          <a:xfrm>
            <a:off x="555498" y="476250"/>
            <a:ext cx="10748406" cy="1200150"/>
            <a:chOff x="555498" y="476250"/>
            <a:chExt cx="10748406" cy="1200150"/>
          </a:xfrm>
        </p:grpSpPr>
        <p:sp>
          <p:nvSpPr>
            <p:cNvPr id="3" name="Rectangle 3"/>
            <p:cNvSpPr/>
            <p:nvPr/>
          </p:nvSpPr>
          <p:spPr>
            <a:xfrm>
              <a:off x="571500" y="476250"/>
              <a:ext cx="38100" cy="304800"/>
            </a:xfrm>
            <a:prstGeom prst="rect">
              <a:avLst/>
            </a:prstGeom>
            <a:solidFill>
              <a:srgbClr val="C9962B"/>
            </a:solidFill>
            <a:ln>
              <a:noFill/>
            </a:ln>
          </p:spPr>
        </p:sp>
        <p:sp>
          <p:nvSpPr>
            <p:cNvPr id="4" name="TextBox 4"/>
            <p:cNvSpPr txBox="1"/>
            <p:nvPr/>
          </p:nvSpPr>
          <p:spPr>
            <a:xfrm>
              <a:off x="736092" y="587692"/>
              <a:ext cx="2978887" cy="264033"/>
            </a:xfrm>
            <a:prstGeom prst="rect">
              <a:avLst/>
            </a:prstGeom>
            <a:noFill/>
            <a:ln>
              <a:noFill/>
            </a:ln>
          </p:spPr>
          <p:txBody>
            <a:bodyPr wrap="none" lIns="0" tIns="0" rIns="0" bIns="0" anchor="t" anchorCtr="0">
              <a:spAutoFit/>
            </a:bodyPr>
            <a:lstStyle/>
            <a:p>
              <a:pPr algn="l"/>
              <a:r>
                <a:rPr lang="en-US" sz="1350" b="1" spc="75" dirty="0">
                  <a:solidFill>
                    <a:srgbClr val="C9962B"/>
                  </a:solidFill>
                  <a:latin typeface="Times New Roman" panose="02020603050405020304"/>
                  <a:ea typeface="Times New Roman" panose="02020603050405020304"/>
                  <a:cs typeface="Times New Roman" panose="02020603050405020304"/>
                </a:rPr>
                <a:t>04 · SOLUTION PIPELINE</a:t>
              </a:r>
              <a:endParaRPr lang="en-US" sz="1350" b="1" spc="75" dirty="0">
                <a:solidFill>
                  <a:srgbClr val="C9962B"/>
                </a:solidFill>
                <a:latin typeface="Times New Roman" panose="02020603050405020304"/>
                <a:ea typeface="Times New Roman" panose="02020603050405020304"/>
                <a:cs typeface="Times New Roman" panose="02020603050405020304"/>
              </a:endParaRPr>
            </a:p>
          </p:txBody>
        </p:sp>
        <p:sp>
          <p:nvSpPr>
            <p:cNvPr id="5" name="TextBox 5"/>
            <p:cNvSpPr txBox="1"/>
            <p:nvPr/>
          </p:nvSpPr>
          <p:spPr>
            <a:xfrm>
              <a:off x="555498" y="802958"/>
              <a:ext cx="2854757" cy="616077"/>
            </a:xfrm>
            <a:prstGeom prst="rect">
              <a:avLst/>
            </a:prstGeom>
            <a:noFill/>
            <a:ln>
              <a:noFill/>
            </a:ln>
          </p:spPr>
          <p:txBody>
            <a:bodyPr wrap="none" lIns="0" tIns="0" rIns="0" bIns="0" anchor="t" anchorCtr="0">
              <a:spAutoFit/>
            </a:bodyPr>
            <a:lstStyle/>
            <a:p>
              <a:pPr algn="l"/>
              <a:r>
                <a:rPr lang="zh-CN" sz="3150" b="1" dirty="0">
                  <a:solidFill>
                    <a:srgbClr val="1A3A6B"/>
                  </a:solidFill>
                  <a:latin typeface="Times New Roman" panose="02020603050405020304"/>
                  <a:ea typeface="微软雅黑" panose="020B0503020204020204" charset="-122"/>
                  <a:cs typeface="Times New Roman" panose="02020603050405020304"/>
                </a:rPr>
                <a:t>整体方案流程</a:t>
              </a:r>
              <a:endParaRPr lang="zh-CN" sz="3150" b="1" dirty="0">
                <a:solidFill>
                  <a:srgbClr val="1A3A6B"/>
                </a:solidFill>
                <a:latin typeface="Times New Roman" panose="02020603050405020304"/>
                <a:ea typeface="微软雅黑" panose="020B0503020204020204" charset="-122"/>
                <a:cs typeface="Times New Roman" panose="02020603050405020304"/>
              </a:endParaRPr>
            </a:p>
          </p:txBody>
        </p:sp>
        <p:sp>
          <p:nvSpPr>
            <p:cNvPr id="6" name="TextBox 6"/>
            <p:cNvSpPr txBox="1"/>
            <p:nvPr/>
          </p:nvSpPr>
          <p:spPr>
            <a:xfrm>
              <a:off x="562356" y="1282065"/>
              <a:ext cx="10741548" cy="352044"/>
            </a:xfrm>
            <a:prstGeom prst="rect">
              <a:avLst/>
            </a:prstGeom>
            <a:noFill/>
            <a:ln>
              <a:noFill/>
            </a:ln>
          </p:spPr>
          <p:txBody>
            <a:bodyPr wrap="none" lIns="0" tIns="0" rIns="0" bIns="0" anchor="t" anchorCtr="0">
              <a:spAutoFit/>
            </a:bodyPr>
            <a:lstStyle/>
            <a:p>
              <a:pPr algn="l"/>
              <a:r>
                <a:rPr lang="zh-CN" sz="1800" dirty="0">
                  <a:solidFill>
                    <a:srgbClr val="1D2430"/>
                  </a:solidFill>
                  <a:latin typeface="Arial" panose="020B0604020202020204"/>
                  <a:ea typeface="微软雅黑" panose="020B0503020204020204" charset="-122"/>
                  <a:cs typeface="Arial" panose="020B0604020202020204"/>
                </a:rPr>
                <a:t>五阶段流水线——从 </a:t>
              </a:r>
              <a:r>
                <a:rPr lang="zh-CN" sz="1800" b="1" dirty="0">
                  <a:solidFill>
                    <a:srgbClr val="C9962B"/>
                  </a:solidFill>
                  <a:latin typeface="Arial" panose="020B0604020202020204"/>
                  <a:ea typeface="微软雅黑" panose="020B0503020204020204" charset="-122"/>
                  <a:cs typeface="Arial" panose="020B0604020202020204"/>
                </a:rPr>
                <a:t>320 候选特征</a:t>
              </a:r>
              <a:r>
                <a:rPr lang="zh-CN" sz="1800" dirty="0">
                  <a:solidFill>
                    <a:srgbClr val="1D2430"/>
                  </a:solidFill>
                  <a:latin typeface="Arial" panose="020B0604020202020204"/>
                  <a:ea typeface="微软雅黑" panose="020B0503020204020204" charset="-122"/>
                  <a:cs typeface="Arial" panose="020B0604020202020204"/>
                </a:rPr>
                <a:t>到</a:t>
              </a:r>
              <a:r>
                <a:rPr lang="zh-CN" sz="1800" b="1" dirty="0">
                  <a:solidFill>
                    <a:srgbClr val="1A3A6B"/>
                  </a:solidFill>
                  <a:latin typeface="Arial" panose="020B0604020202020204"/>
                  <a:ea typeface="微软雅黑" panose="020B0503020204020204" charset="-122"/>
                  <a:cs typeface="Arial" panose="020B0604020202020204"/>
                </a:rPr>
                <a:t> CT 特异性建模</a:t>
              </a:r>
              <a:r>
                <a:rPr lang="zh-CN" sz="1800" dirty="0">
                  <a:solidFill>
                    <a:srgbClr val="1D2430"/>
                  </a:solidFill>
                  <a:latin typeface="Arial" panose="020B0604020202020204"/>
                  <a:ea typeface="微软雅黑" panose="020B0503020204020204" charset="-122"/>
                  <a:cs typeface="Arial" panose="020B0604020202020204"/>
                </a:rPr>
                <a:t>再到</a:t>
              </a:r>
              <a:r>
                <a:rPr lang="zh-CN" sz="1800" b="1" dirty="0">
                  <a:solidFill>
                    <a:srgbClr val="1A3A6B"/>
                  </a:solidFill>
                  <a:latin typeface="Arial" panose="020B0604020202020204"/>
                  <a:ea typeface="微软雅黑" panose="020B0503020204020204" charset="-122"/>
                  <a:cs typeface="Arial" panose="020B0604020202020204"/>
                </a:rPr>
                <a:t>分层校准</a:t>
              </a:r>
              <a:r>
                <a:rPr lang="zh-CN" sz="1800" dirty="0">
                  <a:solidFill>
                    <a:srgbClr val="1D2430"/>
                  </a:solidFill>
                  <a:latin typeface="Arial" panose="020B0604020202020204"/>
                  <a:ea typeface="微软雅黑" panose="020B0503020204020204" charset="-122"/>
                  <a:cs typeface="Arial" panose="020B0604020202020204"/>
                </a:rPr>
                <a:t>，每阶段针对小样本精心设计</a:t>
              </a:r>
              <a:endParaRPr lang="zh-CN" sz="1800" dirty="0">
                <a:solidFill>
                  <a:srgbClr val="1D2430"/>
                </a:solidFill>
                <a:latin typeface="Arial" panose="020B0604020202020204"/>
                <a:ea typeface="微软雅黑" panose="020B0503020204020204" charset="-122"/>
                <a:cs typeface="Arial" panose="020B0604020202020204"/>
              </a:endParaRPr>
            </a:p>
          </p:txBody>
        </p:sp>
        <p:sp>
          <p:nvSpPr>
            <p:cNvPr id="7" name="Line 7"/>
            <p:cNvSpPr/>
            <p:nvPr/>
          </p:nvSpPr>
          <p:spPr>
            <a:xfrm>
              <a:off x="571500" y="1666875"/>
              <a:ext cx="10668000" cy="9525"/>
            </a:xfrm>
            <a:custGeom>
              <a:avLst/>
              <a:gdLst/>
              <a:ahLst/>
              <a:cxnLst/>
              <a:rect l="l" t="t" r="r" b="b"/>
              <a:pathLst>
                <a:path w="10668000" h="9525">
                  <a:moveTo>
                    <a:pt x="0" y="0"/>
                  </a:moveTo>
                  <a:lnTo>
                    <a:pt x="10668000" y="0"/>
                  </a:lnTo>
                </a:path>
              </a:pathLst>
            </a:custGeom>
            <a:noFill/>
            <a:ln w="9525">
              <a:solidFill>
                <a:srgbClr val="E0E4EA"/>
              </a:solidFill>
            </a:ln>
          </p:spPr>
        </p:sp>
      </p:grpSp>
      <p:grpSp>
        <p:nvGrpSpPr>
          <p:cNvPr id="136" name="Group 136"/>
          <p:cNvGrpSpPr/>
          <p:nvPr/>
        </p:nvGrpSpPr>
        <p:grpSpPr>
          <a:xfrm>
            <a:off x="571500" y="1857375"/>
            <a:ext cx="11753850" cy="2476500"/>
            <a:chOff x="571500" y="1857375"/>
            <a:chExt cx="11753850" cy="2476500"/>
          </a:xfrm>
        </p:grpSpPr>
        <p:grpSp>
          <p:nvGrpSpPr>
            <p:cNvPr id="36" name="Group 36"/>
            <p:cNvGrpSpPr/>
            <p:nvPr/>
          </p:nvGrpSpPr>
          <p:grpSpPr>
            <a:xfrm>
              <a:off x="571500" y="1857375"/>
              <a:ext cx="2000250" cy="2476500"/>
              <a:chOff x="571500" y="1857375"/>
              <a:chExt cx="2000250" cy="2476500"/>
            </a:xfrm>
          </p:grpSpPr>
          <p:sp>
            <p:nvSpPr>
              <p:cNvPr id="9" name="Rectangle 9"/>
              <p:cNvSpPr/>
              <p:nvPr/>
            </p:nvSpPr>
            <p:spPr>
              <a:xfrm>
                <a:off x="571500" y="1857375"/>
                <a:ext cx="2000250" cy="2476500"/>
              </a:xfrm>
              <a:prstGeom prst="roundRect">
                <a:avLst>
                  <a:gd name="adj" fmla="val 1905"/>
                </a:avLst>
              </a:prstGeom>
              <a:solidFill>
                <a:srgbClr val="FFFFFF"/>
              </a:solidFill>
              <a:ln w="14288">
                <a:solidFill>
                  <a:srgbClr val="E0E4EA"/>
                </a:solidFill>
              </a:ln>
            </p:spPr>
          </p:sp>
          <p:sp>
            <p:nvSpPr>
              <p:cNvPr id="10" name="Rectangle 10"/>
              <p:cNvSpPr/>
              <p:nvPr/>
            </p:nvSpPr>
            <p:spPr>
              <a:xfrm>
                <a:off x="571500" y="1857375"/>
                <a:ext cx="2000250" cy="361950"/>
              </a:xfrm>
              <a:prstGeom prst="roundRect">
                <a:avLst>
                  <a:gd name="adj" fmla="val 10526"/>
                </a:avLst>
              </a:prstGeom>
              <a:solidFill>
                <a:srgbClr val="1A3A6B"/>
              </a:solidFill>
              <a:ln>
                <a:noFill/>
              </a:ln>
            </p:spPr>
          </p:sp>
          <p:sp>
            <p:nvSpPr>
              <p:cNvPr id="11" name="Rectangle 11"/>
              <p:cNvSpPr/>
              <p:nvPr/>
            </p:nvSpPr>
            <p:spPr>
              <a:xfrm>
                <a:off x="571500" y="2143125"/>
                <a:ext cx="2000250" cy="76200"/>
              </a:xfrm>
              <a:prstGeom prst="rect">
                <a:avLst/>
              </a:prstGeom>
              <a:solidFill>
                <a:srgbClr val="1A3A6B"/>
              </a:solidFill>
              <a:ln>
                <a:noFill/>
              </a:ln>
            </p:spPr>
          </p:sp>
          <p:sp>
            <p:nvSpPr>
              <p:cNvPr id="12" name="TextBox 12"/>
              <p:cNvSpPr txBox="1"/>
              <p:nvPr/>
            </p:nvSpPr>
            <p:spPr>
              <a:xfrm>
                <a:off x="736092" y="1959292"/>
                <a:ext cx="2355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Times New Roman" panose="02020603050405020304"/>
                    <a:ea typeface="Times New Roman" panose="02020603050405020304"/>
                    <a:cs typeface="Times New Roman" panose="02020603050405020304"/>
                  </a:rPr>
                  <a:t>01</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13" name="TextBox 13"/>
              <p:cNvSpPr txBox="1"/>
              <p:nvPr/>
            </p:nvSpPr>
            <p:spPr>
              <a:xfrm>
                <a:off x="1021080" y="1943100"/>
                <a:ext cx="65132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预处理</a:t>
                </a:r>
                <a:endParaRPr lang="zh-CN" sz="1500" b="1" dirty="0">
                  <a:solidFill>
                    <a:srgbClr val="FFFFFF"/>
                  </a:solidFill>
                  <a:latin typeface="Arial" panose="020B0604020202020204"/>
                  <a:ea typeface="微软雅黑" panose="020B0503020204020204" charset="-122"/>
                  <a:cs typeface="Arial" panose="020B0604020202020204"/>
                </a:endParaRPr>
              </a:p>
            </p:txBody>
          </p:sp>
          <p:grpSp>
            <p:nvGrpSpPr>
              <p:cNvPr id="23" name="Group 23"/>
              <p:cNvGrpSpPr/>
              <p:nvPr/>
            </p:nvGrpSpPr>
            <p:grpSpPr>
              <a:xfrm>
                <a:off x="2282825" y="1958975"/>
                <a:ext cx="177801" cy="177801"/>
                <a:chOff x="2282825" y="1958975"/>
                <a:chExt cx="177801" cy="177801"/>
              </a:xfrm>
            </p:grpSpPr>
            <p:sp>
              <p:nvSpPr>
                <p:cNvPr id="14" name="Freeform 14"/>
                <p:cNvSpPr/>
                <p:nvPr/>
              </p:nvSpPr>
              <p:spPr>
                <a:xfrm>
                  <a:off x="2282825" y="2003425"/>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FFFFFF"/>
                  </a:solidFill>
                </a:ln>
              </p:spPr>
            </p:sp>
            <p:sp>
              <p:nvSpPr>
                <p:cNvPr id="15" name="Freeform 15"/>
                <p:cNvSpPr/>
                <p:nvPr/>
              </p:nvSpPr>
              <p:spPr>
                <a:xfrm>
                  <a:off x="2305050" y="1958975"/>
                  <a:ext cx="9525" cy="44450"/>
                </a:xfrm>
                <a:custGeom>
                  <a:avLst/>
                  <a:gdLst/>
                  <a:ahLst/>
                  <a:cxnLst/>
                  <a:rect l="l" t="t" r="r" b="b"/>
                  <a:pathLst>
                    <a:path w="9525" h="44450">
                      <a:moveTo>
                        <a:pt x="0" y="0"/>
                      </a:moveTo>
                      <a:lnTo>
                        <a:pt x="0" y="44450"/>
                      </a:lnTo>
                    </a:path>
                  </a:pathLst>
                </a:custGeom>
                <a:noFill/>
                <a:ln w="19050">
                  <a:solidFill>
                    <a:srgbClr val="FFFFFF"/>
                  </a:solidFill>
                </a:ln>
              </p:spPr>
            </p:sp>
            <p:sp>
              <p:nvSpPr>
                <p:cNvPr id="16" name="Freeform 16"/>
                <p:cNvSpPr/>
                <p:nvPr/>
              </p:nvSpPr>
              <p:spPr>
                <a:xfrm>
                  <a:off x="2305050" y="2047875"/>
                  <a:ext cx="9525" cy="88900"/>
                </a:xfrm>
                <a:custGeom>
                  <a:avLst/>
                  <a:gdLst/>
                  <a:ahLst/>
                  <a:cxnLst/>
                  <a:rect l="l" t="t" r="r" b="b"/>
                  <a:pathLst>
                    <a:path w="9525" h="88900">
                      <a:moveTo>
                        <a:pt x="0" y="0"/>
                      </a:moveTo>
                      <a:lnTo>
                        <a:pt x="0" y="88900"/>
                      </a:lnTo>
                    </a:path>
                  </a:pathLst>
                </a:custGeom>
                <a:noFill/>
                <a:ln w="19050">
                  <a:solidFill>
                    <a:srgbClr val="FFFFFF"/>
                  </a:solidFill>
                </a:ln>
              </p:spPr>
            </p:sp>
            <p:sp>
              <p:nvSpPr>
                <p:cNvPr id="17" name="Freeform 17"/>
                <p:cNvSpPr/>
                <p:nvPr/>
              </p:nvSpPr>
              <p:spPr>
                <a:xfrm>
                  <a:off x="2349500" y="2070100"/>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FFFFFF"/>
                  </a:solidFill>
                </a:ln>
              </p:spPr>
            </p:sp>
            <p:sp>
              <p:nvSpPr>
                <p:cNvPr id="18" name="Freeform 18"/>
                <p:cNvSpPr/>
                <p:nvPr/>
              </p:nvSpPr>
              <p:spPr>
                <a:xfrm>
                  <a:off x="2371725" y="1958975"/>
                  <a:ext cx="9525" cy="111125"/>
                </a:xfrm>
                <a:custGeom>
                  <a:avLst/>
                  <a:gdLst/>
                  <a:ahLst/>
                  <a:cxnLst/>
                  <a:rect l="l" t="t" r="r" b="b"/>
                  <a:pathLst>
                    <a:path w="9525" h="111125">
                      <a:moveTo>
                        <a:pt x="0" y="0"/>
                      </a:moveTo>
                      <a:lnTo>
                        <a:pt x="0" y="111125"/>
                      </a:lnTo>
                    </a:path>
                  </a:pathLst>
                </a:custGeom>
                <a:noFill/>
                <a:ln w="19050">
                  <a:solidFill>
                    <a:srgbClr val="FFFFFF"/>
                  </a:solidFill>
                </a:ln>
              </p:spPr>
            </p:sp>
            <p:sp>
              <p:nvSpPr>
                <p:cNvPr id="19" name="Freeform 19"/>
                <p:cNvSpPr/>
                <p:nvPr/>
              </p:nvSpPr>
              <p:spPr>
                <a:xfrm>
                  <a:off x="2371725" y="2114551"/>
                  <a:ext cx="9525" cy="22225"/>
                </a:xfrm>
                <a:custGeom>
                  <a:avLst/>
                  <a:gdLst/>
                  <a:ahLst/>
                  <a:cxnLst/>
                  <a:rect l="l" t="t" r="r" b="b"/>
                  <a:pathLst>
                    <a:path w="9525" h="22225">
                      <a:moveTo>
                        <a:pt x="0" y="0"/>
                      </a:moveTo>
                      <a:lnTo>
                        <a:pt x="0" y="22225"/>
                      </a:lnTo>
                    </a:path>
                  </a:pathLst>
                </a:custGeom>
                <a:noFill/>
                <a:ln w="19050">
                  <a:solidFill>
                    <a:srgbClr val="FFFFFF"/>
                  </a:solidFill>
                </a:ln>
              </p:spPr>
            </p:sp>
            <p:sp>
              <p:nvSpPr>
                <p:cNvPr id="20" name="Freeform 20"/>
                <p:cNvSpPr/>
                <p:nvPr/>
              </p:nvSpPr>
              <p:spPr>
                <a:xfrm>
                  <a:off x="2416176" y="1970088"/>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FFFFFF"/>
                  </a:solidFill>
                </a:ln>
              </p:spPr>
            </p:sp>
            <p:sp>
              <p:nvSpPr>
                <p:cNvPr id="21" name="Freeform 21"/>
                <p:cNvSpPr/>
                <p:nvPr/>
              </p:nvSpPr>
              <p:spPr>
                <a:xfrm>
                  <a:off x="2438401" y="1958975"/>
                  <a:ext cx="9525" cy="11113"/>
                </a:xfrm>
                <a:custGeom>
                  <a:avLst/>
                  <a:gdLst/>
                  <a:ahLst/>
                  <a:cxnLst/>
                  <a:rect l="l" t="t" r="r" b="b"/>
                  <a:pathLst>
                    <a:path w="9525" h="11113">
                      <a:moveTo>
                        <a:pt x="0" y="0"/>
                      </a:moveTo>
                      <a:lnTo>
                        <a:pt x="0" y="11113"/>
                      </a:lnTo>
                    </a:path>
                  </a:pathLst>
                </a:custGeom>
                <a:noFill/>
                <a:ln w="19050">
                  <a:solidFill>
                    <a:srgbClr val="FFFFFF"/>
                  </a:solidFill>
                </a:ln>
              </p:spPr>
            </p:sp>
            <p:sp>
              <p:nvSpPr>
                <p:cNvPr id="22" name="Freeform 22"/>
                <p:cNvSpPr/>
                <p:nvPr/>
              </p:nvSpPr>
              <p:spPr>
                <a:xfrm>
                  <a:off x="2438401" y="2014538"/>
                  <a:ext cx="9525" cy="122238"/>
                </a:xfrm>
                <a:custGeom>
                  <a:avLst/>
                  <a:gdLst/>
                  <a:ahLst/>
                  <a:cxnLst/>
                  <a:rect l="l" t="t" r="r" b="b"/>
                  <a:pathLst>
                    <a:path w="9525" h="122238">
                      <a:moveTo>
                        <a:pt x="0" y="0"/>
                      </a:moveTo>
                      <a:lnTo>
                        <a:pt x="0" y="122238"/>
                      </a:lnTo>
                    </a:path>
                  </a:pathLst>
                </a:custGeom>
                <a:noFill/>
                <a:ln w="19050">
                  <a:solidFill>
                    <a:srgbClr val="FFFFFF"/>
                  </a:solidFill>
                </a:ln>
              </p:spPr>
            </p:sp>
          </p:grpSp>
          <p:sp>
            <p:nvSpPr>
              <p:cNvPr id="24" name="Rectangle 24"/>
              <p:cNvSpPr/>
              <p:nvPr/>
            </p:nvSpPr>
            <p:spPr>
              <a:xfrm>
                <a:off x="571500" y="2219325"/>
                <a:ext cx="2000250" cy="247650"/>
              </a:xfrm>
              <a:prstGeom prst="rect">
                <a:avLst/>
              </a:prstGeom>
              <a:solidFill>
                <a:srgbClr val="F4F6F8"/>
              </a:solidFill>
              <a:ln>
                <a:noFill/>
              </a:ln>
            </p:spPr>
          </p:sp>
          <p:sp>
            <p:nvSpPr>
              <p:cNvPr id="25" name="TextBox 25"/>
              <p:cNvSpPr txBox="1"/>
              <p:nvPr/>
            </p:nvSpPr>
            <p:spPr>
              <a:xfrm>
                <a:off x="1189101" y="2261235"/>
                <a:ext cx="860298" cy="234696"/>
              </a:xfrm>
              <a:prstGeom prst="rect">
                <a:avLst/>
              </a:prstGeom>
              <a:noFill/>
              <a:ln>
                <a:noFill/>
              </a:ln>
            </p:spPr>
            <p:txBody>
              <a:bodyPr wrap="none" lIns="0" tIns="0" rIns="0" bIns="0" anchor="t" anchorCtr="0">
                <a:spAutoFit/>
              </a:bodyPr>
              <a:lstStyle/>
              <a:p>
                <a:pPr algn="ctr"/>
                <a:r>
                  <a:rPr lang="zh-CN" sz="1200" b="1" dirty="0">
                    <a:solidFill>
                      <a:srgbClr val="1A3A6B"/>
                    </a:solidFill>
                    <a:latin typeface="Arial" panose="020B0604020202020204"/>
                    <a:ea typeface="微软雅黑" panose="020B0503020204020204" charset="-122"/>
                    <a:cs typeface="Arial" panose="020B0604020202020204"/>
                  </a:rPr>
                  <a:t>缺失值填充</a:t>
                </a:r>
                <a:endParaRPr lang="zh-CN" sz="1200" b="1" dirty="0">
                  <a:solidFill>
                    <a:srgbClr val="1A3A6B"/>
                  </a:solidFill>
                  <a:latin typeface="Arial" panose="020B0604020202020204"/>
                  <a:ea typeface="微软雅黑" panose="020B0503020204020204" charset="-122"/>
                  <a:cs typeface="Arial" panose="020B0604020202020204"/>
                </a:endParaRPr>
              </a:p>
            </p:txBody>
          </p:sp>
          <p:sp>
            <p:nvSpPr>
              <p:cNvPr id="26" name="Ellipse 26"/>
              <p:cNvSpPr/>
              <p:nvPr/>
            </p:nvSpPr>
            <p:spPr>
              <a:xfrm>
                <a:off x="714375" y="2686050"/>
                <a:ext cx="57150" cy="57150"/>
              </a:xfrm>
              <a:prstGeom prst="ellipse">
                <a:avLst/>
              </a:prstGeom>
              <a:solidFill>
                <a:srgbClr val="1A3A6B"/>
              </a:solidFill>
              <a:ln>
                <a:noFill/>
              </a:ln>
            </p:spPr>
          </p:sp>
          <p:sp>
            <p:nvSpPr>
              <p:cNvPr id="27" name="TextBox 27"/>
              <p:cNvSpPr txBox="1"/>
              <p:nvPr/>
            </p:nvSpPr>
            <p:spPr>
              <a:xfrm>
                <a:off x="831342" y="2616518"/>
                <a:ext cx="1204093"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前向/后向填充</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28" name="Ellipse 28"/>
              <p:cNvSpPr/>
              <p:nvPr/>
            </p:nvSpPr>
            <p:spPr>
              <a:xfrm>
                <a:off x="714375" y="2971800"/>
                <a:ext cx="57150" cy="57150"/>
              </a:xfrm>
              <a:prstGeom prst="ellipse">
                <a:avLst/>
              </a:prstGeom>
              <a:solidFill>
                <a:srgbClr val="1A3A6B"/>
              </a:solidFill>
              <a:ln>
                <a:noFill/>
              </a:ln>
            </p:spPr>
          </p:sp>
          <p:sp>
            <p:nvSpPr>
              <p:cNvPr id="29" name="TextBox 29"/>
              <p:cNvSpPr txBox="1"/>
              <p:nvPr/>
            </p:nvSpPr>
            <p:spPr>
              <a:xfrm>
                <a:off x="831342" y="2902268"/>
                <a:ext cx="1076877"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剩余缺失填 0</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30" name="Ellipse 30"/>
              <p:cNvSpPr/>
              <p:nvPr/>
            </p:nvSpPr>
            <p:spPr>
              <a:xfrm>
                <a:off x="714375" y="3257550"/>
                <a:ext cx="57150" cy="57150"/>
              </a:xfrm>
              <a:prstGeom prst="ellipse">
                <a:avLst/>
              </a:prstGeom>
              <a:solidFill>
                <a:srgbClr val="1A3A6B"/>
              </a:solidFill>
              <a:ln>
                <a:noFill/>
              </a:ln>
            </p:spPr>
          </p:sp>
          <p:sp>
            <p:nvSpPr>
              <p:cNvPr id="31" name="TextBox 31"/>
              <p:cNvSpPr txBox="1"/>
              <p:nvPr/>
            </p:nvSpPr>
            <p:spPr>
              <a:xfrm>
                <a:off x="831342" y="3188018"/>
                <a:ext cx="1513046"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按 sample_id 分组</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32" name="Line 32"/>
              <p:cNvSpPr/>
              <p:nvPr/>
            </p:nvSpPr>
            <p:spPr>
              <a:xfrm>
                <a:off x="723900" y="3571875"/>
                <a:ext cx="1790700" cy="9525"/>
              </a:xfrm>
              <a:custGeom>
                <a:avLst/>
                <a:gdLst/>
                <a:ahLst/>
                <a:cxnLst/>
                <a:rect l="l" t="t" r="r" b="b"/>
                <a:pathLst>
                  <a:path w="1790700" h="9525">
                    <a:moveTo>
                      <a:pt x="0" y="0"/>
                    </a:moveTo>
                    <a:lnTo>
                      <a:pt x="1790700" y="0"/>
                    </a:lnTo>
                  </a:path>
                </a:pathLst>
              </a:custGeom>
              <a:noFill/>
              <a:ln w="9525">
                <a:solidFill>
                  <a:srgbClr val="EDEFF2"/>
                </a:solidFill>
                <a:custDash>
                  <a:ds d="400000" sp="300000"/>
                </a:custDash>
              </a:ln>
            </p:spPr>
          </p:sp>
          <p:sp>
            <p:nvSpPr>
              <p:cNvPr id="33" name="Rectangle 33"/>
              <p:cNvSpPr/>
              <p:nvPr/>
            </p:nvSpPr>
            <p:spPr>
              <a:xfrm>
                <a:off x="666750" y="3724275"/>
                <a:ext cx="1790700" cy="457200"/>
              </a:xfrm>
              <a:prstGeom prst="roundRect">
                <a:avLst>
                  <a:gd name="adj" fmla="val 6250"/>
                </a:avLst>
              </a:prstGeom>
              <a:solidFill>
                <a:srgbClr val="F8FAFB"/>
              </a:solidFill>
              <a:ln w="9525">
                <a:solidFill>
                  <a:srgbClr val="E0E4EA"/>
                </a:solidFill>
              </a:ln>
            </p:spPr>
          </p:sp>
          <p:sp>
            <p:nvSpPr>
              <p:cNvPr id="34" name="TextBox 34"/>
              <p:cNvSpPr txBox="1"/>
              <p:nvPr/>
            </p:nvSpPr>
            <p:spPr>
              <a:xfrm>
                <a:off x="1003558" y="3791902"/>
                <a:ext cx="1155184" cy="205359"/>
              </a:xfrm>
              <a:prstGeom prst="rect">
                <a:avLst/>
              </a:prstGeom>
              <a:noFill/>
              <a:ln>
                <a:noFill/>
              </a:ln>
            </p:spPr>
            <p:txBody>
              <a:bodyPr wrap="none" lIns="0" tIns="0" rIns="0" bIns="0" anchor="t" anchorCtr="0">
                <a:spAutoFit/>
              </a:bodyPr>
              <a:lstStyle/>
              <a:p>
                <a:pPr algn="ctr"/>
                <a:r>
                  <a:rPr lang="en-US" sz="1050" b="1" spc="75" dirty="0">
                    <a:solidFill>
                      <a:srgbClr val="8A92A0"/>
                    </a:solidFill>
                    <a:latin typeface="Arial" panose="020B0604020202020204"/>
                    <a:ea typeface="Arial" panose="020B0604020202020204"/>
                    <a:cs typeface="Arial" panose="020B0604020202020204"/>
                  </a:rPr>
                  <a:t>STAGE OUTPUT</a:t>
                </a:r>
                <a:endParaRPr lang="en-US" sz="1050" b="1" spc="75" dirty="0">
                  <a:solidFill>
                    <a:srgbClr val="8A92A0"/>
                  </a:solidFill>
                  <a:latin typeface="Arial" panose="020B0604020202020204"/>
                  <a:ea typeface="Arial" panose="020B0604020202020204"/>
                  <a:cs typeface="Arial" panose="020B0604020202020204"/>
                </a:endParaRPr>
              </a:p>
            </p:txBody>
          </p:sp>
          <p:sp>
            <p:nvSpPr>
              <p:cNvPr id="35" name="TextBox 35"/>
              <p:cNvSpPr txBox="1"/>
              <p:nvPr/>
            </p:nvSpPr>
            <p:spPr>
              <a:xfrm>
                <a:off x="1001820" y="3950018"/>
                <a:ext cx="1158659" cy="264033"/>
              </a:xfrm>
              <a:prstGeom prst="rect">
                <a:avLst/>
              </a:prstGeom>
              <a:noFill/>
              <a:ln>
                <a:noFill/>
              </a:ln>
            </p:spPr>
            <p:txBody>
              <a:bodyPr wrap="none" lIns="0" tIns="0" rIns="0" bIns="0" anchor="t" anchorCtr="0">
                <a:spAutoFit/>
              </a:bodyPr>
              <a:lstStyle/>
              <a:p>
                <a:pPr algn="ctr"/>
                <a:r>
                  <a:rPr lang="zh-CN" sz="1350" b="1" dirty="0">
                    <a:solidFill>
                      <a:srgbClr val="1A3A6B"/>
                    </a:solidFill>
                    <a:latin typeface="Arial" panose="020B0604020202020204"/>
                    <a:ea typeface="微软雅黑" panose="020B0503020204020204" charset="-122"/>
                    <a:cs typeface="Arial" panose="020B0604020202020204"/>
                  </a:rPr>
                  <a:t>完整时序数据</a:t>
                </a:r>
                <a:endParaRPr lang="zh-CN" sz="1350" b="1" dirty="0">
                  <a:solidFill>
                    <a:srgbClr val="1A3A6B"/>
                  </a:solidFill>
                  <a:latin typeface="Arial" panose="020B0604020202020204"/>
                  <a:ea typeface="微软雅黑" panose="020B0503020204020204" charset="-122"/>
                  <a:cs typeface="Arial" panose="020B0604020202020204"/>
                </a:endParaRPr>
              </a:p>
            </p:txBody>
          </p:sp>
        </p:grpSp>
        <p:sp>
          <p:nvSpPr>
            <p:cNvPr id="37" name="Polygon 37"/>
            <p:cNvSpPr/>
            <p:nvPr/>
          </p:nvSpPr>
          <p:spPr>
            <a:xfrm>
              <a:off x="2667000" y="2952750"/>
              <a:ext cx="123825" cy="190500"/>
            </a:xfrm>
            <a:custGeom>
              <a:avLst/>
              <a:gdLst/>
              <a:ahLst/>
              <a:cxnLst/>
              <a:rect l="l" t="t" r="r" b="b"/>
              <a:pathLst>
                <a:path w="123825" h="190500">
                  <a:moveTo>
                    <a:pt x="123825" y="95250"/>
                  </a:moveTo>
                  <a:lnTo>
                    <a:pt x="0" y="0"/>
                  </a:lnTo>
                  <a:lnTo>
                    <a:pt x="0" y="190500"/>
                  </a:lnTo>
                  <a:close/>
                </a:path>
              </a:pathLst>
            </a:custGeom>
            <a:solidFill>
              <a:srgbClr val="C9962B"/>
            </a:solidFill>
            <a:ln>
              <a:noFill/>
            </a:ln>
          </p:spPr>
        </p:sp>
        <p:grpSp>
          <p:nvGrpSpPr>
            <p:cNvPr id="61" name="Group 61"/>
            <p:cNvGrpSpPr/>
            <p:nvPr/>
          </p:nvGrpSpPr>
          <p:grpSpPr>
            <a:xfrm>
              <a:off x="2828925" y="1857375"/>
              <a:ext cx="2000250" cy="2476500"/>
              <a:chOff x="2828925" y="1857375"/>
              <a:chExt cx="2000250" cy="2476500"/>
            </a:xfrm>
          </p:grpSpPr>
          <p:sp>
            <p:nvSpPr>
              <p:cNvPr id="38" name="Rectangle 38"/>
              <p:cNvSpPr/>
              <p:nvPr/>
            </p:nvSpPr>
            <p:spPr>
              <a:xfrm>
                <a:off x="2828925" y="1857375"/>
                <a:ext cx="2000250" cy="2476500"/>
              </a:xfrm>
              <a:prstGeom prst="roundRect">
                <a:avLst>
                  <a:gd name="adj" fmla="val 1905"/>
                </a:avLst>
              </a:prstGeom>
              <a:solidFill>
                <a:srgbClr val="FFFFFF"/>
              </a:solidFill>
              <a:ln w="14288">
                <a:solidFill>
                  <a:srgbClr val="E0E4EA"/>
                </a:solidFill>
              </a:ln>
            </p:spPr>
          </p:sp>
          <p:sp>
            <p:nvSpPr>
              <p:cNvPr id="39" name="Rectangle 39"/>
              <p:cNvSpPr/>
              <p:nvPr/>
            </p:nvSpPr>
            <p:spPr>
              <a:xfrm>
                <a:off x="2828925" y="1857375"/>
                <a:ext cx="2000250" cy="361950"/>
              </a:xfrm>
              <a:prstGeom prst="roundRect">
                <a:avLst>
                  <a:gd name="adj" fmla="val 10526"/>
                </a:avLst>
              </a:prstGeom>
              <a:solidFill>
                <a:srgbClr val="1A3A6B"/>
              </a:solidFill>
              <a:ln>
                <a:noFill/>
              </a:ln>
            </p:spPr>
          </p:sp>
          <p:sp>
            <p:nvSpPr>
              <p:cNvPr id="40" name="Rectangle 40"/>
              <p:cNvSpPr/>
              <p:nvPr/>
            </p:nvSpPr>
            <p:spPr>
              <a:xfrm>
                <a:off x="2828925" y="2143125"/>
                <a:ext cx="2000250" cy="76200"/>
              </a:xfrm>
              <a:prstGeom prst="rect">
                <a:avLst/>
              </a:prstGeom>
              <a:solidFill>
                <a:srgbClr val="1A3A6B"/>
              </a:solidFill>
              <a:ln>
                <a:noFill/>
              </a:ln>
            </p:spPr>
          </p:sp>
          <p:sp>
            <p:nvSpPr>
              <p:cNvPr id="41" name="TextBox 41"/>
              <p:cNvSpPr txBox="1"/>
              <p:nvPr/>
            </p:nvSpPr>
            <p:spPr>
              <a:xfrm>
                <a:off x="2993517" y="1959292"/>
                <a:ext cx="2355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Times New Roman" panose="02020603050405020304"/>
                    <a:ea typeface="Times New Roman" panose="02020603050405020304"/>
                    <a:cs typeface="Times New Roman" panose="02020603050405020304"/>
                  </a:rPr>
                  <a:t>02</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42" name="TextBox 42"/>
              <p:cNvSpPr txBox="1"/>
              <p:nvPr/>
            </p:nvSpPr>
            <p:spPr>
              <a:xfrm>
                <a:off x="3278505" y="1943100"/>
                <a:ext cx="86334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特征工程</a:t>
                </a:r>
                <a:endParaRPr lang="zh-CN" sz="1500" b="1" dirty="0">
                  <a:solidFill>
                    <a:srgbClr val="FFFFFF"/>
                  </a:solidFill>
                  <a:latin typeface="Arial" panose="020B0604020202020204"/>
                  <a:ea typeface="微软雅黑" panose="020B0503020204020204" charset="-122"/>
                  <a:cs typeface="Arial" panose="020B0604020202020204"/>
                </a:endParaRPr>
              </a:p>
            </p:txBody>
          </p:sp>
          <p:grpSp>
            <p:nvGrpSpPr>
              <p:cNvPr id="47" name="Group 47"/>
              <p:cNvGrpSpPr/>
              <p:nvPr/>
            </p:nvGrpSpPr>
            <p:grpSpPr>
              <a:xfrm>
                <a:off x="4529138" y="1958975"/>
                <a:ext cx="200025" cy="187326"/>
                <a:chOff x="4529138" y="1958975"/>
                <a:chExt cx="200025" cy="187326"/>
              </a:xfrm>
            </p:grpSpPr>
            <p:sp>
              <p:nvSpPr>
                <p:cNvPr id="43" name="Freeform 43"/>
                <p:cNvSpPr/>
                <p:nvPr/>
              </p:nvSpPr>
              <p:spPr>
                <a:xfrm>
                  <a:off x="4529138" y="2047875"/>
                  <a:ext cx="66675" cy="88900"/>
                </a:xfrm>
                <a:custGeom>
                  <a:avLst/>
                  <a:gdLst/>
                  <a:ahLst/>
                  <a:cxnLst/>
                  <a:rect l="l" t="t" r="r" b="b"/>
                  <a:pathLst>
                    <a:path w="66675" h="88900">
                      <a:moveTo>
                        <a:pt x="0" y="11113"/>
                      </a:moveTo>
                      <a:cubicBezTo>
                        <a:pt x="0" y="4975"/>
                        <a:pt x="4975" y="0"/>
                        <a:pt x="11113" y="0"/>
                      </a:cubicBezTo>
                      <a:lnTo>
                        <a:pt x="55563" y="0"/>
                      </a:lnTo>
                      <a:cubicBezTo>
                        <a:pt x="61700" y="0"/>
                        <a:pt x="66675" y="4975"/>
                        <a:pt x="66675" y="11113"/>
                      </a:cubicBezTo>
                      <a:lnTo>
                        <a:pt x="66675" y="77788"/>
                      </a:lnTo>
                      <a:cubicBezTo>
                        <a:pt x="66675" y="83925"/>
                        <a:pt x="61700" y="88900"/>
                        <a:pt x="55563" y="88900"/>
                      </a:cubicBezTo>
                      <a:lnTo>
                        <a:pt x="11113" y="88900"/>
                      </a:lnTo>
                      <a:cubicBezTo>
                        <a:pt x="4975" y="88900"/>
                        <a:pt x="0" y="83925"/>
                        <a:pt x="0" y="77788"/>
                      </a:cubicBezTo>
                      <a:lnTo>
                        <a:pt x="0" y="11113"/>
                      </a:lnTo>
                    </a:path>
                  </a:pathLst>
                </a:custGeom>
                <a:noFill/>
                <a:ln w="19050">
                  <a:solidFill>
                    <a:srgbClr val="FFFFFF"/>
                  </a:solidFill>
                </a:ln>
              </p:spPr>
            </p:sp>
            <p:sp>
              <p:nvSpPr>
                <p:cNvPr id="44" name="Freeform 44"/>
                <p:cNvSpPr/>
                <p:nvPr/>
              </p:nvSpPr>
              <p:spPr>
                <a:xfrm>
                  <a:off x="4662488" y="2003425"/>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45" name="Freeform 45"/>
                <p:cNvSpPr/>
                <p:nvPr/>
              </p:nvSpPr>
              <p:spPr>
                <a:xfrm>
                  <a:off x="4595813" y="1958975"/>
                  <a:ext cx="66675" cy="177801"/>
                </a:xfrm>
                <a:custGeom>
                  <a:avLst/>
                  <a:gdLst/>
                  <a:ahLst/>
                  <a:cxnLst/>
                  <a:rect l="l" t="t" r="r" b="b"/>
                  <a:pathLst>
                    <a:path w="66675" h="177801">
                      <a:moveTo>
                        <a:pt x="0" y="11113"/>
                      </a:moveTo>
                      <a:cubicBezTo>
                        <a:pt x="0" y="4975"/>
                        <a:pt x="4975" y="0"/>
                        <a:pt x="11113" y="0"/>
                      </a:cubicBezTo>
                      <a:lnTo>
                        <a:pt x="55563" y="0"/>
                      </a:lnTo>
                      <a:cubicBezTo>
                        <a:pt x="61700" y="0"/>
                        <a:pt x="66675" y="4975"/>
                        <a:pt x="66675" y="11113"/>
                      </a:cubicBezTo>
                      <a:lnTo>
                        <a:pt x="66675" y="166688"/>
                      </a:lnTo>
                      <a:cubicBezTo>
                        <a:pt x="66675" y="172825"/>
                        <a:pt x="61700" y="177801"/>
                        <a:pt x="55563" y="177801"/>
                      </a:cubicBezTo>
                      <a:lnTo>
                        <a:pt x="11113" y="177801"/>
                      </a:lnTo>
                      <a:cubicBezTo>
                        <a:pt x="4975" y="177801"/>
                        <a:pt x="0" y="172825"/>
                        <a:pt x="0" y="166688"/>
                      </a:cubicBezTo>
                      <a:lnTo>
                        <a:pt x="0" y="11113"/>
                      </a:lnTo>
                    </a:path>
                  </a:pathLst>
                </a:custGeom>
                <a:noFill/>
                <a:ln w="19050">
                  <a:solidFill>
                    <a:srgbClr val="FFFFFF"/>
                  </a:solidFill>
                </a:ln>
              </p:spPr>
            </p:sp>
            <p:sp>
              <p:nvSpPr>
                <p:cNvPr id="46" name="Freeform 46"/>
                <p:cNvSpPr/>
                <p:nvPr/>
              </p:nvSpPr>
              <p:spPr>
                <a:xfrm>
                  <a:off x="4540250" y="2136776"/>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48" name="Rectangle 48"/>
              <p:cNvSpPr/>
              <p:nvPr/>
            </p:nvSpPr>
            <p:spPr>
              <a:xfrm>
                <a:off x="2828925" y="2219325"/>
                <a:ext cx="2000250" cy="247650"/>
              </a:xfrm>
              <a:prstGeom prst="rect">
                <a:avLst/>
              </a:prstGeom>
              <a:solidFill>
                <a:srgbClr val="F4F6F8"/>
              </a:solidFill>
              <a:ln>
                <a:noFill/>
              </a:ln>
            </p:spPr>
          </p:sp>
          <p:sp>
            <p:nvSpPr>
              <p:cNvPr id="49" name="TextBox 49"/>
              <p:cNvSpPr txBox="1"/>
              <p:nvPr/>
            </p:nvSpPr>
            <p:spPr>
              <a:xfrm>
                <a:off x="3318342" y="2261235"/>
                <a:ext cx="1078565" cy="234696"/>
              </a:xfrm>
              <a:prstGeom prst="rect">
                <a:avLst/>
              </a:prstGeom>
              <a:noFill/>
              <a:ln>
                <a:noFill/>
              </a:ln>
            </p:spPr>
            <p:txBody>
              <a:bodyPr wrap="none" lIns="0" tIns="0" rIns="0" bIns="0" anchor="t" anchorCtr="0">
                <a:spAutoFit/>
              </a:bodyPr>
              <a:lstStyle/>
              <a:p>
                <a:pPr algn="ctr"/>
                <a:r>
                  <a:rPr lang="zh-CN" sz="1200" b="1" dirty="0">
                    <a:solidFill>
                      <a:srgbClr val="1A3A6B"/>
                    </a:solidFill>
                    <a:latin typeface="Arial" panose="020B0604020202020204"/>
                    <a:ea typeface="微软雅黑" panose="020B0503020204020204" charset="-122"/>
                    <a:cs typeface="Arial" panose="020B0604020202020204"/>
                  </a:rPr>
                  <a:t>SPC 统计聚合</a:t>
                </a:r>
                <a:endParaRPr lang="zh-CN" sz="1200" b="1" dirty="0">
                  <a:solidFill>
                    <a:srgbClr val="1A3A6B"/>
                  </a:solidFill>
                  <a:latin typeface="Arial" panose="020B0604020202020204"/>
                  <a:ea typeface="微软雅黑" panose="020B0503020204020204" charset="-122"/>
                  <a:cs typeface="Arial" panose="020B0604020202020204"/>
                </a:endParaRPr>
              </a:p>
            </p:txBody>
          </p:sp>
          <p:sp>
            <p:nvSpPr>
              <p:cNvPr id="50" name="Ellipse 50"/>
              <p:cNvSpPr/>
              <p:nvPr/>
            </p:nvSpPr>
            <p:spPr>
              <a:xfrm>
                <a:off x="2952750" y="2686050"/>
                <a:ext cx="57150" cy="57150"/>
              </a:xfrm>
              <a:prstGeom prst="ellipse">
                <a:avLst/>
              </a:prstGeom>
              <a:solidFill>
                <a:srgbClr val="1A3A6B"/>
              </a:solidFill>
              <a:ln>
                <a:noFill/>
              </a:ln>
            </p:spPr>
          </p:sp>
          <p:sp>
            <p:nvSpPr>
              <p:cNvPr id="51" name="TextBox 51"/>
              <p:cNvSpPr txBox="1"/>
              <p:nvPr/>
            </p:nvSpPr>
            <p:spPr>
              <a:xfrm>
                <a:off x="3069717" y="2616518"/>
                <a:ext cx="1540307"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64 通道 × 5 统计量</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52" name="Ellipse 52"/>
              <p:cNvSpPr/>
              <p:nvPr/>
            </p:nvSpPr>
            <p:spPr>
              <a:xfrm>
                <a:off x="2952750" y="2971800"/>
                <a:ext cx="57150" cy="57150"/>
              </a:xfrm>
              <a:prstGeom prst="ellipse">
                <a:avLst/>
              </a:prstGeom>
              <a:solidFill>
                <a:srgbClr val="1A3A6B"/>
              </a:solidFill>
              <a:ln>
                <a:noFill/>
              </a:ln>
            </p:spPr>
          </p:sp>
          <p:sp>
            <p:nvSpPr>
              <p:cNvPr id="53" name="TextBox 53"/>
              <p:cNvSpPr txBox="1"/>
              <p:nvPr/>
            </p:nvSpPr>
            <p:spPr>
              <a:xfrm>
                <a:off x="3088767" y="2902268"/>
                <a:ext cx="1485786" cy="264033"/>
              </a:xfrm>
              <a:prstGeom prst="rect">
                <a:avLst/>
              </a:prstGeom>
              <a:noFill/>
              <a:ln>
                <a:noFill/>
              </a:ln>
            </p:spPr>
            <p:txBody>
              <a:bodyPr wrap="none" lIns="0" tIns="0" rIns="0" bIns="0" anchor="t" anchorCtr="0">
                <a:spAutoFit/>
              </a:bodyPr>
              <a:lstStyle/>
              <a:p>
                <a:pPr algn="l"/>
                <a:r>
                  <a:rPr lang="en-US" sz="1350" dirty="0">
                    <a:solidFill>
                      <a:srgbClr val="1D2430"/>
                    </a:solidFill>
                    <a:latin typeface="Arial" panose="020B0604020202020204"/>
                    <a:ea typeface="Arial" panose="020B0604020202020204"/>
                    <a:cs typeface="Arial" panose="020B0604020202020204"/>
                  </a:rPr>
                  <a:t>mean/std/skew/</a:t>
                </a:r>
                <a:endParaRPr lang="en-US" sz="1350" dirty="0">
                  <a:solidFill>
                    <a:srgbClr val="1D2430"/>
                  </a:solidFill>
                  <a:latin typeface="Arial" panose="020B0604020202020204"/>
                  <a:ea typeface="Arial" panose="020B0604020202020204"/>
                  <a:cs typeface="Arial" panose="020B0604020202020204"/>
                </a:endParaRPr>
              </a:p>
            </p:txBody>
          </p:sp>
          <p:sp>
            <p:nvSpPr>
              <p:cNvPr id="54" name="TextBox 54"/>
              <p:cNvSpPr txBox="1"/>
              <p:nvPr/>
            </p:nvSpPr>
            <p:spPr>
              <a:xfrm>
                <a:off x="3088767" y="3111818"/>
                <a:ext cx="904227" cy="264033"/>
              </a:xfrm>
              <a:prstGeom prst="rect">
                <a:avLst/>
              </a:prstGeom>
              <a:noFill/>
              <a:ln>
                <a:noFill/>
              </a:ln>
            </p:spPr>
            <p:txBody>
              <a:bodyPr wrap="none" lIns="0" tIns="0" rIns="0" bIns="0" anchor="t" anchorCtr="0">
                <a:spAutoFit/>
              </a:bodyPr>
              <a:lstStyle/>
              <a:p>
                <a:pPr algn="l"/>
                <a:r>
                  <a:rPr lang="en-US" sz="1350" dirty="0">
                    <a:solidFill>
                      <a:srgbClr val="1D2430"/>
                    </a:solidFill>
                    <a:latin typeface="Arial" panose="020B0604020202020204"/>
                    <a:ea typeface="Arial" panose="020B0604020202020204"/>
                    <a:cs typeface="Arial" panose="020B0604020202020204"/>
                  </a:rPr>
                  <a:t>median/cv</a:t>
                </a:r>
                <a:endParaRPr lang="en-US" sz="1350" dirty="0">
                  <a:solidFill>
                    <a:srgbClr val="1D2430"/>
                  </a:solidFill>
                  <a:latin typeface="Arial" panose="020B0604020202020204"/>
                  <a:ea typeface="Arial" panose="020B0604020202020204"/>
                  <a:cs typeface="Arial" panose="020B0604020202020204"/>
                </a:endParaRPr>
              </a:p>
            </p:txBody>
          </p:sp>
          <p:sp>
            <p:nvSpPr>
              <p:cNvPr id="55" name="Ellipse 55"/>
              <p:cNvSpPr/>
              <p:nvPr/>
            </p:nvSpPr>
            <p:spPr>
              <a:xfrm>
                <a:off x="2962275" y="3438525"/>
                <a:ext cx="57150" cy="57150"/>
              </a:xfrm>
              <a:prstGeom prst="ellipse">
                <a:avLst/>
              </a:prstGeom>
              <a:solidFill>
                <a:srgbClr val="C9962B"/>
              </a:solidFill>
              <a:ln>
                <a:noFill/>
              </a:ln>
            </p:spPr>
          </p:sp>
          <p:sp>
            <p:nvSpPr>
              <p:cNvPr id="56" name="TextBox 56"/>
              <p:cNvSpPr txBox="1"/>
              <p:nvPr/>
            </p:nvSpPr>
            <p:spPr>
              <a:xfrm>
                <a:off x="3088767" y="3378518"/>
                <a:ext cx="1149118" cy="264033"/>
              </a:xfrm>
              <a:prstGeom prst="rect">
                <a:avLst/>
              </a:prstGeom>
              <a:noFill/>
              <a:ln>
                <a:noFill/>
              </a:ln>
            </p:spPr>
            <p:txBody>
              <a:bodyPr wrap="none" lIns="0" tIns="0" rIns="0" bIns="0" anchor="t" anchorCtr="0">
                <a:spAutoFit/>
              </a:bodyPr>
              <a:lstStyle/>
              <a:p>
                <a:pPr algn="l"/>
                <a:r>
                  <a:rPr lang="zh-CN" sz="1350" b="1" dirty="0">
                    <a:solidFill>
                      <a:srgbClr val="C9962B"/>
                    </a:solidFill>
                    <a:latin typeface="Arial" panose="020B0604020202020204"/>
                    <a:ea typeface="微软雅黑" panose="020B0503020204020204" charset="-122"/>
                    <a:cs typeface="Arial" panose="020B0604020202020204"/>
                  </a:rPr>
                  <a:t>320 候选特征</a:t>
                </a:r>
                <a:endParaRPr lang="zh-CN" sz="1350" b="1" dirty="0">
                  <a:solidFill>
                    <a:srgbClr val="C9962B"/>
                  </a:solidFill>
                  <a:latin typeface="Arial" panose="020B0604020202020204"/>
                  <a:ea typeface="微软雅黑" panose="020B0503020204020204" charset="-122"/>
                  <a:cs typeface="Arial" panose="020B0604020202020204"/>
                </a:endParaRPr>
              </a:p>
            </p:txBody>
          </p:sp>
          <p:sp>
            <p:nvSpPr>
              <p:cNvPr id="57" name="Line 57"/>
              <p:cNvSpPr/>
              <p:nvPr/>
            </p:nvSpPr>
            <p:spPr>
              <a:xfrm>
                <a:off x="2981325" y="3667125"/>
                <a:ext cx="1790700" cy="9525"/>
              </a:xfrm>
              <a:custGeom>
                <a:avLst/>
                <a:gdLst/>
                <a:ahLst/>
                <a:cxnLst/>
                <a:rect l="l" t="t" r="r" b="b"/>
                <a:pathLst>
                  <a:path w="1790700" h="9525">
                    <a:moveTo>
                      <a:pt x="0" y="0"/>
                    </a:moveTo>
                    <a:lnTo>
                      <a:pt x="1790700" y="0"/>
                    </a:lnTo>
                  </a:path>
                </a:pathLst>
              </a:custGeom>
              <a:noFill/>
              <a:ln w="9525">
                <a:solidFill>
                  <a:srgbClr val="EDEFF2"/>
                </a:solidFill>
                <a:custDash>
                  <a:ds d="400000" sp="300000"/>
                </a:custDash>
              </a:ln>
            </p:spPr>
          </p:sp>
          <p:sp>
            <p:nvSpPr>
              <p:cNvPr id="58" name="Rectangle 58"/>
              <p:cNvSpPr/>
              <p:nvPr/>
            </p:nvSpPr>
            <p:spPr>
              <a:xfrm>
                <a:off x="2933700" y="3790950"/>
                <a:ext cx="1790700" cy="457200"/>
              </a:xfrm>
              <a:prstGeom prst="roundRect">
                <a:avLst>
                  <a:gd name="adj" fmla="val 6250"/>
                </a:avLst>
              </a:prstGeom>
              <a:solidFill>
                <a:srgbClr val="FBF6EC"/>
              </a:solidFill>
              <a:ln w="9525">
                <a:solidFill>
                  <a:srgbClr val="E0E4EA"/>
                </a:solidFill>
              </a:ln>
            </p:spPr>
          </p:sp>
          <p:sp>
            <p:nvSpPr>
              <p:cNvPr id="59" name="TextBox 59"/>
              <p:cNvSpPr txBox="1"/>
              <p:nvPr/>
            </p:nvSpPr>
            <p:spPr>
              <a:xfrm>
                <a:off x="3270508" y="3868102"/>
                <a:ext cx="1155184" cy="205359"/>
              </a:xfrm>
              <a:prstGeom prst="rect">
                <a:avLst/>
              </a:prstGeom>
              <a:noFill/>
              <a:ln>
                <a:noFill/>
              </a:ln>
            </p:spPr>
            <p:txBody>
              <a:bodyPr wrap="none" lIns="0" tIns="0" rIns="0" bIns="0" anchor="t" anchorCtr="0">
                <a:spAutoFit/>
              </a:bodyPr>
              <a:lstStyle/>
              <a:p>
                <a:pPr algn="ctr"/>
                <a:r>
                  <a:rPr lang="en-US" sz="1050" b="1" spc="75" dirty="0">
                    <a:solidFill>
                      <a:srgbClr val="8A92A0"/>
                    </a:solidFill>
                    <a:latin typeface="Arial" panose="020B0604020202020204"/>
                    <a:ea typeface="Arial" panose="020B0604020202020204"/>
                    <a:cs typeface="Arial" panose="020B0604020202020204"/>
                  </a:rPr>
                  <a:t>STAGE OUTPUT</a:t>
                </a:r>
                <a:endParaRPr lang="en-US" sz="1050" b="1" spc="75" dirty="0">
                  <a:solidFill>
                    <a:srgbClr val="8A92A0"/>
                  </a:solidFill>
                  <a:latin typeface="Arial" panose="020B0604020202020204"/>
                  <a:ea typeface="Arial" panose="020B0604020202020204"/>
                  <a:cs typeface="Arial" panose="020B0604020202020204"/>
                </a:endParaRPr>
              </a:p>
            </p:txBody>
          </p:sp>
          <p:sp>
            <p:nvSpPr>
              <p:cNvPr id="60" name="TextBox 60"/>
              <p:cNvSpPr txBox="1"/>
              <p:nvPr/>
            </p:nvSpPr>
            <p:spPr>
              <a:xfrm>
                <a:off x="3459594" y="4026218"/>
                <a:ext cx="777011" cy="264033"/>
              </a:xfrm>
              <a:prstGeom prst="rect">
                <a:avLst/>
              </a:prstGeom>
              <a:noFill/>
              <a:ln>
                <a:noFill/>
              </a:ln>
            </p:spPr>
            <p:txBody>
              <a:bodyPr wrap="none" lIns="0" tIns="0" rIns="0" bIns="0" anchor="t" anchorCtr="0">
                <a:spAutoFit/>
              </a:bodyPr>
              <a:lstStyle/>
              <a:p>
                <a:pPr algn="ctr"/>
                <a:r>
                  <a:rPr lang="zh-CN" sz="1350" b="1" dirty="0">
                    <a:solidFill>
                      <a:srgbClr val="C9962B"/>
                    </a:solidFill>
                    <a:latin typeface="Arial" panose="020B0604020202020204"/>
                    <a:ea typeface="微软雅黑" panose="020B0503020204020204" charset="-122"/>
                    <a:cs typeface="Arial" panose="020B0604020202020204"/>
                  </a:rPr>
                  <a:t>特征矩阵</a:t>
                </a:r>
                <a:endParaRPr lang="zh-CN" sz="1350" b="1" dirty="0">
                  <a:solidFill>
                    <a:srgbClr val="C9962B"/>
                  </a:solidFill>
                  <a:latin typeface="Arial" panose="020B0604020202020204"/>
                  <a:ea typeface="微软雅黑" panose="020B0503020204020204" charset="-122"/>
                  <a:cs typeface="Arial" panose="020B0604020202020204"/>
                </a:endParaRPr>
              </a:p>
            </p:txBody>
          </p:sp>
        </p:grpSp>
        <p:sp>
          <p:nvSpPr>
            <p:cNvPr id="62" name="Polygon 62"/>
            <p:cNvSpPr/>
            <p:nvPr/>
          </p:nvSpPr>
          <p:spPr>
            <a:xfrm>
              <a:off x="4914900" y="2971800"/>
              <a:ext cx="142875" cy="152400"/>
            </a:xfrm>
            <a:custGeom>
              <a:avLst/>
              <a:gdLst/>
              <a:ahLst/>
              <a:cxnLst/>
              <a:rect l="l" t="t" r="r" b="b"/>
              <a:pathLst>
                <a:path w="142875" h="152400">
                  <a:moveTo>
                    <a:pt x="142875" y="76200"/>
                  </a:moveTo>
                  <a:lnTo>
                    <a:pt x="0" y="0"/>
                  </a:lnTo>
                  <a:lnTo>
                    <a:pt x="0" y="152400"/>
                  </a:lnTo>
                  <a:close/>
                </a:path>
              </a:pathLst>
            </a:custGeom>
            <a:solidFill>
              <a:srgbClr val="C9962B"/>
            </a:solidFill>
            <a:ln>
              <a:noFill/>
            </a:ln>
          </p:spPr>
        </p:sp>
        <p:grpSp>
          <p:nvGrpSpPr>
            <p:cNvPr id="81" name="Group 81"/>
            <p:cNvGrpSpPr/>
            <p:nvPr/>
          </p:nvGrpSpPr>
          <p:grpSpPr>
            <a:xfrm>
              <a:off x="5095875" y="1857375"/>
              <a:ext cx="2133600" cy="2476500"/>
              <a:chOff x="5095875" y="1857375"/>
              <a:chExt cx="2133600" cy="2476500"/>
            </a:xfrm>
          </p:grpSpPr>
          <p:sp>
            <p:nvSpPr>
              <p:cNvPr id="63" name="Rectangle 63"/>
              <p:cNvSpPr/>
              <p:nvPr/>
            </p:nvSpPr>
            <p:spPr>
              <a:xfrm>
                <a:off x="5095875" y="1857375"/>
                <a:ext cx="2000250" cy="2476500"/>
              </a:xfrm>
              <a:prstGeom prst="roundRect">
                <a:avLst>
                  <a:gd name="adj" fmla="val 1905"/>
                </a:avLst>
              </a:prstGeom>
              <a:solidFill>
                <a:srgbClr val="FFFFFF"/>
              </a:solidFill>
              <a:ln w="14288">
                <a:solidFill>
                  <a:srgbClr val="E0E4EA"/>
                </a:solidFill>
              </a:ln>
            </p:spPr>
          </p:sp>
          <p:sp>
            <p:nvSpPr>
              <p:cNvPr id="64" name="Rectangle 64"/>
              <p:cNvSpPr/>
              <p:nvPr/>
            </p:nvSpPr>
            <p:spPr>
              <a:xfrm>
                <a:off x="5095875" y="1857375"/>
                <a:ext cx="2000250" cy="361950"/>
              </a:xfrm>
              <a:prstGeom prst="roundRect">
                <a:avLst>
                  <a:gd name="adj" fmla="val 10526"/>
                </a:avLst>
              </a:prstGeom>
              <a:solidFill>
                <a:srgbClr val="1A3A6B"/>
              </a:solidFill>
              <a:ln>
                <a:noFill/>
              </a:ln>
            </p:spPr>
          </p:sp>
          <p:sp>
            <p:nvSpPr>
              <p:cNvPr id="65" name="Rectangle 65"/>
              <p:cNvSpPr/>
              <p:nvPr/>
            </p:nvSpPr>
            <p:spPr>
              <a:xfrm>
                <a:off x="5095875" y="2143125"/>
                <a:ext cx="2000250" cy="76200"/>
              </a:xfrm>
              <a:prstGeom prst="rect">
                <a:avLst/>
              </a:prstGeom>
              <a:solidFill>
                <a:srgbClr val="1A3A6B"/>
              </a:solidFill>
              <a:ln>
                <a:noFill/>
              </a:ln>
            </p:spPr>
          </p:sp>
          <p:sp>
            <p:nvSpPr>
              <p:cNvPr id="66" name="TextBox 66"/>
              <p:cNvSpPr txBox="1"/>
              <p:nvPr/>
            </p:nvSpPr>
            <p:spPr>
              <a:xfrm>
                <a:off x="5260467" y="1959292"/>
                <a:ext cx="2355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Times New Roman" panose="02020603050405020304"/>
                    <a:ea typeface="Times New Roman" panose="02020603050405020304"/>
                    <a:cs typeface="Times New Roman" panose="02020603050405020304"/>
                  </a:rPr>
                  <a:t>03</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67" name="TextBox 67"/>
              <p:cNvSpPr txBox="1"/>
              <p:nvPr/>
            </p:nvSpPr>
            <p:spPr>
              <a:xfrm>
                <a:off x="5545455" y="1943100"/>
                <a:ext cx="86334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特征选择</a:t>
                </a:r>
                <a:endParaRPr lang="zh-CN" sz="1500" b="1" dirty="0">
                  <a:solidFill>
                    <a:srgbClr val="FFFFFF"/>
                  </a:solidFill>
                  <a:latin typeface="Arial" panose="020B0604020202020204"/>
                  <a:ea typeface="微软雅黑" panose="020B0503020204020204" charset="-122"/>
                  <a:cs typeface="Arial" panose="020B0604020202020204"/>
                </a:endParaRPr>
              </a:p>
            </p:txBody>
          </p:sp>
          <p:sp>
            <p:nvSpPr>
              <p:cNvPr id="68" name="Freeform 68"/>
              <p:cNvSpPr/>
              <p:nvPr/>
            </p:nvSpPr>
            <p:spPr>
              <a:xfrm>
                <a:off x="6807200" y="1958975"/>
                <a:ext cx="177801" cy="188913"/>
              </a:xfrm>
              <a:custGeom>
                <a:avLst/>
                <a:gdLst/>
                <a:ahLst/>
                <a:cxnLst/>
                <a:rect l="l" t="t" r="r" b="b"/>
                <a:pathLst>
                  <a:path w="177801" h="188913">
                    <a:moveTo>
                      <a:pt x="0" y="0"/>
                    </a:moveTo>
                    <a:lnTo>
                      <a:pt x="177801" y="0"/>
                    </a:lnTo>
                    <a:lnTo>
                      <a:pt x="177801" y="24136"/>
                    </a:lnTo>
                    <a:cubicBezTo>
                      <a:pt x="177799" y="30030"/>
                      <a:pt x="175457" y="35683"/>
                      <a:pt x="171289" y="39850"/>
                    </a:cubicBezTo>
                    <a:lnTo>
                      <a:pt x="122238" y="88900"/>
                    </a:lnTo>
                    <a:lnTo>
                      <a:pt x="122238" y="166688"/>
                    </a:lnTo>
                    <a:lnTo>
                      <a:pt x="55563" y="188913"/>
                    </a:lnTo>
                    <a:lnTo>
                      <a:pt x="55563" y="94457"/>
                    </a:lnTo>
                    <a:lnTo>
                      <a:pt x="5779" y="39694"/>
                    </a:lnTo>
                    <a:cubicBezTo>
                      <a:pt x="2061" y="35604"/>
                      <a:pt x="1" y="30275"/>
                      <a:pt x="0" y="24748"/>
                    </a:cubicBezTo>
                    <a:lnTo>
                      <a:pt x="0" y="0"/>
                    </a:lnTo>
                  </a:path>
                </a:pathLst>
              </a:custGeom>
              <a:noFill/>
              <a:ln w="19050">
                <a:solidFill>
                  <a:srgbClr val="FFFFFF"/>
                </a:solidFill>
              </a:ln>
            </p:spPr>
          </p:sp>
          <p:sp>
            <p:nvSpPr>
              <p:cNvPr id="69" name="Rectangle 69"/>
              <p:cNvSpPr/>
              <p:nvPr/>
            </p:nvSpPr>
            <p:spPr>
              <a:xfrm>
                <a:off x="5095875" y="2219325"/>
                <a:ext cx="2000250" cy="247650"/>
              </a:xfrm>
              <a:prstGeom prst="rect">
                <a:avLst/>
              </a:prstGeom>
              <a:solidFill>
                <a:srgbClr val="F4F6F8"/>
              </a:solidFill>
              <a:ln>
                <a:noFill/>
              </a:ln>
            </p:spPr>
          </p:sp>
          <p:sp>
            <p:nvSpPr>
              <p:cNvPr id="70" name="TextBox 70"/>
              <p:cNvSpPr txBox="1"/>
              <p:nvPr/>
            </p:nvSpPr>
            <p:spPr>
              <a:xfrm>
                <a:off x="5554492" y="2261235"/>
                <a:ext cx="1159215" cy="234696"/>
              </a:xfrm>
              <a:prstGeom prst="rect">
                <a:avLst/>
              </a:prstGeom>
              <a:noFill/>
              <a:ln>
                <a:noFill/>
              </a:ln>
            </p:spPr>
            <p:txBody>
              <a:bodyPr wrap="none" lIns="0" tIns="0" rIns="0" bIns="0" anchor="t" anchorCtr="0">
                <a:spAutoFit/>
              </a:bodyPr>
              <a:lstStyle/>
              <a:p>
                <a:pPr algn="ctr"/>
                <a:r>
                  <a:rPr lang="zh-CN" sz="1200" b="1" dirty="0">
                    <a:solidFill>
                      <a:srgbClr val="1A3A6B"/>
                    </a:solidFill>
                    <a:latin typeface="Arial" panose="020B0604020202020204"/>
                    <a:ea typeface="微软雅黑" panose="020B0503020204020204" charset="-122"/>
                    <a:cs typeface="Arial" panose="020B0604020202020204"/>
                  </a:rPr>
                  <a:t>CT 特异性筛选</a:t>
                </a:r>
                <a:endParaRPr lang="zh-CN" sz="1200" b="1" dirty="0">
                  <a:solidFill>
                    <a:srgbClr val="1A3A6B"/>
                  </a:solidFill>
                  <a:latin typeface="Arial" panose="020B0604020202020204"/>
                  <a:ea typeface="微软雅黑" panose="020B0503020204020204" charset="-122"/>
                  <a:cs typeface="Arial" panose="020B0604020202020204"/>
                </a:endParaRPr>
              </a:p>
            </p:txBody>
          </p:sp>
          <p:sp>
            <p:nvSpPr>
              <p:cNvPr id="71" name="Ellipse 71"/>
              <p:cNvSpPr/>
              <p:nvPr/>
            </p:nvSpPr>
            <p:spPr>
              <a:xfrm>
                <a:off x="5267325" y="2686050"/>
                <a:ext cx="57150" cy="57150"/>
              </a:xfrm>
              <a:prstGeom prst="ellipse">
                <a:avLst/>
              </a:prstGeom>
              <a:solidFill>
                <a:srgbClr val="1A3A6B"/>
              </a:solidFill>
              <a:ln>
                <a:noFill/>
              </a:ln>
            </p:spPr>
          </p:sp>
          <p:sp>
            <p:nvSpPr>
              <p:cNvPr id="72" name="TextBox 72"/>
              <p:cNvSpPr txBox="1"/>
              <p:nvPr/>
            </p:nvSpPr>
            <p:spPr>
              <a:xfrm>
                <a:off x="5412867" y="2616518"/>
                <a:ext cx="1323643"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Pearson 相关性</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73" name="Ellipse 73"/>
              <p:cNvSpPr/>
              <p:nvPr/>
            </p:nvSpPr>
            <p:spPr>
              <a:xfrm>
                <a:off x="5267325" y="2971800"/>
                <a:ext cx="57150" cy="57150"/>
              </a:xfrm>
              <a:prstGeom prst="ellipse">
                <a:avLst/>
              </a:prstGeom>
              <a:solidFill>
                <a:srgbClr val="1A3A6B"/>
              </a:solidFill>
              <a:ln>
                <a:noFill/>
              </a:ln>
            </p:spPr>
          </p:sp>
          <p:sp>
            <p:nvSpPr>
              <p:cNvPr id="74" name="TextBox 74"/>
              <p:cNvSpPr txBox="1"/>
              <p:nvPr/>
            </p:nvSpPr>
            <p:spPr>
              <a:xfrm>
                <a:off x="5412867" y="2902268"/>
                <a:ext cx="1663922"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按 CT 分别取 Top-K</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5412867" y="3168968"/>
                <a:ext cx="1685696" cy="264033"/>
              </a:xfrm>
              <a:prstGeom prst="rect">
                <a:avLst/>
              </a:prstGeom>
              <a:noFill/>
              <a:ln>
                <a:noFill/>
              </a:ln>
            </p:spPr>
            <p:txBody>
              <a:bodyPr wrap="none" lIns="0" tIns="0" rIns="0" bIns="0" anchor="t" anchorCtr="0">
                <a:spAutoFit/>
              </a:bodyPr>
              <a:lstStyle/>
              <a:p>
                <a:pPr algn="l"/>
                <a:r>
                  <a:rPr lang="en-US" sz="1350" dirty="0">
                    <a:solidFill>
                      <a:srgbClr val="5A6478"/>
                    </a:solidFill>
                    <a:latin typeface="Arial" panose="020B0604020202020204"/>
                    <a:ea typeface="Arial" panose="020B0604020202020204"/>
                    <a:cs typeface="Arial" panose="020B0604020202020204"/>
                  </a:rPr>
                  <a:t>recipe: 14 · op: 22</a:t>
                </a:r>
                <a:endParaRPr lang="en-US" sz="1350" dirty="0">
                  <a:solidFill>
                    <a:srgbClr val="5A6478"/>
                  </a:solidFill>
                  <a:latin typeface="Arial" panose="020B0604020202020204"/>
                  <a:ea typeface="Arial" panose="020B0604020202020204"/>
                  <a:cs typeface="Arial" panose="020B0604020202020204"/>
                </a:endParaRPr>
              </a:p>
            </p:txBody>
          </p:sp>
          <p:sp>
            <p:nvSpPr>
              <p:cNvPr id="76" name="TextBox 76"/>
              <p:cNvSpPr txBox="1"/>
              <p:nvPr/>
            </p:nvSpPr>
            <p:spPr>
              <a:xfrm>
                <a:off x="5412867" y="3397568"/>
                <a:ext cx="1658436"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apc: 3（全局排名）</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77" name="Line 77"/>
              <p:cNvSpPr/>
              <p:nvPr/>
            </p:nvSpPr>
            <p:spPr>
              <a:xfrm>
                <a:off x="5438775" y="3667125"/>
                <a:ext cx="1790700" cy="9525"/>
              </a:xfrm>
              <a:custGeom>
                <a:avLst/>
                <a:gdLst/>
                <a:ahLst/>
                <a:cxnLst/>
                <a:rect l="l" t="t" r="r" b="b"/>
                <a:pathLst>
                  <a:path w="1790700" h="9525">
                    <a:moveTo>
                      <a:pt x="0" y="0"/>
                    </a:moveTo>
                    <a:lnTo>
                      <a:pt x="1790700" y="0"/>
                    </a:lnTo>
                  </a:path>
                </a:pathLst>
              </a:custGeom>
              <a:noFill/>
              <a:ln w="9525">
                <a:solidFill>
                  <a:srgbClr val="EDEFF2"/>
                </a:solidFill>
                <a:custDash>
                  <a:ds d="400000" sp="300000"/>
                </a:custDash>
              </a:ln>
            </p:spPr>
          </p:sp>
          <p:sp>
            <p:nvSpPr>
              <p:cNvPr id="78" name="Rectangle 78"/>
              <p:cNvSpPr/>
              <p:nvPr/>
            </p:nvSpPr>
            <p:spPr>
              <a:xfrm>
                <a:off x="5191125" y="3790950"/>
                <a:ext cx="1790700" cy="457200"/>
              </a:xfrm>
              <a:prstGeom prst="roundRect">
                <a:avLst>
                  <a:gd name="adj" fmla="val 6250"/>
                </a:avLst>
              </a:prstGeom>
              <a:solidFill>
                <a:srgbClr val="F8FAFB"/>
              </a:solidFill>
              <a:ln w="9525">
                <a:solidFill>
                  <a:srgbClr val="E0E4EA"/>
                </a:solidFill>
              </a:ln>
            </p:spPr>
          </p:sp>
          <p:sp>
            <p:nvSpPr>
              <p:cNvPr id="79" name="TextBox 79"/>
              <p:cNvSpPr txBox="1"/>
              <p:nvPr/>
            </p:nvSpPr>
            <p:spPr>
              <a:xfrm>
                <a:off x="5537458" y="3868102"/>
                <a:ext cx="1155184" cy="205359"/>
              </a:xfrm>
              <a:prstGeom prst="rect">
                <a:avLst/>
              </a:prstGeom>
              <a:noFill/>
              <a:ln>
                <a:noFill/>
              </a:ln>
            </p:spPr>
            <p:txBody>
              <a:bodyPr wrap="none" lIns="0" tIns="0" rIns="0" bIns="0" anchor="t" anchorCtr="0">
                <a:spAutoFit/>
              </a:bodyPr>
              <a:lstStyle/>
              <a:p>
                <a:pPr algn="ctr"/>
                <a:r>
                  <a:rPr lang="en-US" sz="1050" b="1" spc="75" dirty="0">
                    <a:solidFill>
                      <a:srgbClr val="8A92A0"/>
                    </a:solidFill>
                    <a:latin typeface="Arial" panose="020B0604020202020204"/>
                    <a:ea typeface="Arial" panose="020B0604020202020204"/>
                    <a:cs typeface="Arial" panose="020B0604020202020204"/>
                  </a:rPr>
                  <a:t>STAGE OUTPUT</a:t>
                </a:r>
                <a:endParaRPr lang="en-US" sz="1050" b="1" spc="75" dirty="0">
                  <a:solidFill>
                    <a:srgbClr val="8A92A0"/>
                  </a:solidFill>
                  <a:latin typeface="Arial" panose="020B0604020202020204"/>
                  <a:ea typeface="Arial" panose="020B0604020202020204"/>
                  <a:cs typeface="Arial" panose="020B0604020202020204"/>
                </a:endParaRPr>
              </a:p>
            </p:txBody>
          </p:sp>
          <p:sp>
            <p:nvSpPr>
              <p:cNvPr id="80" name="TextBox 80"/>
              <p:cNvSpPr txBox="1"/>
              <p:nvPr/>
            </p:nvSpPr>
            <p:spPr>
              <a:xfrm>
                <a:off x="5726544" y="4026218"/>
                <a:ext cx="777011" cy="264033"/>
              </a:xfrm>
              <a:prstGeom prst="rect">
                <a:avLst/>
              </a:prstGeom>
              <a:noFill/>
              <a:ln>
                <a:noFill/>
              </a:ln>
            </p:spPr>
            <p:txBody>
              <a:bodyPr wrap="none" lIns="0" tIns="0" rIns="0" bIns="0" anchor="t" anchorCtr="0">
                <a:spAutoFit/>
              </a:bodyPr>
              <a:lstStyle/>
              <a:p>
                <a:pPr algn="ctr"/>
                <a:r>
                  <a:rPr lang="zh-CN" sz="1350" b="1" dirty="0">
                    <a:solidFill>
                      <a:srgbClr val="1A3A6B"/>
                    </a:solidFill>
                    <a:latin typeface="Arial" panose="020B0604020202020204"/>
                    <a:ea typeface="微软雅黑" panose="020B0503020204020204" charset="-122"/>
                    <a:cs typeface="Arial" panose="020B0604020202020204"/>
                  </a:rPr>
                  <a:t>精选特征</a:t>
                </a:r>
                <a:endParaRPr lang="zh-CN" sz="1350" b="1" dirty="0">
                  <a:solidFill>
                    <a:srgbClr val="1A3A6B"/>
                  </a:solidFill>
                  <a:latin typeface="Arial" panose="020B0604020202020204"/>
                  <a:ea typeface="微软雅黑" panose="020B0503020204020204" charset="-122"/>
                  <a:cs typeface="Arial" panose="020B0604020202020204"/>
                </a:endParaRPr>
              </a:p>
            </p:txBody>
          </p:sp>
        </p:grpSp>
        <p:sp>
          <p:nvSpPr>
            <p:cNvPr id="82" name="Polygon 82"/>
            <p:cNvSpPr/>
            <p:nvPr/>
          </p:nvSpPr>
          <p:spPr>
            <a:xfrm>
              <a:off x="7181850" y="2971800"/>
              <a:ext cx="133350" cy="152400"/>
            </a:xfrm>
            <a:custGeom>
              <a:avLst/>
              <a:gdLst/>
              <a:ahLst/>
              <a:cxnLst/>
              <a:rect l="l" t="t" r="r" b="b"/>
              <a:pathLst>
                <a:path w="133350" h="152400">
                  <a:moveTo>
                    <a:pt x="133350" y="76200"/>
                  </a:moveTo>
                  <a:lnTo>
                    <a:pt x="0" y="0"/>
                  </a:lnTo>
                  <a:lnTo>
                    <a:pt x="0" y="152400"/>
                  </a:lnTo>
                  <a:close/>
                </a:path>
              </a:pathLst>
            </a:custGeom>
            <a:solidFill>
              <a:srgbClr val="C9962B"/>
            </a:solidFill>
            <a:ln>
              <a:noFill/>
            </a:ln>
          </p:spPr>
        </p:sp>
        <p:grpSp>
          <p:nvGrpSpPr>
            <p:cNvPr id="109" name="Group 109"/>
            <p:cNvGrpSpPr/>
            <p:nvPr/>
          </p:nvGrpSpPr>
          <p:grpSpPr>
            <a:xfrm>
              <a:off x="7353300" y="1857375"/>
              <a:ext cx="2228850" cy="2476500"/>
              <a:chOff x="7353300" y="1857375"/>
              <a:chExt cx="2228850" cy="2476500"/>
            </a:xfrm>
          </p:grpSpPr>
          <p:sp>
            <p:nvSpPr>
              <p:cNvPr id="83" name="Rectangle 83"/>
              <p:cNvSpPr/>
              <p:nvPr/>
            </p:nvSpPr>
            <p:spPr>
              <a:xfrm>
                <a:off x="7353300" y="1857375"/>
                <a:ext cx="2000250" cy="2476500"/>
              </a:xfrm>
              <a:prstGeom prst="roundRect">
                <a:avLst>
                  <a:gd name="adj" fmla="val 1905"/>
                </a:avLst>
              </a:prstGeom>
              <a:solidFill>
                <a:srgbClr val="FFFFFF"/>
              </a:solidFill>
              <a:ln w="19050">
                <a:solidFill>
                  <a:srgbClr val="C9962B"/>
                </a:solidFill>
              </a:ln>
            </p:spPr>
          </p:sp>
          <p:sp>
            <p:nvSpPr>
              <p:cNvPr id="84" name="Rectangle 84"/>
              <p:cNvSpPr/>
              <p:nvPr/>
            </p:nvSpPr>
            <p:spPr>
              <a:xfrm>
                <a:off x="7353300" y="1857375"/>
                <a:ext cx="2000250" cy="361950"/>
              </a:xfrm>
              <a:prstGeom prst="roundRect">
                <a:avLst>
                  <a:gd name="adj" fmla="val 10526"/>
                </a:avLst>
              </a:prstGeom>
              <a:solidFill>
                <a:srgbClr val="C9962B"/>
              </a:solidFill>
              <a:ln>
                <a:noFill/>
              </a:ln>
            </p:spPr>
          </p:sp>
          <p:sp>
            <p:nvSpPr>
              <p:cNvPr id="85" name="Rectangle 85"/>
              <p:cNvSpPr/>
              <p:nvPr/>
            </p:nvSpPr>
            <p:spPr>
              <a:xfrm>
                <a:off x="7353300" y="2143125"/>
                <a:ext cx="2000250" cy="76200"/>
              </a:xfrm>
              <a:prstGeom prst="rect">
                <a:avLst/>
              </a:prstGeom>
              <a:solidFill>
                <a:srgbClr val="C9962B"/>
              </a:solidFill>
              <a:ln>
                <a:noFill/>
              </a:ln>
            </p:spPr>
          </p:sp>
          <p:sp>
            <p:nvSpPr>
              <p:cNvPr id="86" name="TextBox 86"/>
              <p:cNvSpPr txBox="1"/>
              <p:nvPr/>
            </p:nvSpPr>
            <p:spPr>
              <a:xfrm>
                <a:off x="7517892" y="1959292"/>
                <a:ext cx="2355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Times New Roman" panose="02020603050405020304"/>
                    <a:ea typeface="Times New Roman" panose="02020603050405020304"/>
                    <a:cs typeface="Times New Roman" panose="02020603050405020304"/>
                  </a:rPr>
                  <a:t>04</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87" name="TextBox 87"/>
              <p:cNvSpPr txBox="1"/>
              <p:nvPr/>
            </p:nvSpPr>
            <p:spPr>
              <a:xfrm>
                <a:off x="7802880" y="19431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建模</a:t>
                </a:r>
                <a:endParaRPr lang="zh-CN" sz="1500" b="1" dirty="0">
                  <a:solidFill>
                    <a:srgbClr val="FFFFFF"/>
                  </a:solidFill>
                  <a:latin typeface="Arial" panose="020B0604020202020204"/>
                  <a:ea typeface="微软雅黑" panose="020B0503020204020204" charset="-122"/>
                  <a:cs typeface="Arial" panose="020B0604020202020204"/>
                </a:endParaRPr>
              </a:p>
            </p:txBody>
          </p:sp>
          <p:grpSp>
            <p:nvGrpSpPr>
              <p:cNvPr id="94" name="Group 94"/>
              <p:cNvGrpSpPr/>
              <p:nvPr/>
            </p:nvGrpSpPr>
            <p:grpSpPr>
              <a:xfrm>
                <a:off x="9072563" y="1947863"/>
                <a:ext cx="200025" cy="200025"/>
                <a:chOff x="9072563" y="1947863"/>
                <a:chExt cx="200025" cy="200025"/>
              </a:xfrm>
            </p:grpSpPr>
            <p:sp>
              <p:nvSpPr>
                <p:cNvPr id="88" name="Freeform 88"/>
                <p:cNvSpPr/>
                <p:nvPr/>
              </p:nvSpPr>
              <p:spPr>
                <a:xfrm>
                  <a:off x="9172575" y="2058988"/>
                  <a:ext cx="77788" cy="88900"/>
                </a:xfrm>
                <a:custGeom>
                  <a:avLst/>
                  <a:gdLst/>
                  <a:ahLst/>
                  <a:cxnLst/>
                  <a:rect l="l" t="t" r="r" b="b"/>
                  <a:pathLst>
                    <a:path w="77788" h="88900">
                      <a:moveTo>
                        <a:pt x="38894" y="0"/>
                      </a:moveTo>
                      <a:cubicBezTo>
                        <a:pt x="17413" y="0"/>
                        <a:pt x="0" y="17413"/>
                        <a:pt x="0" y="38894"/>
                      </a:cubicBezTo>
                      <a:lnTo>
                        <a:pt x="0" y="50006"/>
                      </a:lnTo>
                      <a:cubicBezTo>
                        <a:pt x="0" y="71487"/>
                        <a:pt x="17413" y="88900"/>
                        <a:pt x="38894" y="88900"/>
                      </a:cubicBezTo>
                      <a:cubicBezTo>
                        <a:pt x="60374" y="88900"/>
                        <a:pt x="77788" y="71487"/>
                        <a:pt x="77788" y="50006"/>
                      </a:cubicBezTo>
                      <a:lnTo>
                        <a:pt x="77788" y="30004"/>
                      </a:lnTo>
                    </a:path>
                  </a:pathLst>
                </a:custGeom>
                <a:noFill/>
                <a:ln w="19050">
                  <a:solidFill>
                    <a:srgbClr val="FFFFFF"/>
                  </a:solidFill>
                </a:ln>
              </p:spPr>
            </p:sp>
            <p:sp>
              <p:nvSpPr>
                <p:cNvPr id="89" name="Freeform 89"/>
                <p:cNvSpPr/>
                <p:nvPr/>
              </p:nvSpPr>
              <p:spPr>
                <a:xfrm>
                  <a:off x="9094788" y="2058988"/>
                  <a:ext cx="77788" cy="88900"/>
                </a:xfrm>
                <a:custGeom>
                  <a:avLst/>
                  <a:gdLst/>
                  <a:ahLst/>
                  <a:cxnLst/>
                  <a:rect l="l" t="t" r="r" b="b"/>
                  <a:pathLst>
                    <a:path w="77788" h="88900">
                      <a:moveTo>
                        <a:pt x="38894" y="0"/>
                      </a:moveTo>
                      <a:cubicBezTo>
                        <a:pt x="60374" y="0"/>
                        <a:pt x="77788" y="17413"/>
                        <a:pt x="77788" y="38894"/>
                      </a:cubicBezTo>
                      <a:lnTo>
                        <a:pt x="77788" y="50006"/>
                      </a:lnTo>
                      <a:cubicBezTo>
                        <a:pt x="77788" y="71487"/>
                        <a:pt x="60374" y="88900"/>
                        <a:pt x="38894" y="88900"/>
                      </a:cubicBezTo>
                      <a:cubicBezTo>
                        <a:pt x="17413" y="88900"/>
                        <a:pt x="0" y="71487"/>
                        <a:pt x="0" y="50006"/>
                      </a:cubicBezTo>
                      <a:lnTo>
                        <a:pt x="0" y="30004"/>
                      </a:lnTo>
                    </a:path>
                  </a:pathLst>
                </a:custGeom>
                <a:noFill/>
                <a:ln w="19050">
                  <a:solidFill>
                    <a:srgbClr val="FFFFFF"/>
                  </a:solidFill>
                </a:ln>
              </p:spPr>
            </p:sp>
            <p:sp>
              <p:nvSpPr>
                <p:cNvPr id="90" name="Freeform 90"/>
                <p:cNvSpPr/>
                <p:nvPr/>
              </p:nvSpPr>
              <p:spPr>
                <a:xfrm>
                  <a:off x="9228138" y="2014538"/>
                  <a:ext cx="44450" cy="77788"/>
                </a:xfrm>
                <a:custGeom>
                  <a:avLst/>
                  <a:gdLst/>
                  <a:ahLst/>
                  <a:cxnLst/>
                  <a:rect l="l" t="t" r="r" b="b"/>
                  <a:pathLst>
                    <a:path w="44450" h="77788">
                      <a:moveTo>
                        <a:pt x="5556" y="77788"/>
                      </a:moveTo>
                      <a:cubicBezTo>
                        <a:pt x="27037" y="77788"/>
                        <a:pt x="44450" y="60374"/>
                        <a:pt x="44450" y="38894"/>
                      </a:cubicBezTo>
                      <a:cubicBezTo>
                        <a:pt x="44450" y="17413"/>
                        <a:pt x="27037" y="0"/>
                        <a:pt x="5556" y="0"/>
                      </a:cubicBezTo>
                      <a:lnTo>
                        <a:pt x="0" y="0"/>
                      </a:lnTo>
                    </a:path>
                  </a:pathLst>
                </a:custGeom>
                <a:noFill/>
                <a:ln w="19050">
                  <a:solidFill>
                    <a:srgbClr val="FFFFFF"/>
                  </a:solidFill>
                </a:ln>
              </p:spPr>
            </p:sp>
            <p:sp>
              <p:nvSpPr>
                <p:cNvPr id="91" name="Freeform 91"/>
                <p:cNvSpPr/>
                <p:nvPr/>
              </p:nvSpPr>
              <p:spPr>
                <a:xfrm>
                  <a:off x="9172575" y="1947863"/>
                  <a:ext cx="77788" cy="70009"/>
                </a:xfrm>
                <a:custGeom>
                  <a:avLst/>
                  <a:gdLst/>
                  <a:ahLst/>
                  <a:cxnLst/>
                  <a:rect l="l" t="t" r="r" b="b"/>
                  <a:pathLst>
                    <a:path w="77788" h="70009">
                      <a:moveTo>
                        <a:pt x="77788" y="70009"/>
                      </a:moveTo>
                      <a:lnTo>
                        <a:pt x="77788" y="38894"/>
                      </a:lnTo>
                      <a:cubicBezTo>
                        <a:pt x="77788" y="17413"/>
                        <a:pt x="60374" y="0"/>
                        <a:pt x="38894" y="0"/>
                      </a:cubicBezTo>
                      <a:cubicBezTo>
                        <a:pt x="17413" y="0"/>
                        <a:pt x="0" y="17413"/>
                        <a:pt x="0" y="38894"/>
                      </a:cubicBezTo>
                    </a:path>
                  </a:pathLst>
                </a:custGeom>
                <a:noFill/>
                <a:ln w="19050">
                  <a:solidFill>
                    <a:srgbClr val="FFFFFF"/>
                  </a:solidFill>
                </a:ln>
              </p:spPr>
            </p:sp>
            <p:sp>
              <p:nvSpPr>
                <p:cNvPr id="92" name="Freeform 92"/>
                <p:cNvSpPr/>
                <p:nvPr/>
              </p:nvSpPr>
              <p:spPr>
                <a:xfrm>
                  <a:off x="9072563" y="2014538"/>
                  <a:ext cx="44450" cy="77788"/>
                </a:xfrm>
                <a:custGeom>
                  <a:avLst/>
                  <a:gdLst/>
                  <a:ahLst/>
                  <a:cxnLst/>
                  <a:rect l="l" t="t" r="r" b="b"/>
                  <a:pathLst>
                    <a:path w="44450" h="77788">
                      <a:moveTo>
                        <a:pt x="38894" y="77788"/>
                      </a:moveTo>
                      <a:cubicBezTo>
                        <a:pt x="17413" y="77788"/>
                        <a:pt x="0" y="60374"/>
                        <a:pt x="0" y="38894"/>
                      </a:cubicBezTo>
                      <a:cubicBezTo>
                        <a:pt x="0" y="17413"/>
                        <a:pt x="17413" y="0"/>
                        <a:pt x="38894" y="0"/>
                      </a:cubicBezTo>
                      <a:lnTo>
                        <a:pt x="44450" y="0"/>
                      </a:lnTo>
                    </a:path>
                  </a:pathLst>
                </a:custGeom>
                <a:noFill/>
                <a:ln w="19050">
                  <a:solidFill>
                    <a:srgbClr val="FFFFFF"/>
                  </a:solidFill>
                </a:ln>
              </p:spPr>
            </p:sp>
            <p:sp>
              <p:nvSpPr>
                <p:cNvPr id="93" name="Freeform 93"/>
                <p:cNvSpPr/>
                <p:nvPr/>
              </p:nvSpPr>
              <p:spPr>
                <a:xfrm>
                  <a:off x="9094788" y="1947863"/>
                  <a:ext cx="77788" cy="150019"/>
                </a:xfrm>
                <a:custGeom>
                  <a:avLst/>
                  <a:gdLst/>
                  <a:ahLst/>
                  <a:cxnLst/>
                  <a:rect l="l" t="t" r="r" b="b"/>
                  <a:pathLst>
                    <a:path w="77788" h="150019">
                      <a:moveTo>
                        <a:pt x="0" y="70009"/>
                      </a:moveTo>
                      <a:lnTo>
                        <a:pt x="0" y="38894"/>
                      </a:lnTo>
                      <a:cubicBezTo>
                        <a:pt x="0" y="17413"/>
                        <a:pt x="17413" y="0"/>
                        <a:pt x="38894" y="0"/>
                      </a:cubicBezTo>
                      <a:cubicBezTo>
                        <a:pt x="60374" y="0"/>
                        <a:pt x="77788" y="17413"/>
                        <a:pt x="77788" y="38894"/>
                      </a:cubicBezTo>
                      <a:lnTo>
                        <a:pt x="77788" y="150019"/>
                      </a:lnTo>
                    </a:path>
                  </a:pathLst>
                </a:custGeom>
                <a:noFill/>
                <a:ln w="19050">
                  <a:solidFill>
                    <a:srgbClr val="FFFFFF"/>
                  </a:solidFill>
                </a:ln>
              </p:spPr>
            </p:sp>
          </p:grpSp>
          <p:sp>
            <p:nvSpPr>
              <p:cNvPr id="95" name="Rectangle 95"/>
              <p:cNvSpPr/>
              <p:nvPr/>
            </p:nvSpPr>
            <p:spPr>
              <a:xfrm>
                <a:off x="7353300" y="2219325"/>
                <a:ext cx="2000250" cy="247650"/>
              </a:xfrm>
              <a:prstGeom prst="rect">
                <a:avLst/>
              </a:prstGeom>
              <a:solidFill>
                <a:srgbClr val="FBF6EC"/>
              </a:solidFill>
              <a:ln>
                <a:noFill/>
              </a:ln>
            </p:spPr>
          </p:sp>
          <p:sp>
            <p:nvSpPr>
              <p:cNvPr id="96" name="TextBox 96"/>
              <p:cNvSpPr txBox="1"/>
              <p:nvPr/>
            </p:nvSpPr>
            <p:spPr>
              <a:xfrm>
                <a:off x="7964205" y="2261235"/>
                <a:ext cx="835591" cy="234696"/>
              </a:xfrm>
              <a:prstGeom prst="rect">
                <a:avLst/>
              </a:prstGeom>
              <a:noFill/>
              <a:ln>
                <a:noFill/>
              </a:ln>
            </p:spPr>
            <p:txBody>
              <a:bodyPr wrap="none" lIns="0" tIns="0" rIns="0" bIns="0" anchor="t" anchorCtr="0">
                <a:spAutoFit/>
              </a:bodyPr>
              <a:lstStyle/>
              <a:p>
                <a:pPr algn="ctr"/>
                <a:r>
                  <a:rPr lang="zh-CN" sz="1200" b="1" dirty="0">
                    <a:solidFill>
                      <a:srgbClr val="C9962B"/>
                    </a:solidFill>
                    <a:latin typeface="Arial" panose="020B0604020202020204"/>
                    <a:ea typeface="微软雅黑" panose="020B0503020204020204" charset="-122"/>
                    <a:cs typeface="Arial" panose="020B0604020202020204"/>
                  </a:rPr>
                  <a:t>Ridge 回归</a:t>
                </a:r>
                <a:endParaRPr lang="zh-CN" sz="1200" b="1" dirty="0">
                  <a:solidFill>
                    <a:srgbClr val="C9962B"/>
                  </a:solidFill>
                  <a:latin typeface="Arial" panose="020B0604020202020204"/>
                  <a:ea typeface="微软雅黑" panose="020B0503020204020204" charset="-122"/>
                  <a:cs typeface="Arial" panose="020B0604020202020204"/>
                </a:endParaRPr>
              </a:p>
            </p:txBody>
          </p:sp>
          <p:sp>
            <p:nvSpPr>
              <p:cNvPr id="97" name="Ellipse 97"/>
              <p:cNvSpPr/>
              <p:nvPr/>
            </p:nvSpPr>
            <p:spPr>
              <a:xfrm>
                <a:off x="7553325" y="2686050"/>
                <a:ext cx="57150" cy="57150"/>
              </a:xfrm>
              <a:prstGeom prst="ellipse">
                <a:avLst/>
              </a:prstGeom>
              <a:solidFill>
                <a:srgbClr val="C9962B"/>
              </a:solidFill>
              <a:ln>
                <a:noFill/>
              </a:ln>
            </p:spPr>
          </p:sp>
          <p:sp>
            <p:nvSpPr>
              <p:cNvPr id="98" name="TextBox 98"/>
              <p:cNvSpPr txBox="1"/>
              <p:nvPr/>
            </p:nvSpPr>
            <p:spPr>
              <a:xfrm>
                <a:off x="7698867" y="2616518"/>
                <a:ext cx="1655607"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alpha=0.1, L2 正则</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99" name="Ellipse 99"/>
              <p:cNvSpPr/>
              <p:nvPr/>
            </p:nvSpPr>
            <p:spPr>
              <a:xfrm>
                <a:off x="7553325" y="2971800"/>
                <a:ext cx="57150" cy="57150"/>
              </a:xfrm>
              <a:prstGeom prst="ellipse">
                <a:avLst/>
              </a:prstGeom>
              <a:solidFill>
                <a:srgbClr val="C9962B"/>
              </a:solidFill>
              <a:ln>
                <a:noFill/>
              </a:ln>
            </p:spPr>
          </p:sp>
          <p:sp>
            <p:nvSpPr>
              <p:cNvPr id="100" name="TextBox 100"/>
              <p:cNvSpPr txBox="1"/>
              <p:nvPr/>
            </p:nvSpPr>
            <p:spPr>
              <a:xfrm>
                <a:off x="7708392" y="2902268"/>
                <a:ext cx="1378605" cy="264033"/>
              </a:xfrm>
              <a:prstGeom prst="rect">
                <a:avLst/>
              </a:prstGeom>
              <a:noFill/>
              <a:ln>
                <a:noFill/>
              </a:ln>
            </p:spPr>
            <p:txBody>
              <a:bodyPr wrap="none" lIns="0" tIns="0" rIns="0" bIns="0" anchor="t" anchorCtr="0">
                <a:spAutoFit/>
              </a:bodyPr>
              <a:lstStyle/>
              <a:p>
                <a:pPr algn="l"/>
                <a:r>
                  <a:rPr lang="en-US" sz="1350" dirty="0">
                    <a:solidFill>
                      <a:srgbClr val="1D2430"/>
                    </a:solidFill>
                    <a:latin typeface="Arial" panose="020B0604020202020204"/>
                    <a:ea typeface="Arial" panose="020B0604020202020204"/>
                    <a:cs typeface="Arial" panose="020B0604020202020204"/>
                  </a:rPr>
                  <a:t>StandardScaler</a:t>
                </a:r>
                <a:endParaRPr lang="en-US" sz="1350" dirty="0">
                  <a:solidFill>
                    <a:srgbClr val="1D2430"/>
                  </a:solidFill>
                  <a:latin typeface="Arial" panose="020B0604020202020204"/>
                  <a:ea typeface="Arial" panose="020B0604020202020204"/>
                  <a:cs typeface="Arial" panose="020B0604020202020204"/>
                </a:endParaRPr>
              </a:p>
            </p:txBody>
          </p:sp>
          <p:sp>
            <p:nvSpPr>
              <p:cNvPr id="101" name="Ellipse 101"/>
              <p:cNvSpPr/>
              <p:nvPr/>
            </p:nvSpPr>
            <p:spPr>
              <a:xfrm>
                <a:off x="7553325" y="3257550"/>
                <a:ext cx="57150" cy="57150"/>
              </a:xfrm>
              <a:prstGeom prst="ellipse">
                <a:avLst/>
              </a:prstGeom>
              <a:solidFill>
                <a:srgbClr val="C9962B"/>
              </a:solidFill>
              <a:ln>
                <a:noFill/>
              </a:ln>
            </p:spPr>
          </p:sp>
          <p:sp>
            <p:nvSpPr>
              <p:cNvPr id="102" name="TextBox 102"/>
              <p:cNvSpPr txBox="1"/>
              <p:nvPr/>
            </p:nvSpPr>
            <p:spPr>
              <a:xfrm>
                <a:off x="7708392" y="3188018"/>
                <a:ext cx="1261872"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CT 样本加权=2</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103" name="Ellipse 103"/>
              <p:cNvSpPr/>
              <p:nvPr/>
            </p:nvSpPr>
            <p:spPr>
              <a:xfrm>
                <a:off x="7553325" y="3543300"/>
                <a:ext cx="57150" cy="57150"/>
              </a:xfrm>
              <a:prstGeom prst="ellipse">
                <a:avLst/>
              </a:prstGeom>
              <a:solidFill>
                <a:srgbClr val="C9962B"/>
              </a:solidFill>
              <a:ln>
                <a:noFill/>
              </a:ln>
            </p:spPr>
          </p:sp>
          <p:sp>
            <p:nvSpPr>
              <p:cNvPr id="104" name="TextBox 104"/>
              <p:cNvSpPr txBox="1"/>
              <p:nvPr/>
            </p:nvSpPr>
            <p:spPr>
              <a:xfrm>
                <a:off x="7717917" y="3473768"/>
                <a:ext cx="1520119" cy="264033"/>
              </a:xfrm>
              <a:prstGeom prst="rect">
                <a:avLst/>
              </a:prstGeom>
              <a:noFill/>
              <a:ln>
                <a:noFill/>
              </a:ln>
            </p:spPr>
            <p:txBody>
              <a:bodyPr wrap="none" lIns="0" tIns="0" rIns="0" bIns="0" anchor="t" anchorCtr="0">
                <a:spAutoFit/>
              </a:bodyPr>
              <a:lstStyle/>
              <a:p>
                <a:pPr algn="l"/>
                <a:r>
                  <a:rPr lang="en-US" sz="1350" dirty="0">
                    <a:solidFill>
                      <a:srgbClr val="1D2430"/>
                    </a:solidFill>
                    <a:latin typeface="Arial" panose="020B0604020202020204"/>
                    <a:ea typeface="Arial" panose="020B0604020202020204"/>
                    <a:cs typeface="Arial" panose="020B0604020202020204"/>
                  </a:rPr>
                  <a:t>30 seed Ensemble</a:t>
                </a:r>
                <a:endParaRPr lang="en-US" sz="1350" dirty="0">
                  <a:solidFill>
                    <a:srgbClr val="1D2430"/>
                  </a:solidFill>
                  <a:latin typeface="Arial" panose="020B0604020202020204"/>
                  <a:ea typeface="Arial" panose="020B0604020202020204"/>
                  <a:cs typeface="Arial" panose="020B0604020202020204"/>
                </a:endParaRPr>
              </a:p>
            </p:txBody>
          </p:sp>
          <p:sp>
            <p:nvSpPr>
              <p:cNvPr id="105" name="Line 105"/>
              <p:cNvSpPr/>
              <p:nvPr/>
            </p:nvSpPr>
            <p:spPr>
              <a:xfrm>
                <a:off x="7791450" y="3762375"/>
                <a:ext cx="1790700" cy="9525"/>
              </a:xfrm>
              <a:custGeom>
                <a:avLst/>
                <a:gdLst/>
                <a:ahLst/>
                <a:cxnLst/>
                <a:rect l="l" t="t" r="r" b="b"/>
                <a:pathLst>
                  <a:path w="1790700" h="9525">
                    <a:moveTo>
                      <a:pt x="0" y="0"/>
                    </a:moveTo>
                    <a:lnTo>
                      <a:pt x="1790700" y="0"/>
                    </a:lnTo>
                  </a:path>
                </a:pathLst>
              </a:custGeom>
              <a:noFill/>
              <a:ln w="9525">
                <a:solidFill>
                  <a:srgbClr val="EDEFF2"/>
                </a:solidFill>
                <a:custDash>
                  <a:ds d="400000" sp="300000"/>
                </a:custDash>
              </a:ln>
            </p:spPr>
          </p:sp>
          <p:sp>
            <p:nvSpPr>
              <p:cNvPr id="106" name="Rectangle 106"/>
              <p:cNvSpPr/>
              <p:nvPr/>
            </p:nvSpPr>
            <p:spPr>
              <a:xfrm>
                <a:off x="7458075" y="3790950"/>
                <a:ext cx="1790700" cy="457200"/>
              </a:xfrm>
              <a:prstGeom prst="roundRect">
                <a:avLst>
                  <a:gd name="adj" fmla="val 6250"/>
                </a:avLst>
              </a:prstGeom>
              <a:solidFill>
                <a:srgbClr val="FBF6EC"/>
              </a:solidFill>
              <a:ln w="9525">
                <a:solidFill>
                  <a:srgbClr val="E0D4A8"/>
                </a:solidFill>
              </a:ln>
            </p:spPr>
          </p:sp>
          <p:sp>
            <p:nvSpPr>
              <p:cNvPr id="107" name="TextBox 107"/>
              <p:cNvSpPr txBox="1"/>
              <p:nvPr/>
            </p:nvSpPr>
            <p:spPr>
              <a:xfrm>
                <a:off x="7804408" y="3868102"/>
                <a:ext cx="1155184" cy="205359"/>
              </a:xfrm>
              <a:prstGeom prst="rect">
                <a:avLst/>
              </a:prstGeom>
              <a:noFill/>
              <a:ln>
                <a:noFill/>
              </a:ln>
            </p:spPr>
            <p:txBody>
              <a:bodyPr wrap="none" lIns="0" tIns="0" rIns="0" bIns="0" anchor="t" anchorCtr="0">
                <a:spAutoFit/>
              </a:bodyPr>
              <a:lstStyle/>
              <a:p>
                <a:pPr algn="ctr"/>
                <a:r>
                  <a:rPr lang="en-US" sz="1050" b="1" spc="75" dirty="0">
                    <a:solidFill>
                      <a:srgbClr val="8A92A0"/>
                    </a:solidFill>
                    <a:latin typeface="Arial" panose="020B0604020202020204"/>
                    <a:ea typeface="Arial" panose="020B0604020202020204"/>
                    <a:cs typeface="Arial" panose="020B0604020202020204"/>
                  </a:rPr>
                  <a:t>STAGE OUTPUT</a:t>
                </a:r>
                <a:endParaRPr lang="en-US" sz="1050" b="1" spc="75" dirty="0">
                  <a:solidFill>
                    <a:srgbClr val="8A92A0"/>
                  </a:solidFill>
                  <a:latin typeface="Arial" panose="020B0604020202020204"/>
                  <a:ea typeface="Arial" panose="020B0604020202020204"/>
                  <a:cs typeface="Arial" panose="020B0604020202020204"/>
                </a:endParaRPr>
              </a:p>
            </p:txBody>
          </p:sp>
          <p:sp>
            <p:nvSpPr>
              <p:cNvPr id="108" name="TextBox 108"/>
              <p:cNvSpPr txBox="1"/>
              <p:nvPr/>
            </p:nvSpPr>
            <p:spPr>
              <a:xfrm>
                <a:off x="7993494" y="4026218"/>
                <a:ext cx="777011" cy="264033"/>
              </a:xfrm>
              <a:prstGeom prst="rect">
                <a:avLst/>
              </a:prstGeom>
              <a:noFill/>
              <a:ln>
                <a:noFill/>
              </a:ln>
            </p:spPr>
            <p:txBody>
              <a:bodyPr wrap="none" lIns="0" tIns="0" rIns="0" bIns="0" anchor="t" anchorCtr="0">
                <a:spAutoFit/>
              </a:bodyPr>
              <a:lstStyle/>
              <a:p>
                <a:pPr algn="ctr"/>
                <a:r>
                  <a:rPr lang="zh-CN" sz="1350" b="1" dirty="0">
                    <a:solidFill>
                      <a:srgbClr val="C9962B"/>
                    </a:solidFill>
                    <a:latin typeface="Arial" panose="020B0604020202020204"/>
                    <a:ea typeface="微软雅黑" panose="020B0503020204020204" charset="-122"/>
                    <a:cs typeface="Arial" panose="020B0604020202020204"/>
                  </a:rPr>
                  <a:t>预测模型</a:t>
                </a:r>
                <a:endParaRPr lang="zh-CN" sz="1350" b="1" dirty="0">
                  <a:solidFill>
                    <a:srgbClr val="C9962B"/>
                  </a:solidFill>
                  <a:latin typeface="Arial" panose="020B0604020202020204"/>
                  <a:ea typeface="微软雅黑" panose="020B0503020204020204" charset="-122"/>
                  <a:cs typeface="Arial" panose="020B0604020202020204"/>
                </a:endParaRPr>
              </a:p>
            </p:txBody>
          </p:sp>
        </p:grpSp>
        <p:sp>
          <p:nvSpPr>
            <p:cNvPr id="110" name="Polygon 110"/>
            <p:cNvSpPr/>
            <p:nvPr/>
          </p:nvSpPr>
          <p:spPr>
            <a:xfrm>
              <a:off x="9448800" y="2971800"/>
              <a:ext cx="133350" cy="152400"/>
            </a:xfrm>
            <a:custGeom>
              <a:avLst/>
              <a:gdLst/>
              <a:ahLst/>
              <a:cxnLst/>
              <a:rect l="l" t="t" r="r" b="b"/>
              <a:pathLst>
                <a:path w="133350" h="152400">
                  <a:moveTo>
                    <a:pt x="133350" y="76200"/>
                  </a:moveTo>
                  <a:lnTo>
                    <a:pt x="0" y="0"/>
                  </a:lnTo>
                  <a:lnTo>
                    <a:pt x="0" y="152400"/>
                  </a:lnTo>
                  <a:close/>
                </a:path>
              </a:pathLst>
            </a:custGeom>
            <a:solidFill>
              <a:srgbClr val="C9962B"/>
            </a:solidFill>
            <a:ln>
              <a:noFill/>
            </a:ln>
          </p:spPr>
        </p:sp>
        <p:grpSp>
          <p:nvGrpSpPr>
            <p:cNvPr id="135" name="Group 135"/>
            <p:cNvGrpSpPr/>
            <p:nvPr/>
          </p:nvGrpSpPr>
          <p:grpSpPr>
            <a:xfrm>
              <a:off x="9620250" y="1857375"/>
              <a:ext cx="2705100" cy="2476500"/>
              <a:chOff x="9620250" y="1857375"/>
              <a:chExt cx="2705100" cy="2476500"/>
            </a:xfrm>
          </p:grpSpPr>
          <p:sp>
            <p:nvSpPr>
              <p:cNvPr id="111" name="Rectangle 111"/>
              <p:cNvSpPr/>
              <p:nvPr/>
            </p:nvSpPr>
            <p:spPr>
              <a:xfrm>
                <a:off x="9620250" y="1857375"/>
                <a:ext cx="2000250" cy="2476500"/>
              </a:xfrm>
              <a:prstGeom prst="roundRect">
                <a:avLst>
                  <a:gd name="adj" fmla="val 1905"/>
                </a:avLst>
              </a:prstGeom>
              <a:solidFill>
                <a:srgbClr val="FFFFFF"/>
              </a:solidFill>
              <a:ln w="14288">
                <a:solidFill>
                  <a:srgbClr val="E0E4EA"/>
                </a:solidFill>
              </a:ln>
            </p:spPr>
          </p:sp>
          <p:sp>
            <p:nvSpPr>
              <p:cNvPr id="112" name="Rectangle 112"/>
              <p:cNvSpPr/>
              <p:nvPr/>
            </p:nvSpPr>
            <p:spPr>
              <a:xfrm>
                <a:off x="9620250" y="1857375"/>
                <a:ext cx="2000250" cy="361950"/>
              </a:xfrm>
              <a:prstGeom prst="roundRect">
                <a:avLst>
                  <a:gd name="adj" fmla="val 10526"/>
                </a:avLst>
              </a:prstGeom>
              <a:solidFill>
                <a:srgbClr val="1A3A6B"/>
              </a:solidFill>
              <a:ln>
                <a:noFill/>
              </a:ln>
            </p:spPr>
          </p:sp>
          <p:sp>
            <p:nvSpPr>
              <p:cNvPr id="113" name="Rectangle 113"/>
              <p:cNvSpPr/>
              <p:nvPr/>
            </p:nvSpPr>
            <p:spPr>
              <a:xfrm>
                <a:off x="9620250" y="2143125"/>
                <a:ext cx="2000250" cy="76200"/>
              </a:xfrm>
              <a:prstGeom prst="rect">
                <a:avLst/>
              </a:prstGeom>
              <a:solidFill>
                <a:srgbClr val="1A3A6B"/>
              </a:solidFill>
              <a:ln>
                <a:noFill/>
              </a:ln>
            </p:spPr>
          </p:sp>
          <p:sp>
            <p:nvSpPr>
              <p:cNvPr id="114" name="TextBox 114"/>
              <p:cNvSpPr txBox="1"/>
              <p:nvPr/>
            </p:nvSpPr>
            <p:spPr>
              <a:xfrm>
                <a:off x="9784842" y="1959292"/>
                <a:ext cx="2355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Times New Roman" panose="02020603050405020304"/>
                    <a:ea typeface="Times New Roman" panose="02020603050405020304"/>
                    <a:cs typeface="Times New Roman" panose="02020603050405020304"/>
                  </a:rPr>
                  <a:t>05</a:t>
                </a:r>
                <a:endParaRPr lang="en-US" sz="1350" b="1" dirty="0">
                  <a:solidFill>
                    <a:srgbClr val="FFFFFF"/>
                  </a:solidFill>
                  <a:latin typeface="Times New Roman" panose="02020603050405020304"/>
                  <a:ea typeface="Times New Roman" panose="02020603050405020304"/>
                  <a:cs typeface="Times New Roman" panose="02020603050405020304"/>
                </a:endParaRPr>
              </a:p>
            </p:txBody>
          </p:sp>
          <p:sp>
            <p:nvSpPr>
              <p:cNvPr id="115" name="TextBox 115"/>
              <p:cNvSpPr txBox="1"/>
              <p:nvPr/>
            </p:nvSpPr>
            <p:spPr>
              <a:xfrm>
                <a:off x="10069830" y="19431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校准</a:t>
                </a:r>
                <a:endParaRPr lang="zh-CN" sz="1500" b="1" dirty="0">
                  <a:solidFill>
                    <a:srgbClr val="FFFFFF"/>
                  </a:solidFill>
                  <a:latin typeface="Arial" panose="020B0604020202020204"/>
                  <a:ea typeface="微软雅黑" panose="020B0503020204020204" charset="-122"/>
                  <a:cs typeface="Arial" panose="020B0604020202020204"/>
                </a:endParaRPr>
              </a:p>
            </p:txBody>
          </p:sp>
          <p:grpSp>
            <p:nvGrpSpPr>
              <p:cNvPr id="121" name="Group 121"/>
              <p:cNvGrpSpPr/>
              <p:nvPr/>
            </p:nvGrpSpPr>
            <p:grpSpPr>
              <a:xfrm>
                <a:off x="11320463" y="1947863"/>
                <a:ext cx="200025" cy="198438"/>
                <a:chOff x="11320463" y="1947863"/>
                <a:chExt cx="200025" cy="198438"/>
              </a:xfrm>
            </p:grpSpPr>
            <p:sp>
              <p:nvSpPr>
                <p:cNvPr id="116" name="Freeform 116"/>
                <p:cNvSpPr/>
                <p:nvPr/>
              </p:nvSpPr>
              <p:spPr>
                <a:xfrm>
                  <a:off x="11364913" y="2136776"/>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117" name="Freeform 117"/>
                <p:cNvSpPr/>
                <p:nvPr/>
              </p:nvSpPr>
              <p:spPr>
                <a:xfrm>
                  <a:off x="11353800" y="1970088"/>
                  <a:ext cx="133350" cy="11113"/>
                </a:xfrm>
                <a:custGeom>
                  <a:avLst/>
                  <a:gdLst/>
                  <a:ahLst/>
                  <a:cxnLst/>
                  <a:rect l="l" t="t" r="r" b="b"/>
                  <a:pathLst>
                    <a:path w="133350" h="11113">
                      <a:moveTo>
                        <a:pt x="0" y="11113"/>
                      </a:moveTo>
                      <a:lnTo>
                        <a:pt x="66675" y="0"/>
                      </a:lnTo>
                      <a:lnTo>
                        <a:pt x="133350" y="11113"/>
                      </a:lnTo>
                    </a:path>
                  </a:pathLst>
                </a:custGeom>
                <a:noFill/>
                <a:ln w="19050">
                  <a:solidFill>
                    <a:srgbClr val="FFFFFF"/>
                  </a:solidFill>
                </a:ln>
              </p:spPr>
            </p:sp>
            <p:sp>
              <p:nvSpPr>
                <p:cNvPr id="118" name="Freeform 118"/>
                <p:cNvSpPr/>
                <p:nvPr/>
              </p:nvSpPr>
              <p:spPr>
                <a:xfrm>
                  <a:off x="11420475" y="1947863"/>
                  <a:ext cx="9525" cy="188913"/>
                </a:xfrm>
                <a:custGeom>
                  <a:avLst/>
                  <a:gdLst/>
                  <a:ahLst/>
                  <a:cxnLst/>
                  <a:rect l="l" t="t" r="r" b="b"/>
                  <a:pathLst>
                    <a:path w="9525" h="188913">
                      <a:moveTo>
                        <a:pt x="0" y="0"/>
                      </a:moveTo>
                      <a:lnTo>
                        <a:pt x="0" y="188913"/>
                      </a:lnTo>
                    </a:path>
                  </a:pathLst>
                </a:custGeom>
                <a:noFill/>
                <a:ln w="19050">
                  <a:solidFill>
                    <a:srgbClr val="FFFFFF"/>
                  </a:solidFill>
                </a:ln>
              </p:spPr>
            </p:sp>
            <p:sp>
              <p:nvSpPr>
                <p:cNvPr id="119" name="Freeform 119"/>
                <p:cNvSpPr/>
                <p:nvPr/>
              </p:nvSpPr>
              <p:spPr>
                <a:xfrm>
                  <a:off x="11320463" y="1981200"/>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FFFFFF"/>
                  </a:solidFill>
                </a:ln>
              </p:spPr>
            </p:sp>
            <p:sp>
              <p:nvSpPr>
                <p:cNvPr id="120" name="Freeform 120"/>
                <p:cNvSpPr/>
                <p:nvPr/>
              </p:nvSpPr>
              <p:spPr>
                <a:xfrm>
                  <a:off x="11453813" y="1981200"/>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FFFFFF"/>
                  </a:solidFill>
                </a:ln>
              </p:spPr>
            </p:sp>
          </p:grpSp>
          <p:sp>
            <p:nvSpPr>
              <p:cNvPr id="122" name="Rectangle 122"/>
              <p:cNvSpPr/>
              <p:nvPr/>
            </p:nvSpPr>
            <p:spPr>
              <a:xfrm>
                <a:off x="9620250" y="2219325"/>
                <a:ext cx="2000250" cy="247650"/>
              </a:xfrm>
              <a:prstGeom prst="rect">
                <a:avLst/>
              </a:prstGeom>
              <a:solidFill>
                <a:srgbClr val="F4F6F8"/>
              </a:solidFill>
              <a:ln>
                <a:noFill/>
              </a:ln>
            </p:spPr>
          </p:sp>
          <p:sp>
            <p:nvSpPr>
              <p:cNvPr id="123" name="TextBox 123"/>
              <p:cNvSpPr txBox="1"/>
              <p:nvPr/>
            </p:nvSpPr>
            <p:spPr>
              <a:xfrm>
                <a:off x="10158954" y="2261235"/>
                <a:ext cx="979993" cy="234696"/>
              </a:xfrm>
              <a:prstGeom prst="rect">
                <a:avLst/>
              </a:prstGeom>
              <a:noFill/>
              <a:ln>
                <a:noFill/>
              </a:ln>
            </p:spPr>
            <p:txBody>
              <a:bodyPr wrap="none" lIns="0" tIns="0" rIns="0" bIns="0" anchor="t" anchorCtr="0">
                <a:spAutoFit/>
              </a:bodyPr>
              <a:lstStyle/>
              <a:p>
                <a:pPr algn="ctr"/>
                <a:r>
                  <a:rPr lang="zh-CN" sz="1200" b="1" dirty="0">
                    <a:solidFill>
                      <a:srgbClr val="1A3A6B"/>
                    </a:solidFill>
                    <a:latin typeface="Arial" panose="020B0604020202020204"/>
                    <a:ea typeface="微软雅黑" panose="020B0503020204020204" charset="-122"/>
                    <a:cs typeface="Arial" panose="020B0604020202020204"/>
                  </a:rPr>
                  <a:t>CT 分层校准</a:t>
                </a:r>
                <a:endParaRPr lang="zh-CN" sz="1200" b="1" dirty="0">
                  <a:solidFill>
                    <a:srgbClr val="1A3A6B"/>
                  </a:solidFill>
                  <a:latin typeface="Arial" panose="020B0604020202020204"/>
                  <a:ea typeface="微软雅黑" panose="020B0503020204020204" charset="-122"/>
                  <a:cs typeface="Arial" panose="020B0604020202020204"/>
                </a:endParaRPr>
              </a:p>
            </p:txBody>
          </p:sp>
          <p:sp>
            <p:nvSpPr>
              <p:cNvPr id="124" name="Ellipse 124"/>
              <p:cNvSpPr/>
              <p:nvPr/>
            </p:nvSpPr>
            <p:spPr>
              <a:xfrm>
                <a:off x="9782175" y="2686050"/>
                <a:ext cx="57150" cy="57150"/>
              </a:xfrm>
              <a:prstGeom prst="ellipse">
                <a:avLst/>
              </a:prstGeom>
              <a:solidFill>
                <a:srgbClr val="1A3A6B"/>
              </a:solidFill>
              <a:ln>
                <a:noFill/>
              </a:ln>
            </p:spPr>
          </p:sp>
          <p:sp>
            <p:nvSpPr>
              <p:cNvPr id="125" name="TextBox 125"/>
              <p:cNvSpPr txBox="1"/>
              <p:nvPr/>
            </p:nvSpPr>
            <p:spPr>
              <a:xfrm>
                <a:off x="9956292" y="2616518"/>
                <a:ext cx="1476699"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收缩: recipe 35%</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126" name="Ellipse 126"/>
              <p:cNvSpPr/>
              <p:nvPr/>
            </p:nvSpPr>
            <p:spPr>
              <a:xfrm>
                <a:off x="9782175" y="2971800"/>
                <a:ext cx="57150" cy="57150"/>
              </a:xfrm>
              <a:prstGeom prst="ellipse">
                <a:avLst/>
              </a:prstGeom>
              <a:solidFill>
                <a:srgbClr val="1A3A6B"/>
              </a:solidFill>
              <a:ln>
                <a:noFill/>
              </a:ln>
            </p:spPr>
          </p:sp>
          <p:sp>
            <p:nvSpPr>
              <p:cNvPr id="127" name="TextBox 127"/>
              <p:cNvSpPr txBox="1"/>
              <p:nvPr/>
            </p:nvSpPr>
            <p:spPr>
              <a:xfrm>
                <a:off x="9956292" y="2902268"/>
                <a:ext cx="1204093" cy="264033"/>
              </a:xfrm>
              <a:prstGeom prst="rect">
                <a:avLst/>
              </a:prstGeom>
              <a:noFill/>
              <a:ln>
                <a:noFill/>
              </a:ln>
            </p:spPr>
            <p:txBody>
              <a:bodyPr wrap="none" lIns="0" tIns="0" rIns="0" bIns="0" anchor="t" anchorCtr="0">
                <a:spAutoFit/>
              </a:bodyPr>
              <a:lstStyle/>
              <a:p>
                <a:pPr algn="l"/>
                <a:r>
                  <a:rPr lang="en-US" sz="1350" dirty="0">
                    <a:solidFill>
                      <a:srgbClr val="1D2430"/>
                    </a:solidFill>
                    <a:latin typeface="Arial" panose="020B0604020202020204"/>
                    <a:ea typeface="Arial" panose="020B0604020202020204"/>
                    <a:cs typeface="Arial" panose="020B0604020202020204"/>
                  </a:rPr>
                  <a:t>operator 20%</a:t>
                </a:r>
                <a:endParaRPr lang="en-US" sz="1350" dirty="0">
                  <a:solidFill>
                    <a:srgbClr val="1D2430"/>
                  </a:solidFill>
                  <a:latin typeface="Arial" panose="020B0604020202020204"/>
                  <a:ea typeface="Arial" panose="020B0604020202020204"/>
                  <a:cs typeface="Arial" panose="020B0604020202020204"/>
                </a:endParaRPr>
              </a:p>
            </p:txBody>
          </p:sp>
          <p:sp>
            <p:nvSpPr>
              <p:cNvPr id="128" name="Ellipse 128"/>
              <p:cNvSpPr/>
              <p:nvPr/>
            </p:nvSpPr>
            <p:spPr>
              <a:xfrm>
                <a:off x="9782175" y="3257550"/>
                <a:ext cx="57150" cy="57150"/>
              </a:xfrm>
              <a:prstGeom prst="ellipse">
                <a:avLst/>
              </a:prstGeom>
              <a:solidFill>
                <a:srgbClr val="C9962B"/>
              </a:solidFill>
              <a:ln>
                <a:noFill/>
              </a:ln>
            </p:spPr>
          </p:sp>
          <p:sp>
            <p:nvSpPr>
              <p:cNvPr id="129" name="TextBox 129"/>
              <p:cNvSpPr txBox="1"/>
              <p:nvPr/>
            </p:nvSpPr>
            <p:spPr>
              <a:xfrm>
                <a:off x="9956292" y="3188018"/>
                <a:ext cx="1469755" cy="264033"/>
              </a:xfrm>
              <a:prstGeom prst="rect">
                <a:avLst/>
              </a:prstGeom>
              <a:noFill/>
              <a:ln>
                <a:noFill/>
              </a:ln>
            </p:spPr>
            <p:txBody>
              <a:bodyPr wrap="none" lIns="0" tIns="0" rIns="0" bIns="0" anchor="t" anchorCtr="0">
                <a:spAutoFit/>
              </a:bodyPr>
              <a:lstStyle/>
              <a:p>
                <a:pPr algn="l"/>
                <a:r>
                  <a:rPr lang="zh-CN" sz="1350" dirty="0">
                    <a:solidFill>
                      <a:srgbClr val="1D2430"/>
                    </a:solidFill>
                    <a:latin typeface="Arial" panose="020B0604020202020204"/>
                    <a:ea typeface="微软雅黑" panose="020B0503020204020204" charset="-122"/>
                    <a:cs typeface="Arial" panose="020B0604020202020204"/>
                  </a:rPr>
                  <a:t>apc 70%（R²低）</a:t>
                </a:r>
                <a:endParaRPr lang="zh-CN" sz="1350" dirty="0">
                  <a:solidFill>
                    <a:srgbClr val="1D2430"/>
                  </a:solidFill>
                  <a:latin typeface="Arial" panose="020B0604020202020204"/>
                  <a:ea typeface="微软雅黑" panose="020B0503020204020204" charset="-122"/>
                  <a:cs typeface="Arial" panose="020B0604020202020204"/>
                </a:endParaRPr>
              </a:p>
            </p:txBody>
          </p:sp>
          <p:sp>
            <p:nvSpPr>
              <p:cNvPr id="130" name="TextBox 130"/>
              <p:cNvSpPr txBox="1"/>
              <p:nvPr/>
            </p:nvSpPr>
            <p:spPr>
              <a:xfrm>
                <a:off x="9957054" y="3442335"/>
                <a:ext cx="1403299" cy="234696"/>
              </a:xfrm>
              <a:prstGeom prst="rect">
                <a:avLst/>
              </a:prstGeom>
              <a:noFill/>
              <a:ln>
                <a:noFill/>
              </a:ln>
            </p:spPr>
            <p:txBody>
              <a:bodyPr wrap="none" lIns="0" tIns="0" rIns="0" bIns="0" anchor="t" anchorCtr="0">
                <a:spAutoFit/>
              </a:bodyPr>
              <a:lstStyle/>
              <a:p>
                <a:pPr algn="l"/>
                <a:r>
                  <a:rPr lang="zh-CN" sz="1200" i="1" dirty="0">
                    <a:solidFill>
                      <a:srgbClr val="5A6478"/>
                    </a:solidFill>
                    <a:latin typeface="Times New Roman" panose="02020603050405020304"/>
                    <a:ea typeface="宋体" panose="02010600030101010101" pitchFamily="2" charset="-122"/>
                    <a:cs typeface="Times New Roman" panose="02020603050405020304"/>
                  </a:rPr>
                  <a:t>参考点 + 预测偏移</a:t>
                </a:r>
                <a:endParaRPr lang="zh-CN" sz="1200" i="1" dirty="0">
                  <a:solidFill>
                    <a:srgbClr val="5A6478"/>
                  </a:solidFill>
                  <a:latin typeface="Times New Roman" panose="02020603050405020304"/>
                  <a:ea typeface="宋体" panose="02010600030101010101" pitchFamily="2" charset="-122"/>
                  <a:cs typeface="Times New Roman" panose="02020603050405020304"/>
                </a:endParaRPr>
              </a:p>
            </p:txBody>
          </p:sp>
          <p:sp>
            <p:nvSpPr>
              <p:cNvPr id="131" name="Line 131"/>
              <p:cNvSpPr/>
              <p:nvPr/>
            </p:nvSpPr>
            <p:spPr>
              <a:xfrm>
                <a:off x="10153650" y="3714750"/>
                <a:ext cx="2171700" cy="9525"/>
              </a:xfrm>
              <a:custGeom>
                <a:avLst/>
                <a:gdLst/>
                <a:ahLst/>
                <a:cxnLst/>
                <a:rect l="l" t="t" r="r" b="b"/>
                <a:pathLst>
                  <a:path w="2171700" h="9525">
                    <a:moveTo>
                      <a:pt x="0" y="0"/>
                    </a:moveTo>
                    <a:lnTo>
                      <a:pt x="2171700" y="0"/>
                    </a:lnTo>
                  </a:path>
                </a:pathLst>
              </a:custGeom>
              <a:noFill/>
              <a:ln w="9525">
                <a:solidFill>
                  <a:srgbClr val="EDEFF2"/>
                </a:solidFill>
                <a:custDash>
                  <a:ds d="400000" sp="300000"/>
                </a:custDash>
              </a:ln>
            </p:spPr>
          </p:sp>
          <p:sp>
            <p:nvSpPr>
              <p:cNvPr id="132" name="Rectangle 132"/>
              <p:cNvSpPr/>
              <p:nvPr/>
            </p:nvSpPr>
            <p:spPr>
              <a:xfrm>
                <a:off x="9725025" y="3790950"/>
                <a:ext cx="1790700" cy="457200"/>
              </a:xfrm>
              <a:prstGeom prst="roundRect">
                <a:avLst>
                  <a:gd name="adj" fmla="val 6250"/>
                </a:avLst>
              </a:prstGeom>
              <a:solidFill>
                <a:srgbClr val="F8FAFB"/>
              </a:solidFill>
              <a:ln w="9525">
                <a:solidFill>
                  <a:srgbClr val="E0E4EA"/>
                </a:solidFill>
              </a:ln>
            </p:spPr>
          </p:sp>
          <p:sp>
            <p:nvSpPr>
              <p:cNvPr id="133" name="TextBox 133"/>
              <p:cNvSpPr txBox="1"/>
              <p:nvPr/>
            </p:nvSpPr>
            <p:spPr>
              <a:xfrm>
                <a:off x="10042783" y="3868102"/>
                <a:ext cx="1155184" cy="205359"/>
              </a:xfrm>
              <a:prstGeom prst="rect">
                <a:avLst/>
              </a:prstGeom>
              <a:noFill/>
              <a:ln>
                <a:noFill/>
              </a:ln>
            </p:spPr>
            <p:txBody>
              <a:bodyPr wrap="none" lIns="0" tIns="0" rIns="0" bIns="0" anchor="t" anchorCtr="0">
                <a:spAutoFit/>
              </a:bodyPr>
              <a:lstStyle/>
              <a:p>
                <a:pPr algn="ctr"/>
                <a:r>
                  <a:rPr lang="en-US" sz="1050" b="1" spc="75" dirty="0">
                    <a:solidFill>
                      <a:srgbClr val="8A92A0"/>
                    </a:solidFill>
                    <a:latin typeface="Arial" panose="020B0604020202020204"/>
                    <a:ea typeface="Arial" panose="020B0604020202020204"/>
                    <a:cs typeface="Arial" panose="020B0604020202020204"/>
                  </a:rPr>
                  <a:t>STAGE OUTPUT</a:t>
                </a:r>
                <a:endParaRPr lang="en-US" sz="1050" b="1" spc="75" dirty="0">
                  <a:solidFill>
                    <a:srgbClr val="8A92A0"/>
                  </a:solidFill>
                  <a:latin typeface="Arial" panose="020B0604020202020204"/>
                  <a:ea typeface="Arial" panose="020B0604020202020204"/>
                  <a:cs typeface="Arial" panose="020B0604020202020204"/>
                </a:endParaRPr>
              </a:p>
            </p:txBody>
          </p:sp>
          <p:sp>
            <p:nvSpPr>
              <p:cNvPr id="134" name="TextBox 134"/>
              <p:cNvSpPr txBox="1"/>
              <p:nvPr/>
            </p:nvSpPr>
            <p:spPr>
              <a:xfrm>
                <a:off x="9907469" y="4026218"/>
                <a:ext cx="1425812" cy="264033"/>
              </a:xfrm>
              <a:prstGeom prst="rect">
                <a:avLst/>
              </a:prstGeom>
              <a:noFill/>
              <a:ln>
                <a:noFill/>
              </a:ln>
            </p:spPr>
            <p:txBody>
              <a:bodyPr wrap="none" lIns="0" tIns="0" rIns="0" bIns="0" anchor="t" anchorCtr="0">
                <a:spAutoFit/>
              </a:bodyPr>
              <a:lstStyle/>
              <a:p>
                <a:pPr algn="ctr"/>
                <a:r>
                  <a:rPr lang="en-US" sz="1350" b="1" dirty="0">
                    <a:solidFill>
                      <a:srgbClr val="1A3A6B"/>
                    </a:solidFill>
                    <a:latin typeface="Arial" panose="020B0604020202020204"/>
                    <a:ea typeface="Arial" panose="020B0604020202020204"/>
                    <a:cs typeface="Arial" panose="020B0604020202020204"/>
                  </a:rPr>
                  <a:t>submission.csv</a:t>
                </a:r>
                <a:endParaRPr lang="en-US" sz="1350" b="1" dirty="0">
                  <a:solidFill>
                    <a:srgbClr val="1A3A6B"/>
                  </a:solidFill>
                  <a:latin typeface="Arial" panose="020B0604020202020204"/>
                  <a:ea typeface="Arial" panose="020B0604020202020204"/>
                  <a:cs typeface="Arial" panose="020B0604020202020204"/>
                </a:endParaRPr>
              </a:p>
            </p:txBody>
          </p:sp>
        </p:grpSp>
      </p:grpSp>
      <p:grpSp>
        <p:nvGrpSpPr>
          <p:cNvPr id="151" name="Group 151"/>
          <p:cNvGrpSpPr/>
          <p:nvPr/>
        </p:nvGrpSpPr>
        <p:grpSpPr>
          <a:xfrm>
            <a:off x="564642" y="4619625"/>
            <a:ext cx="11055858" cy="1381125"/>
            <a:chOff x="564642" y="4619625"/>
            <a:chExt cx="11055858" cy="1381125"/>
          </a:xfrm>
        </p:grpSpPr>
        <p:sp>
          <p:nvSpPr>
            <p:cNvPr id="137" name="Line 137"/>
            <p:cNvSpPr/>
            <p:nvPr/>
          </p:nvSpPr>
          <p:spPr>
            <a:xfrm>
              <a:off x="571500" y="4619625"/>
              <a:ext cx="10668000" cy="9525"/>
            </a:xfrm>
            <a:custGeom>
              <a:avLst/>
              <a:gdLst/>
              <a:ahLst/>
              <a:cxnLst/>
              <a:rect l="l" t="t" r="r" b="b"/>
              <a:pathLst>
                <a:path w="10668000" h="9525">
                  <a:moveTo>
                    <a:pt x="0" y="0"/>
                  </a:moveTo>
                  <a:lnTo>
                    <a:pt x="10668000" y="0"/>
                  </a:lnTo>
                </a:path>
              </a:pathLst>
            </a:custGeom>
            <a:noFill/>
            <a:ln w="9525">
              <a:solidFill>
                <a:srgbClr val="EDEFF2"/>
              </a:solidFill>
            </a:ln>
          </p:spPr>
        </p:sp>
        <p:sp>
          <p:nvSpPr>
            <p:cNvPr id="138" name="TextBox 138"/>
            <p:cNvSpPr txBox="1"/>
            <p:nvPr/>
          </p:nvSpPr>
          <p:spPr>
            <a:xfrm>
              <a:off x="564642" y="4759642"/>
              <a:ext cx="3406628" cy="264033"/>
            </a:xfrm>
            <a:prstGeom prst="rect">
              <a:avLst/>
            </a:prstGeom>
            <a:noFill/>
            <a:ln>
              <a:noFill/>
            </a:ln>
          </p:spPr>
          <p:txBody>
            <a:bodyPr wrap="none" lIns="0" tIns="0" rIns="0" bIns="0" anchor="t" anchorCtr="0">
              <a:spAutoFit/>
            </a:bodyPr>
            <a:lstStyle/>
            <a:p>
              <a:pPr algn="l"/>
              <a:r>
                <a:rPr lang="zh-CN" sz="1350" b="1" spc="75" dirty="0">
                  <a:solidFill>
                    <a:srgbClr val="C9962B"/>
                  </a:solidFill>
                  <a:latin typeface="Times New Roman" panose="02020603050405020304"/>
                  <a:ea typeface="微软雅黑" panose="020B0503020204020204" charset="-122"/>
                  <a:cs typeface="Times New Roman" panose="02020603050405020304"/>
                </a:rPr>
                <a:t>KEY PARAMETERS · 关键参数</a:t>
              </a:r>
              <a:endParaRPr lang="zh-CN" sz="1350" b="1" spc="75" dirty="0">
                <a:solidFill>
                  <a:srgbClr val="C9962B"/>
                </a:solidFill>
                <a:latin typeface="Times New Roman" panose="02020603050405020304"/>
                <a:ea typeface="微软雅黑" panose="020B0503020204020204" charset="-122"/>
                <a:cs typeface="Times New Roman" panose="02020603050405020304"/>
              </a:endParaRPr>
            </a:p>
          </p:txBody>
        </p:sp>
        <p:sp>
          <p:nvSpPr>
            <p:cNvPr id="139" name="Rectangle 139"/>
            <p:cNvSpPr/>
            <p:nvPr/>
          </p:nvSpPr>
          <p:spPr>
            <a:xfrm>
              <a:off x="571500" y="5048250"/>
              <a:ext cx="11049000" cy="952500"/>
            </a:xfrm>
            <a:prstGeom prst="roundRect">
              <a:avLst>
                <a:gd name="adj" fmla="val 4000"/>
              </a:avLst>
            </a:prstGeom>
            <a:solidFill>
              <a:srgbClr val="F8FAFB"/>
            </a:solidFill>
            <a:ln w="9525">
              <a:solidFill>
                <a:srgbClr val="E0E4EA"/>
              </a:solidFill>
            </a:ln>
          </p:spPr>
        </p:sp>
        <p:sp>
          <p:nvSpPr>
            <p:cNvPr id="140" name="Line 140"/>
            <p:cNvSpPr/>
            <p:nvPr/>
          </p:nvSpPr>
          <p:spPr>
            <a:xfrm>
              <a:off x="3276600" y="5191125"/>
              <a:ext cx="9525" cy="666750"/>
            </a:xfrm>
            <a:custGeom>
              <a:avLst/>
              <a:gdLst/>
              <a:ahLst/>
              <a:cxnLst/>
              <a:rect l="l" t="t" r="r" b="b"/>
              <a:pathLst>
                <a:path w="9525" h="666750">
                  <a:moveTo>
                    <a:pt x="0" y="0"/>
                  </a:moveTo>
                  <a:lnTo>
                    <a:pt x="0" y="666750"/>
                  </a:lnTo>
                </a:path>
              </a:pathLst>
            </a:custGeom>
            <a:noFill/>
            <a:ln w="9525">
              <a:solidFill>
                <a:srgbClr val="E0E4EA"/>
              </a:solidFill>
            </a:ln>
          </p:spPr>
        </p:sp>
        <p:sp>
          <p:nvSpPr>
            <p:cNvPr id="141" name="TextBox 141"/>
            <p:cNvSpPr txBox="1"/>
            <p:nvPr/>
          </p:nvSpPr>
          <p:spPr>
            <a:xfrm>
              <a:off x="755904" y="5204460"/>
              <a:ext cx="1731447" cy="234696"/>
            </a:xfrm>
            <a:prstGeom prst="rect">
              <a:avLst/>
            </a:prstGeom>
            <a:noFill/>
            <a:ln>
              <a:noFill/>
            </a:ln>
          </p:spPr>
          <p:txBody>
            <a:bodyPr wrap="none" lIns="0" tIns="0" rIns="0" bIns="0" anchor="t" anchorCtr="0">
              <a:spAutoFit/>
            </a:bodyPr>
            <a:lstStyle/>
            <a:p>
              <a:pPr algn="l"/>
              <a:r>
                <a:rPr lang="en-US" sz="1200" b="1" spc="75" dirty="0">
                  <a:solidFill>
                    <a:srgbClr val="5A6478"/>
                  </a:solidFill>
                  <a:latin typeface="Arial" panose="020B0604020202020204"/>
                  <a:ea typeface="Arial" panose="020B0604020202020204"/>
                  <a:cs typeface="Arial" panose="020B0604020202020204"/>
                </a:rPr>
                <a:t>CROSS-VALIDATION</a:t>
              </a:r>
              <a:endParaRPr lang="en-US" sz="1200" b="1" spc="75" dirty="0">
                <a:solidFill>
                  <a:srgbClr val="5A6478"/>
                </a:solidFill>
                <a:latin typeface="Arial" panose="020B0604020202020204"/>
                <a:ea typeface="Arial" panose="020B0604020202020204"/>
                <a:cs typeface="Arial" panose="020B0604020202020204"/>
              </a:endParaRPr>
            </a:p>
          </p:txBody>
        </p:sp>
        <p:sp>
          <p:nvSpPr>
            <p:cNvPr id="142" name="TextBox 142"/>
            <p:cNvSpPr txBox="1"/>
            <p:nvPr/>
          </p:nvSpPr>
          <p:spPr>
            <a:xfrm>
              <a:off x="752856" y="5425440"/>
              <a:ext cx="2909034" cy="352044"/>
            </a:xfrm>
            <a:prstGeom prst="rect">
              <a:avLst/>
            </a:prstGeom>
            <a:noFill/>
            <a:ln>
              <a:noFill/>
            </a:ln>
          </p:spPr>
          <p:txBody>
            <a:bodyPr wrap="none" lIns="0" tIns="0" rIns="0" bIns="0" anchor="t" anchorCtr="0">
              <a:spAutoFit/>
            </a:bodyPr>
            <a:lstStyle/>
            <a:p>
              <a:pPr algn="l"/>
              <a:r>
                <a:rPr lang="en-US" sz="1800" b="1" dirty="0">
                  <a:solidFill>
                    <a:srgbClr val="1A3A6B"/>
                  </a:solidFill>
                  <a:latin typeface="Times New Roman" panose="02020603050405020304"/>
                  <a:ea typeface="Times New Roman" panose="02020603050405020304"/>
                  <a:cs typeface="Times New Roman" panose="02020603050405020304"/>
                </a:rPr>
                <a:t>GroupKFold</a:t>
              </a:r>
              <a:r>
                <a:rPr lang="zh-CN" sz="1200" dirty="0">
                  <a:solidFill>
                    <a:srgbClr val="8A92A0"/>
                  </a:solidFill>
                  <a:latin typeface="Times New Roman" panose="02020603050405020304"/>
                  <a:ea typeface="宋体" panose="02010600030101010101" pitchFamily="2" charset="-122"/>
                  <a:cs typeface="Times New Roman" panose="02020603050405020304"/>
                </a:rPr>
                <a:t> 按 batch_id 分组</a:t>
              </a:r>
              <a:endParaRPr lang="zh-CN" sz="1200" dirty="0">
                <a:solidFill>
                  <a:srgbClr val="8A92A0"/>
                </a:solidFill>
                <a:latin typeface="Times New Roman" panose="02020603050405020304"/>
                <a:ea typeface="宋体" panose="02010600030101010101" pitchFamily="2" charset="-122"/>
                <a:cs typeface="Times New Roman" panose="02020603050405020304"/>
              </a:endParaRPr>
            </a:p>
          </p:txBody>
        </p:sp>
        <p:sp>
          <p:nvSpPr>
            <p:cNvPr id="143" name="TextBox 143"/>
            <p:cNvSpPr txBox="1"/>
            <p:nvPr/>
          </p:nvSpPr>
          <p:spPr>
            <a:xfrm>
              <a:off x="755142" y="5712142"/>
              <a:ext cx="2548947"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5-fold × 10 runs · 防批次泄漏</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144" name="Line 144"/>
            <p:cNvSpPr/>
            <p:nvPr/>
          </p:nvSpPr>
          <p:spPr>
            <a:xfrm>
              <a:off x="5981700" y="5191125"/>
              <a:ext cx="9525" cy="666750"/>
            </a:xfrm>
            <a:custGeom>
              <a:avLst/>
              <a:gdLst/>
              <a:ahLst/>
              <a:cxnLst/>
              <a:rect l="l" t="t" r="r" b="b"/>
              <a:pathLst>
                <a:path w="9525" h="666750">
                  <a:moveTo>
                    <a:pt x="0" y="0"/>
                  </a:moveTo>
                  <a:lnTo>
                    <a:pt x="0" y="666750"/>
                  </a:lnTo>
                </a:path>
              </a:pathLst>
            </a:custGeom>
            <a:noFill/>
            <a:ln w="9525">
              <a:solidFill>
                <a:srgbClr val="E0E4EA"/>
              </a:solidFill>
            </a:ln>
          </p:spPr>
        </p:sp>
        <p:sp>
          <p:nvSpPr>
            <p:cNvPr id="145" name="TextBox 145"/>
            <p:cNvSpPr txBox="1"/>
            <p:nvPr/>
          </p:nvSpPr>
          <p:spPr>
            <a:xfrm>
              <a:off x="3461004" y="5204460"/>
              <a:ext cx="619415" cy="234696"/>
            </a:xfrm>
            <a:prstGeom prst="rect">
              <a:avLst/>
            </a:prstGeom>
            <a:noFill/>
            <a:ln>
              <a:noFill/>
            </a:ln>
          </p:spPr>
          <p:txBody>
            <a:bodyPr wrap="none" lIns="0" tIns="0" rIns="0" bIns="0" anchor="t" anchorCtr="0">
              <a:spAutoFit/>
            </a:bodyPr>
            <a:lstStyle/>
            <a:p>
              <a:pPr algn="l"/>
              <a:r>
                <a:rPr lang="en-US" sz="1200" b="1" spc="75" dirty="0">
                  <a:solidFill>
                    <a:srgbClr val="5A6478"/>
                  </a:solidFill>
                  <a:latin typeface="Arial" panose="020B0604020202020204"/>
                  <a:ea typeface="Arial" panose="020B0604020202020204"/>
                  <a:cs typeface="Arial" panose="020B0604020202020204"/>
                </a:rPr>
                <a:t>MODEL</a:t>
              </a:r>
              <a:endParaRPr lang="en-US" sz="1200" b="1" spc="75" dirty="0">
                <a:solidFill>
                  <a:srgbClr val="5A6478"/>
                </a:solidFill>
                <a:latin typeface="Arial" panose="020B0604020202020204"/>
                <a:ea typeface="Arial" panose="020B0604020202020204"/>
                <a:cs typeface="Arial" panose="020B0604020202020204"/>
              </a:endParaRPr>
            </a:p>
          </p:txBody>
        </p:sp>
        <p:sp>
          <p:nvSpPr>
            <p:cNvPr id="146" name="TextBox 146"/>
            <p:cNvSpPr txBox="1"/>
            <p:nvPr/>
          </p:nvSpPr>
          <p:spPr>
            <a:xfrm>
              <a:off x="3457956" y="5425440"/>
              <a:ext cx="2077745" cy="352044"/>
            </a:xfrm>
            <a:prstGeom prst="rect">
              <a:avLst/>
            </a:prstGeom>
            <a:noFill/>
            <a:ln>
              <a:noFill/>
            </a:ln>
          </p:spPr>
          <p:txBody>
            <a:bodyPr wrap="none" lIns="0" tIns="0" rIns="0" bIns="0" anchor="t" anchorCtr="0">
              <a:spAutoFit/>
            </a:bodyPr>
            <a:lstStyle/>
            <a:p>
              <a:pPr algn="l"/>
              <a:r>
                <a:rPr lang="en-US" sz="1800" b="1" dirty="0">
                  <a:solidFill>
                    <a:srgbClr val="1A3A6B"/>
                  </a:solidFill>
                  <a:latin typeface="Times New Roman" panose="02020603050405020304"/>
                  <a:ea typeface="Times New Roman" panose="02020603050405020304"/>
                  <a:cs typeface="Times New Roman" panose="02020603050405020304"/>
                </a:rPr>
                <a:t>Ridge alpha=0.1</a:t>
              </a:r>
              <a:endParaRPr lang="en-US" sz="1800" b="1" dirty="0">
                <a:solidFill>
                  <a:srgbClr val="1A3A6B"/>
                </a:solidFill>
                <a:latin typeface="Times New Roman" panose="02020603050405020304"/>
                <a:ea typeface="Times New Roman" panose="02020603050405020304"/>
                <a:cs typeface="Times New Roman" panose="02020603050405020304"/>
              </a:endParaRPr>
            </a:p>
          </p:txBody>
        </p:sp>
        <p:sp>
          <p:nvSpPr>
            <p:cNvPr id="147" name="TextBox 147"/>
            <p:cNvSpPr txBox="1"/>
            <p:nvPr/>
          </p:nvSpPr>
          <p:spPr>
            <a:xfrm>
              <a:off x="3460242" y="5712142"/>
              <a:ext cx="2615641" cy="264033"/>
            </a:xfrm>
            <a:prstGeom prst="rect">
              <a:avLst/>
            </a:prstGeom>
            <a:noFill/>
            <a:ln>
              <a:noFill/>
            </a:ln>
          </p:spPr>
          <p:txBody>
            <a:bodyPr wrap="none" lIns="0" tIns="0" rIns="0" bIns="0" anchor="t" anchorCtr="0">
              <a:spAutoFit/>
            </a:bodyPr>
            <a:lstStyle/>
            <a:p>
              <a:pPr algn="l"/>
              <a:r>
                <a:rPr lang="zh-CN" sz="1350" dirty="0">
                  <a:solidFill>
                    <a:srgbClr val="5A6478"/>
                  </a:solidFill>
                  <a:latin typeface="Arial" panose="020B0604020202020204"/>
                  <a:ea typeface="微软雅黑" panose="020B0503020204020204" charset="-122"/>
                  <a:cs typeface="Arial" panose="020B0604020202020204"/>
                </a:rPr>
                <a:t>L2 正则 · 适合小样本防过拟合</a:t>
              </a:r>
              <a:endParaRPr lang="zh-CN" sz="1350" dirty="0">
                <a:solidFill>
                  <a:srgbClr val="5A6478"/>
                </a:solidFill>
                <a:latin typeface="Arial" panose="020B0604020202020204"/>
                <a:ea typeface="微软雅黑" panose="020B0503020204020204" charset="-122"/>
                <a:cs typeface="Arial" panose="020B0604020202020204"/>
              </a:endParaRPr>
            </a:p>
          </p:txBody>
        </p:sp>
        <p:sp>
          <p:nvSpPr>
            <p:cNvPr id="148" name="TextBox 148"/>
            <p:cNvSpPr txBox="1"/>
            <p:nvPr/>
          </p:nvSpPr>
          <p:spPr>
            <a:xfrm>
              <a:off x="6166104" y="5204460"/>
              <a:ext cx="2275942" cy="234696"/>
            </a:xfrm>
            <a:prstGeom prst="rect">
              <a:avLst/>
            </a:prstGeom>
            <a:noFill/>
            <a:ln>
              <a:noFill/>
            </a:ln>
          </p:spPr>
          <p:txBody>
            <a:bodyPr wrap="none" lIns="0" tIns="0" rIns="0" bIns="0" anchor="t" anchorCtr="0">
              <a:spAutoFit/>
            </a:bodyPr>
            <a:lstStyle/>
            <a:p>
              <a:pPr algn="l"/>
              <a:r>
                <a:rPr lang="en-US" sz="1200" b="1" spc="75" dirty="0">
                  <a:solidFill>
                    <a:srgbClr val="5A6478"/>
                  </a:solidFill>
                  <a:latin typeface="Arial" panose="020B0604020202020204"/>
                  <a:ea typeface="Arial" panose="020B0604020202020204"/>
                  <a:cs typeface="Arial" panose="020B0604020202020204"/>
                </a:rPr>
                <a:t>OOF R² (OUT-OF-FOLD)</a:t>
              </a:r>
              <a:endParaRPr lang="en-US" sz="1200" b="1" spc="75" dirty="0">
                <a:solidFill>
                  <a:srgbClr val="5A6478"/>
                </a:solidFill>
                <a:latin typeface="Arial" panose="020B0604020202020204"/>
                <a:ea typeface="Arial" panose="020B0604020202020204"/>
                <a:cs typeface="Arial" panose="020B0604020202020204"/>
              </a:endParaRPr>
            </a:p>
          </p:txBody>
        </p:sp>
        <p:sp>
          <p:nvSpPr>
            <p:cNvPr id="149" name="TextBox 149"/>
            <p:cNvSpPr txBox="1"/>
            <p:nvPr/>
          </p:nvSpPr>
          <p:spPr>
            <a:xfrm>
              <a:off x="6164580" y="5505450"/>
              <a:ext cx="4804104" cy="293370"/>
            </a:xfrm>
            <a:prstGeom prst="rect">
              <a:avLst/>
            </a:prstGeom>
            <a:noFill/>
            <a:ln>
              <a:noFill/>
            </a:ln>
          </p:spPr>
          <p:txBody>
            <a:bodyPr wrap="none" lIns="0" tIns="0" rIns="0" bIns="0" anchor="t" anchorCtr="0">
              <a:spAutoFit/>
            </a:bodyPr>
            <a:lstStyle/>
            <a:p>
              <a:pPr algn="l"/>
              <a:r>
                <a:rPr lang="en-US" sz="1500" dirty="0">
                  <a:solidFill>
                    <a:srgbClr val="1D2430"/>
                  </a:solidFill>
                  <a:latin typeface="Arial" panose="020B0604020202020204"/>
                  <a:ea typeface="Arial" panose="020B0604020202020204"/>
                  <a:cs typeface="Arial" panose="020B0604020202020204"/>
                </a:rPr>
                <a:t>recipe </a:t>
              </a:r>
              <a:r>
                <a:rPr lang="en-US" sz="1500" b="1" dirty="0">
                  <a:solidFill>
                    <a:srgbClr val="1A3A6B"/>
                  </a:solidFill>
                  <a:latin typeface="Arial" panose="020B0604020202020204"/>
                  <a:ea typeface="Arial" panose="020B0604020202020204"/>
                  <a:cs typeface="Arial" panose="020B0604020202020204"/>
                </a:rPr>
                <a:t>0.40</a:t>
              </a:r>
              <a:r>
                <a:rPr lang="en-US" sz="1500" dirty="0">
                  <a:solidFill>
                    <a:srgbClr val="1D2430"/>
                  </a:solidFill>
                  <a:latin typeface="Arial" panose="020B0604020202020204"/>
                  <a:ea typeface="Arial" panose="020B0604020202020204"/>
                  <a:cs typeface="Arial" panose="020B0604020202020204"/>
                </a:rPr>
                <a:t> </a:t>
              </a:r>
              <a:r>
                <a:rPr lang="en-US" sz="1120" dirty="0">
                  <a:solidFill>
                    <a:srgbClr val="8A92A0"/>
                  </a:solidFill>
                  <a:latin typeface="Arial" panose="020B0604020202020204"/>
                  <a:ea typeface="Arial" panose="020B0604020202020204"/>
                  <a:cs typeface="Arial" panose="020B0604020202020204"/>
                </a:rPr>
                <a:t>·</a:t>
              </a:r>
              <a:r>
                <a:rPr lang="en-US" sz="1500" dirty="0">
                  <a:solidFill>
                    <a:srgbClr val="1D2430"/>
                  </a:solidFill>
                  <a:latin typeface="Arial" panose="020B0604020202020204"/>
                  <a:ea typeface="Arial" panose="020B0604020202020204"/>
                  <a:cs typeface="Arial" panose="020B0604020202020204"/>
                </a:rPr>
                <a:t> operator </a:t>
              </a:r>
              <a:r>
                <a:rPr lang="en-US" sz="1500" b="1" dirty="0">
                  <a:solidFill>
                    <a:srgbClr val="4A7BB5"/>
                  </a:solidFill>
                  <a:latin typeface="Arial" panose="020B0604020202020204"/>
                  <a:ea typeface="Arial" panose="020B0604020202020204"/>
                  <a:cs typeface="Arial" panose="020B0604020202020204"/>
                </a:rPr>
                <a:t>0.48</a:t>
              </a:r>
              <a:r>
                <a:rPr lang="en-US" sz="1500" dirty="0">
                  <a:solidFill>
                    <a:srgbClr val="1D2430"/>
                  </a:solidFill>
                  <a:latin typeface="Arial" panose="020B0604020202020204"/>
                  <a:ea typeface="Arial" panose="020B0604020202020204"/>
                  <a:cs typeface="Arial" panose="020B0604020202020204"/>
                </a:rPr>
                <a:t> </a:t>
              </a:r>
              <a:r>
                <a:rPr lang="en-US" sz="1120" dirty="0">
                  <a:solidFill>
                    <a:srgbClr val="8A92A0"/>
                  </a:solidFill>
                  <a:latin typeface="Arial" panose="020B0604020202020204"/>
                  <a:ea typeface="Arial" panose="020B0604020202020204"/>
                  <a:cs typeface="Arial" panose="020B0604020202020204"/>
                </a:rPr>
                <a:t>·</a:t>
              </a:r>
              <a:r>
                <a:rPr lang="en-US" sz="1500" dirty="0">
                  <a:solidFill>
                    <a:srgbClr val="1D2430"/>
                  </a:solidFill>
                  <a:latin typeface="Arial" panose="020B0604020202020204"/>
                  <a:ea typeface="Arial" panose="020B0604020202020204"/>
                  <a:cs typeface="Arial" panose="020B0604020202020204"/>
                </a:rPr>
                <a:t> apc </a:t>
              </a:r>
              <a:r>
                <a:rPr lang="en-US" sz="1500" b="1" dirty="0">
                  <a:solidFill>
                    <a:srgbClr val="C62828"/>
                  </a:solidFill>
                  <a:latin typeface="Arial" panose="020B0604020202020204"/>
                  <a:ea typeface="Arial" panose="020B0604020202020204"/>
                  <a:cs typeface="Arial" panose="020B0604020202020204"/>
                </a:rPr>
                <a:t>0.00</a:t>
              </a:r>
              <a:r>
                <a:rPr lang="en-US" sz="1500" dirty="0">
                  <a:solidFill>
                    <a:srgbClr val="1D2430"/>
                  </a:solidFill>
                  <a:latin typeface="Arial" panose="020B0604020202020204"/>
                  <a:ea typeface="Arial" panose="020B0604020202020204"/>
                  <a:cs typeface="Arial" panose="020B0604020202020204"/>
                </a:rPr>
                <a:t> </a:t>
              </a:r>
              <a:r>
                <a:rPr lang="zh-CN" sz="1200" dirty="0">
                  <a:solidFill>
                    <a:srgbClr val="8A92A0"/>
                  </a:solidFill>
                  <a:latin typeface="Arial" panose="020B0604020202020204"/>
                  <a:ea typeface="微软雅黑" panose="020B0503020204020204" charset="-122"/>
                  <a:cs typeface="Arial" panose="020B0604020202020204"/>
                </a:rPr>
                <a:t>CV 拟合优度</a:t>
              </a:r>
              <a:endParaRPr lang="zh-CN" sz="1200" dirty="0">
                <a:solidFill>
                  <a:srgbClr val="8A92A0"/>
                </a:solidFill>
                <a:latin typeface="Arial" panose="020B0604020202020204"/>
                <a:ea typeface="微软雅黑" panose="020B0503020204020204" charset="-122"/>
                <a:cs typeface="Arial" panose="020B0604020202020204"/>
              </a:endParaRPr>
            </a:p>
          </p:txBody>
        </p:sp>
        <p:sp>
          <p:nvSpPr>
            <p:cNvPr id="150" name="TextBox 150"/>
            <p:cNvSpPr txBox="1"/>
            <p:nvPr/>
          </p:nvSpPr>
          <p:spPr>
            <a:xfrm>
              <a:off x="6166104" y="5756910"/>
              <a:ext cx="3886170" cy="234696"/>
            </a:xfrm>
            <a:prstGeom prst="rect">
              <a:avLst/>
            </a:prstGeom>
            <a:noFill/>
            <a:ln>
              <a:noFill/>
            </a:ln>
          </p:spPr>
          <p:txBody>
            <a:bodyPr wrap="none" lIns="0" tIns="0" rIns="0" bIns="0" anchor="t" anchorCtr="0">
              <a:spAutoFit/>
            </a:bodyPr>
            <a:lstStyle/>
            <a:p>
              <a:pPr algn="l"/>
              <a:r>
                <a:rPr lang="zh-CN" sz="1200" dirty="0">
                  <a:solidFill>
                    <a:srgbClr val="8A92A0"/>
                  </a:solidFill>
                  <a:latin typeface="Arial" panose="020B0604020202020204"/>
                  <a:ea typeface="微软雅黑" panose="020B0503020204020204" charset="-122"/>
                  <a:cs typeface="Arial" panose="020B0604020202020204"/>
                </a:rPr>
                <a:t>apc R²≈0 驱动 70% 收缩比例（R² 越低 → 收缩越多）</a:t>
              </a:r>
              <a:endParaRPr lang="zh-CN" sz="1200" dirty="0">
                <a:solidFill>
                  <a:srgbClr val="8A92A0"/>
                </a:solidFill>
                <a:latin typeface="Arial" panose="020B0604020202020204"/>
                <a:ea typeface="微软雅黑" panose="020B0503020204020204" charset="-122"/>
                <a:cs typeface="Arial" panose="020B0604020202020204"/>
              </a:endParaRPr>
            </a:p>
          </p:txBody>
        </p:sp>
      </p:grpSp>
      <p:grpSp>
        <p:nvGrpSpPr>
          <p:cNvPr id="154" name="Group 154"/>
          <p:cNvGrpSpPr/>
          <p:nvPr/>
        </p:nvGrpSpPr>
        <p:grpSpPr>
          <a:xfrm>
            <a:off x="565404" y="6442710"/>
            <a:ext cx="10680192" cy="234696"/>
            <a:chOff x="565404" y="6442710"/>
            <a:chExt cx="10680192" cy="234696"/>
          </a:xfrm>
        </p:grpSpPr>
        <p:sp>
          <p:nvSpPr>
            <p:cNvPr id="152" name="TextBox 152"/>
            <p:cNvSpPr txBox="1"/>
            <p:nvPr/>
          </p:nvSpPr>
          <p:spPr>
            <a:xfrm>
              <a:off x="565404" y="6442710"/>
              <a:ext cx="4939284"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Arial" panose="020B0604020202020204"/>
                  <a:ea typeface="微软雅黑" panose="020B0503020204020204" charset="-122"/>
                  <a:cs typeface="Arial" panose="020B0604020202020204"/>
                </a:rPr>
                <a:t>校准公式：校准后 = 参考点 + (模型预测 − 参考点) × (1 − 收缩比例)</a:t>
              </a:r>
              <a:endParaRPr lang="zh-CN" sz="1200" dirty="0">
                <a:solidFill>
                  <a:srgbClr val="000000"/>
                </a:solidFill>
                <a:latin typeface="Arial" panose="020B0604020202020204"/>
                <a:ea typeface="微软雅黑" panose="020B0503020204020204" charset="-122"/>
                <a:cs typeface="Arial" panose="020B0604020202020204"/>
              </a:endParaRPr>
            </a:p>
          </p:txBody>
        </p:sp>
        <p:sp>
          <p:nvSpPr>
            <p:cNvPr id="153" name="TextBox 153"/>
            <p:cNvSpPr txBox="1"/>
            <p:nvPr/>
          </p:nvSpPr>
          <p:spPr>
            <a:xfrm>
              <a:off x="10661599" y="6442710"/>
              <a:ext cx="583997" cy="234696"/>
            </a:xfrm>
            <a:prstGeom prst="rect">
              <a:avLst/>
            </a:prstGeom>
            <a:noFill/>
            <a:ln>
              <a:noFill/>
            </a:ln>
          </p:spPr>
          <p:txBody>
            <a:bodyPr wrap="none" lIns="0" tIns="0" rIns="0" bIns="0" anchor="t" anchorCtr="0">
              <a:spAutoFit/>
            </a:bodyPr>
            <a:lstStyle/>
            <a:p>
              <a:pPr algn="r"/>
              <a:r>
                <a:rPr lang="en-US" sz="1200" dirty="0">
                  <a:solidFill>
                    <a:srgbClr val="8A92A0"/>
                  </a:solidFill>
                  <a:latin typeface="Times New Roman" panose="02020603050405020304"/>
                  <a:ea typeface="Times New Roman" panose="02020603050405020304"/>
                  <a:cs typeface="Times New Roman" panose="02020603050405020304"/>
                </a:rPr>
                <a:t>04 / 05</a:t>
              </a:r>
              <a:endParaRPr lang="en-US" sz="1200" dirty="0">
                <a:solidFill>
                  <a:srgbClr val="8A92A0"/>
                </a:solidFill>
                <a:latin typeface="Times New Roman" panose="02020603050405020304"/>
                <a:ea typeface="Times New Roman" panose="02020603050405020304"/>
                <a:cs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9525" y="-209550"/>
            <a:ext cx="12192000" cy="7620000"/>
          </a:xfrm>
          <a:prstGeom prst="rect">
            <a:avLst/>
          </a:prstGeom>
          <a:solidFill>
            <a:srgbClr val="FFFFFF"/>
          </a:solidFill>
          <a:ln>
            <a:noFill/>
          </a:ln>
        </p:spPr>
      </p:sp>
      <p:grpSp>
        <p:nvGrpSpPr>
          <p:cNvPr id="7" name="Group 7"/>
          <p:cNvGrpSpPr/>
          <p:nvPr/>
        </p:nvGrpSpPr>
        <p:grpSpPr>
          <a:xfrm>
            <a:off x="555498" y="476250"/>
            <a:ext cx="11065002" cy="942785"/>
            <a:chOff x="555498" y="476250"/>
            <a:chExt cx="11065002" cy="942785"/>
          </a:xfrm>
        </p:grpSpPr>
        <p:sp>
          <p:nvSpPr>
            <p:cNvPr id="3" name="Rectangle 3"/>
            <p:cNvSpPr/>
            <p:nvPr/>
          </p:nvSpPr>
          <p:spPr>
            <a:xfrm>
              <a:off x="571500" y="476250"/>
              <a:ext cx="38100" cy="304800"/>
            </a:xfrm>
            <a:prstGeom prst="rect">
              <a:avLst/>
            </a:prstGeom>
            <a:solidFill>
              <a:srgbClr val="C9962B"/>
            </a:solidFill>
            <a:ln>
              <a:noFill/>
            </a:ln>
          </p:spPr>
        </p:sp>
        <p:sp>
          <p:nvSpPr>
            <p:cNvPr id="4" name="TextBox 4"/>
            <p:cNvSpPr txBox="1"/>
            <p:nvPr/>
          </p:nvSpPr>
          <p:spPr>
            <a:xfrm>
              <a:off x="736092" y="587692"/>
              <a:ext cx="3569330" cy="264033"/>
            </a:xfrm>
            <a:prstGeom prst="rect">
              <a:avLst/>
            </a:prstGeom>
            <a:noFill/>
            <a:ln>
              <a:noFill/>
            </a:ln>
          </p:spPr>
          <p:txBody>
            <a:bodyPr wrap="none" lIns="0" tIns="0" rIns="0" bIns="0" anchor="t" anchorCtr="0">
              <a:spAutoFit/>
            </a:bodyPr>
            <a:lstStyle/>
            <a:p>
              <a:pPr algn="l"/>
              <a:r>
                <a:rPr lang="en-US" sz="1350" b="1" spc="75" dirty="0">
                  <a:solidFill>
                    <a:srgbClr val="C9962B"/>
                  </a:solidFill>
                  <a:latin typeface="Times New Roman" panose="02020603050405020304"/>
                  <a:ea typeface="Times New Roman" panose="02020603050405020304"/>
                  <a:cs typeface="Times New Roman" panose="02020603050405020304"/>
                </a:rPr>
                <a:t>05 · RESULTS &amp; INNOVATIONS</a:t>
              </a:r>
              <a:endParaRPr lang="en-US" sz="1350" b="1" spc="75" dirty="0">
                <a:solidFill>
                  <a:srgbClr val="C9962B"/>
                </a:solidFill>
                <a:latin typeface="Times New Roman" panose="02020603050405020304"/>
                <a:ea typeface="Times New Roman" panose="02020603050405020304"/>
                <a:cs typeface="Times New Roman" panose="02020603050405020304"/>
              </a:endParaRPr>
            </a:p>
          </p:txBody>
        </p:sp>
        <p:sp>
          <p:nvSpPr>
            <p:cNvPr id="5" name="TextBox 5"/>
            <p:cNvSpPr txBox="1"/>
            <p:nvPr/>
          </p:nvSpPr>
          <p:spPr>
            <a:xfrm>
              <a:off x="555498" y="802958"/>
              <a:ext cx="3795674" cy="616077"/>
            </a:xfrm>
            <a:prstGeom prst="rect">
              <a:avLst/>
            </a:prstGeom>
            <a:noFill/>
            <a:ln>
              <a:noFill/>
            </a:ln>
          </p:spPr>
          <p:txBody>
            <a:bodyPr wrap="none" lIns="0" tIns="0" rIns="0" bIns="0" anchor="t" anchorCtr="0">
              <a:spAutoFit/>
            </a:bodyPr>
            <a:lstStyle/>
            <a:p>
              <a:pPr algn="l"/>
              <a:r>
                <a:rPr lang="zh-CN" sz="3150" b="1" dirty="0">
                  <a:solidFill>
                    <a:srgbClr val="1A3A6B"/>
                  </a:solidFill>
                  <a:latin typeface="Times New Roman" panose="02020603050405020304"/>
                  <a:ea typeface="微软雅黑" panose="020B0503020204020204" charset="-122"/>
                  <a:cs typeface="Times New Roman" panose="02020603050405020304"/>
                </a:rPr>
                <a:t>最终性能与创新点</a:t>
              </a:r>
              <a:endParaRPr lang="zh-CN" sz="3150" b="1" dirty="0">
                <a:solidFill>
                  <a:srgbClr val="1A3A6B"/>
                </a:solidFill>
                <a:latin typeface="Times New Roman" panose="02020603050405020304"/>
                <a:ea typeface="微软雅黑" panose="020B0503020204020204" charset="-122"/>
                <a:cs typeface="Times New Roman" panose="02020603050405020304"/>
              </a:endParaRPr>
            </a:p>
          </p:txBody>
        </p:sp>
        <p:sp>
          <p:nvSpPr>
            <p:cNvPr id="6" name="Line 6"/>
            <p:cNvSpPr/>
            <p:nvPr/>
          </p:nvSpPr>
          <p:spPr>
            <a:xfrm>
              <a:off x="571500" y="1333500"/>
              <a:ext cx="11049000" cy="9525"/>
            </a:xfrm>
            <a:custGeom>
              <a:avLst/>
              <a:gdLst/>
              <a:ahLst/>
              <a:cxnLst/>
              <a:rect l="l" t="t" r="r" b="b"/>
              <a:pathLst>
                <a:path w="11049000" h="9525">
                  <a:moveTo>
                    <a:pt x="0" y="0"/>
                  </a:moveTo>
                  <a:lnTo>
                    <a:pt x="11049000" y="0"/>
                  </a:lnTo>
                </a:path>
              </a:pathLst>
            </a:custGeom>
            <a:noFill/>
            <a:ln w="9525">
              <a:solidFill>
                <a:srgbClr val="E0E4EA"/>
              </a:solidFill>
            </a:ln>
          </p:spPr>
        </p:sp>
      </p:grpSp>
      <p:grpSp>
        <p:nvGrpSpPr>
          <p:cNvPr id="17" name="Group 17"/>
          <p:cNvGrpSpPr/>
          <p:nvPr/>
        </p:nvGrpSpPr>
        <p:grpSpPr>
          <a:xfrm>
            <a:off x="514350" y="1480185"/>
            <a:ext cx="9166845" cy="1261110"/>
            <a:chOff x="514350" y="1480185"/>
            <a:chExt cx="9166845" cy="1261110"/>
          </a:xfrm>
        </p:grpSpPr>
        <p:sp>
          <p:nvSpPr>
            <p:cNvPr id="8" name="TextBox 8"/>
            <p:cNvSpPr txBox="1"/>
            <p:nvPr/>
          </p:nvSpPr>
          <p:spPr>
            <a:xfrm>
              <a:off x="584454" y="1480185"/>
              <a:ext cx="2021616" cy="234696"/>
            </a:xfrm>
            <a:prstGeom prst="rect">
              <a:avLst/>
            </a:prstGeom>
            <a:noFill/>
            <a:ln>
              <a:noFill/>
            </a:ln>
          </p:spPr>
          <p:txBody>
            <a:bodyPr wrap="none" lIns="0" tIns="0" rIns="0" bIns="0" anchor="t" anchorCtr="0">
              <a:spAutoFit/>
            </a:bodyPr>
            <a:lstStyle/>
            <a:p>
              <a:pPr algn="l"/>
              <a:r>
                <a:rPr lang="en-US" sz="1200" b="1" spc="75" dirty="0">
                  <a:solidFill>
                    <a:srgbClr val="5A6478"/>
                  </a:solidFill>
                  <a:latin typeface="Times New Roman" panose="02020603050405020304"/>
                  <a:ea typeface="Times New Roman" panose="02020603050405020304"/>
                  <a:cs typeface="Times New Roman" panose="02020603050405020304"/>
                </a:rPr>
                <a:t>LEADERBOARD MAE</a:t>
              </a:r>
              <a:endParaRPr lang="en-US" sz="1200" b="1" spc="75" dirty="0">
                <a:solidFill>
                  <a:srgbClr val="5A6478"/>
                </a:solidFill>
                <a:latin typeface="Times New Roman" panose="02020603050405020304"/>
                <a:ea typeface="Times New Roman" panose="02020603050405020304"/>
                <a:cs typeface="Times New Roman" panose="02020603050405020304"/>
              </a:endParaRPr>
            </a:p>
          </p:txBody>
        </p:sp>
        <p:sp>
          <p:nvSpPr>
            <p:cNvPr id="9" name="TextBox 9"/>
            <p:cNvSpPr txBox="1"/>
            <p:nvPr/>
          </p:nvSpPr>
          <p:spPr>
            <a:xfrm>
              <a:off x="514350" y="1693545"/>
              <a:ext cx="1717350" cy="1047750"/>
            </a:xfrm>
            <a:prstGeom prst="rect">
              <a:avLst/>
            </a:prstGeom>
            <a:noFill/>
            <a:ln>
              <a:noFill/>
            </a:ln>
          </p:spPr>
          <p:txBody>
            <a:bodyPr wrap="none" lIns="0" tIns="0" rIns="0" bIns="0" anchor="t" anchorCtr="0">
              <a:spAutoFit/>
            </a:bodyPr>
            <a:lstStyle/>
            <a:p>
              <a:pPr algn="l"/>
              <a:r>
                <a:rPr lang="en-US" sz="5400" b="1" dirty="0">
                  <a:solidFill>
                    <a:srgbClr val="1A3A6B"/>
                  </a:solidFill>
                  <a:latin typeface="Arial" panose="020B0604020202020204"/>
                  <a:ea typeface="Arial" panose="020B0604020202020204"/>
                  <a:cs typeface="Arial" panose="020B0604020202020204"/>
                </a:rPr>
                <a:t>3.67</a:t>
              </a:r>
              <a:endParaRPr lang="en-US" sz="5400" b="1" dirty="0">
                <a:solidFill>
                  <a:srgbClr val="1A3A6B"/>
                </a:solidFill>
                <a:latin typeface="Arial" panose="020B0604020202020204"/>
                <a:ea typeface="Arial" panose="020B0604020202020204"/>
                <a:cs typeface="Arial" panose="020B0604020202020204"/>
              </a:endParaRPr>
            </a:p>
          </p:txBody>
        </p:sp>
        <p:sp>
          <p:nvSpPr>
            <p:cNvPr id="10" name="Line 10"/>
            <p:cNvSpPr/>
            <p:nvPr/>
          </p:nvSpPr>
          <p:spPr>
            <a:xfrm>
              <a:off x="3429000" y="1762125"/>
              <a:ext cx="9525" cy="666750"/>
            </a:xfrm>
            <a:custGeom>
              <a:avLst/>
              <a:gdLst/>
              <a:ahLst/>
              <a:cxnLst/>
              <a:rect l="l" t="t" r="r" b="b"/>
              <a:pathLst>
                <a:path w="9525" h="666750">
                  <a:moveTo>
                    <a:pt x="0" y="0"/>
                  </a:moveTo>
                  <a:lnTo>
                    <a:pt x="0" y="666750"/>
                  </a:lnTo>
                </a:path>
              </a:pathLst>
            </a:custGeom>
            <a:noFill/>
            <a:ln w="9525">
              <a:solidFill>
                <a:srgbClr val="E0E4EA"/>
              </a:solidFill>
            </a:ln>
          </p:spPr>
        </p:sp>
        <p:sp>
          <p:nvSpPr>
            <p:cNvPr id="11" name="TextBox 11"/>
            <p:cNvSpPr txBox="1"/>
            <p:nvPr/>
          </p:nvSpPr>
          <p:spPr>
            <a:xfrm>
              <a:off x="3718179" y="1499235"/>
              <a:ext cx="784250" cy="234696"/>
            </a:xfrm>
            <a:prstGeom prst="rect">
              <a:avLst/>
            </a:prstGeom>
            <a:noFill/>
            <a:ln>
              <a:noFill/>
            </a:ln>
          </p:spPr>
          <p:txBody>
            <a:bodyPr wrap="none" lIns="0" tIns="0" rIns="0" bIns="0" anchor="t" anchorCtr="0">
              <a:spAutoFit/>
            </a:bodyPr>
            <a:lstStyle/>
            <a:p>
              <a:pPr algn="l"/>
              <a:r>
                <a:rPr lang="en-US" sz="1200" b="1" spc="75" dirty="0">
                  <a:solidFill>
                    <a:srgbClr val="5A6478"/>
                  </a:solidFill>
                  <a:latin typeface="Times New Roman" panose="02020603050405020304"/>
                  <a:ea typeface="Times New Roman" panose="02020603050405020304"/>
                  <a:cs typeface="Times New Roman" panose="02020603050405020304"/>
                </a:rPr>
                <a:t>CV MAE</a:t>
              </a:r>
              <a:endParaRPr lang="en-US" sz="1200" b="1" spc="75" dirty="0">
                <a:solidFill>
                  <a:srgbClr val="5A6478"/>
                </a:solidFill>
                <a:latin typeface="Times New Roman" panose="02020603050405020304"/>
                <a:ea typeface="Times New Roman" panose="02020603050405020304"/>
                <a:cs typeface="Times New Roman" panose="02020603050405020304"/>
              </a:endParaRPr>
            </a:p>
          </p:txBody>
        </p:sp>
        <p:sp>
          <p:nvSpPr>
            <p:cNvPr id="12" name="TextBox 12"/>
            <p:cNvSpPr txBox="1"/>
            <p:nvPr/>
          </p:nvSpPr>
          <p:spPr>
            <a:xfrm>
              <a:off x="3705225" y="1826895"/>
              <a:ext cx="1250892" cy="762000"/>
            </a:xfrm>
            <a:prstGeom prst="rect">
              <a:avLst/>
            </a:prstGeom>
            <a:noFill/>
            <a:ln>
              <a:noFill/>
            </a:ln>
          </p:spPr>
          <p:txBody>
            <a:bodyPr wrap="none" lIns="0" tIns="0" rIns="0" bIns="0" anchor="t" anchorCtr="0">
              <a:spAutoFit/>
            </a:bodyPr>
            <a:lstStyle/>
            <a:p>
              <a:pPr algn="l"/>
              <a:r>
                <a:rPr lang="en-US" sz="3900" b="1" dirty="0">
                  <a:solidFill>
                    <a:srgbClr val="4A7BB5"/>
                  </a:solidFill>
                  <a:latin typeface="Arial" panose="020B0604020202020204"/>
                  <a:ea typeface="Arial" panose="020B0604020202020204"/>
                  <a:cs typeface="Arial" panose="020B0604020202020204"/>
                </a:rPr>
                <a:t>3.71</a:t>
              </a:r>
              <a:endParaRPr lang="en-US" sz="3900" b="1" dirty="0">
                <a:solidFill>
                  <a:srgbClr val="4A7BB5"/>
                </a:solidFill>
                <a:latin typeface="Arial" panose="020B0604020202020204"/>
                <a:ea typeface="Arial" panose="020B0604020202020204"/>
                <a:cs typeface="Arial" panose="020B0604020202020204"/>
              </a:endParaRPr>
            </a:p>
          </p:txBody>
        </p:sp>
        <p:sp>
          <p:nvSpPr>
            <p:cNvPr id="13" name="Line 13"/>
            <p:cNvSpPr/>
            <p:nvPr/>
          </p:nvSpPr>
          <p:spPr>
            <a:xfrm>
              <a:off x="5524500" y="1762125"/>
              <a:ext cx="9525" cy="666750"/>
            </a:xfrm>
            <a:custGeom>
              <a:avLst/>
              <a:gdLst/>
              <a:ahLst/>
              <a:cxnLst/>
              <a:rect l="l" t="t" r="r" b="b"/>
              <a:pathLst>
                <a:path w="9525" h="666750">
                  <a:moveTo>
                    <a:pt x="0" y="0"/>
                  </a:moveTo>
                  <a:lnTo>
                    <a:pt x="0" y="666750"/>
                  </a:lnTo>
                </a:path>
              </a:pathLst>
            </a:custGeom>
            <a:noFill/>
            <a:ln w="9525">
              <a:solidFill>
                <a:srgbClr val="E0E4EA"/>
              </a:solidFill>
            </a:ln>
          </p:spPr>
        </p:sp>
        <p:sp>
          <p:nvSpPr>
            <p:cNvPr id="14" name="TextBox 14"/>
            <p:cNvSpPr txBox="1"/>
            <p:nvPr/>
          </p:nvSpPr>
          <p:spPr>
            <a:xfrm>
              <a:off x="6585204" y="1575435"/>
              <a:ext cx="2001926" cy="234696"/>
            </a:xfrm>
            <a:prstGeom prst="rect">
              <a:avLst/>
            </a:prstGeom>
            <a:noFill/>
            <a:ln>
              <a:noFill/>
            </a:ln>
          </p:spPr>
          <p:txBody>
            <a:bodyPr wrap="none" lIns="0" tIns="0" rIns="0" bIns="0" anchor="t" anchorCtr="0">
              <a:spAutoFit/>
            </a:bodyPr>
            <a:lstStyle/>
            <a:p>
              <a:pPr algn="l"/>
              <a:r>
                <a:rPr lang="en-US" sz="1200" b="1" spc="75" dirty="0">
                  <a:solidFill>
                    <a:srgbClr val="C9962B"/>
                  </a:solidFill>
                  <a:latin typeface="Times New Roman" panose="02020603050405020304"/>
                  <a:ea typeface="Times New Roman" panose="02020603050405020304"/>
                  <a:cs typeface="Times New Roman" panose="02020603050405020304"/>
                </a:rPr>
                <a:t>CALIBRATION PATH</a:t>
              </a:r>
              <a:endParaRPr lang="en-US" sz="1200" b="1" spc="75" dirty="0">
                <a:solidFill>
                  <a:srgbClr val="C9962B"/>
                </a:solidFill>
                <a:latin typeface="Times New Roman" panose="02020603050405020304"/>
                <a:ea typeface="Times New Roman" panose="02020603050405020304"/>
                <a:cs typeface="Times New Roman" panose="02020603050405020304"/>
              </a:endParaRPr>
            </a:p>
          </p:txBody>
        </p:sp>
        <p:sp>
          <p:nvSpPr>
            <p:cNvPr id="15" name="TextBox 15"/>
            <p:cNvSpPr txBox="1"/>
            <p:nvPr/>
          </p:nvSpPr>
          <p:spPr>
            <a:xfrm>
              <a:off x="6667881" y="1891665"/>
              <a:ext cx="3013314" cy="352044"/>
            </a:xfrm>
            <a:prstGeom prst="rect">
              <a:avLst/>
            </a:prstGeom>
            <a:noFill/>
            <a:ln>
              <a:noFill/>
            </a:ln>
          </p:spPr>
          <p:txBody>
            <a:bodyPr wrap="none" lIns="0" tIns="0" rIns="0" bIns="0" anchor="t" anchorCtr="0">
              <a:spAutoFit/>
            </a:bodyPr>
            <a:lstStyle/>
            <a:p>
              <a:pPr algn="l"/>
              <a:r>
                <a:rPr lang="en-US" sz="1800" dirty="0">
                  <a:solidFill>
                    <a:srgbClr val="8A92A0"/>
                  </a:solidFill>
                  <a:latin typeface="Arial" panose="020B0604020202020204"/>
                  <a:ea typeface="Arial" panose="020B0604020202020204"/>
                  <a:cs typeface="Arial" panose="020B0604020202020204"/>
                </a:rPr>
                <a:t>4.06</a:t>
              </a:r>
              <a:r>
                <a:rPr lang="en-US" sz="1800" dirty="0">
                  <a:solidFill>
                    <a:srgbClr val="5A6478"/>
                  </a:solidFill>
                  <a:latin typeface="Arial" panose="020B0604020202020204"/>
                  <a:ea typeface="Arial" panose="020B0604020202020204"/>
                  <a:cs typeface="Arial" panose="020B0604020202020204"/>
                </a:rPr>
                <a:t> → </a:t>
              </a:r>
              <a:r>
                <a:rPr lang="en-US" sz="1800" dirty="0">
                  <a:solidFill>
                    <a:srgbClr val="4A7BB5"/>
                  </a:solidFill>
                  <a:latin typeface="Arial" panose="020B0604020202020204"/>
                  <a:ea typeface="Arial" panose="020B0604020202020204"/>
                  <a:cs typeface="Arial" panose="020B0604020202020204"/>
                </a:rPr>
                <a:t>3.89</a:t>
              </a:r>
              <a:r>
                <a:rPr lang="en-US" sz="1800" dirty="0">
                  <a:solidFill>
                    <a:srgbClr val="5A6478"/>
                  </a:solidFill>
                  <a:latin typeface="Arial" panose="020B0604020202020204"/>
                  <a:ea typeface="Arial" panose="020B0604020202020204"/>
                  <a:cs typeface="Arial" panose="020B0604020202020204"/>
                </a:rPr>
                <a:t> → </a:t>
              </a:r>
              <a:r>
                <a:rPr lang="en-US" sz="1800" dirty="0">
                  <a:solidFill>
                    <a:srgbClr val="1A3A6B"/>
                  </a:solidFill>
                  <a:latin typeface="Arial" panose="020B0604020202020204"/>
                  <a:ea typeface="Arial" panose="020B0604020202020204"/>
                  <a:cs typeface="Arial" panose="020B0604020202020204"/>
                </a:rPr>
                <a:t>3.81</a:t>
              </a:r>
              <a:r>
                <a:rPr lang="en-US" sz="1800" dirty="0">
                  <a:solidFill>
                    <a:srgbClr val="5A6478"/>
                  </a:solidFill>
                  <a:latin typeface="Arial" panose="020B0604020202020204"/>
                  <a:ea typeface="Arial" panose="020B0604020202020204"/>
                  <a:cs typeface="Arial" panose="020B0604020202020204"/>
                </a:rPr>
                <a:t> → </a:t>
              </a:r>
              <a:r>
                <a:rPr lang="en-US" sz="1800" b="1" dirty="0">
                  <a:solidFill>
                    <a:srgbClr val="C9962B"/>
                  </a:solidFill>
                  <a:latin typeface="Arial" panose="020B0604020202020204"/>
                  <a:ea typeface="Arial" panose="020B0604020202020204"/>
                  <a:cs typeface="Arial" panose="020B0604020202020204"/>
                </a:rPr>
                <a:t>3.67</a:t>
              </a:r>
              <a:endParaRPr lang="en-US" sz="1800" b="1" dirty="0">
                <a:solidFill>
                  <a:srgbClr val="C9962B"/>
                </a:solidFill>
                <a:latin typeface="Arial" panose="020B0604020202020204"/>
                <a:ea typeface="Arial" panose="020B0604020202020204"/>
                <a:cs typeface="Arial" panose="020B0604020202020204"/>
              </a:endParaRPr>
            </a:p>
          </p:txBody>
        </p:sp>
        <p:sp>
          <p:nvSpPr>
            <p:cNvPr id="16" name="TextBox 16"/>
            <p:cNvSpPr txBox="1"/>
            <p:nvPr/>
          </p:nvSpPr>
          <p:spPr>
            <a:xfrm>
              <a:off x="6709410" y="2212181"/>
              <a:ext cx="2366439" cy="220028"/>
            </a:xfrm>
            <a:prstGeom prst="rect">
              <a:avLst/>
            </a:prstGeom>
            <a:noFill/>
            <a:ln>
              <a:noFill/>
            </a:ln>
          </p:spPr>
          <p:txBody>
            <a:bodyPr wrap="none" lIns="0" tIns="0" rIns="0" bIns="0" anchor="t" anchorCtr="0">
              <a:spAutoFit/>
            </a:bodyPr>
            <a:lstStyle/>
            <a:p>
              <a:pPr algn="l"/>
              <a:r>
                <a:rPr lang="en-US" sz="1120" dirty="0">
                  <a:solidFill>
                    <a:srgbClr val="000000"/>
                  </a:solidFill>
                  <a:latin typeface="Arial" panose="020B0604020202020204"/>
                  <a:ea typeface="Arial" panose="020B0604020202020204"/>
                  <a:cs typeface="Arial" panose="020B0604020202020204"/>
                </a:rPr>
                <a:t>baseline +recipe +operator +apc</a:t>
              </a:r>
              <a:endParaRPr lang="en-US" sz="1120" dirty="0">
                <a:solidFill>
                  <a:srgbClr val="000000"/>
                </a:solidFill>
                <a:latin typeface="Arial" panose="020B0604020202020204"/>
                <a:ea typeface="Arial" panose="020B0604020202020204"/>
                <a:cs typeface="Arial" panose="020B0604020202020204"/>
              </a:endParaRPr>
            </a:p>
          </p:txBody>
        </p:sp>
      </p:grpSp>
      <p:sp>
        <p:nvSpPr>
          <p:cNvPr id="18" name="Line 18"/>
          <p:cNvSpPr/>
          <p:nvPr/>
        </p:nvSpPr>
        <p:spPr>
          <a:xfrm>
            <a:off x="571500" y="2524125"/>
            <a:ext cx="11049000" cy="9525"/>
          </a:xfrm>
          <a:custGeom>
            <a:avLst/>
            <a:gdLst/>
            <a:ahLst/>
            <a:cxnLst/>
            <a:rect l="l" t="t" r="r" b="b"/>
            <a:pathLst>
              <a:path w="11049000" h="9525">
                <a:moveTo>
                  <a:pt x="0" y="0"/>
                </a:moveTo>
                <a:lnTo>
                  <a:pt x="11049000" y="0"/>
                </a:lnTo>
              </a:path>
            </a:pathLst>
          </a:custGeom>
          <a:noFill/>
          <a:ln w="9525">
            <a:solidFill>
              <a:srgbClr val="EDEFF2"/>
            </a:solidFill>
          </a:ln>
        </p:spPr>
      </p:sp>
      <p:grpSp>
        <p:nvGrpSpPr>
          <p:cNvPr id="48" name="Group 48"/>
          <p:cNvGrpSpPr/>
          <p:nvPr/>
        </p:nvGrpSpPr>
        <p:grpSpPr>
          <a:xfrm>
            <a:off x="571500" y="2571750"/>
            <a:ext cx="5334000" cy="1898809"/>
            <a:chOff x="571500" y="2571750"/>
            <a:chExt cx="5334000" cy="1898809"/>
          </a:xfrm>
        </p:grpSpPr>
        <p:sp>
          <p:nvSpPr>
            <p:cNvPr id="19" name="Rectangle 19"/>
            <p:cNvSpPr/>
            <p:nvPr/>
          </p:nvSpPr>
          <p:spPr>
            <a:xfrm>
              <a:off x="571500" y="2571750"/>
              <a:ext cx="5334000" cy="1666875"/>
            </a:xfrm>
            <a:prstGeom prst="roundRect">
              <a:avLst>
                <a:gd name="adj" fmla="val 2286"/>
              </a:avLst>
            </a:prstGeom>
            <a:solidFill>
              <a:srgbClr val="FBFCFD"/>
            </a:solidFill>
            <a:ln w="9525">
              <a:solidFill>
                <a:srgbClr val="E8ECF0"/>
              </a:solidFill>
            </a:ln>
          </p:spPr>
        </p:sp>
        <p:sp>
          <p:nvSpPr>
            <p:cNvPr id="20" name="Line 20"/>
            <p:cNvSpPr/>
            <p:nvPr/>
          </p:nvSpPr>
          <p:spPr>
            <a:xfrm>
              <a:off x="1143000" y="4095750"/>
              <a:ext cx="4524375" cy="9525"/>
            </a:xfrm>
            <a:custGeom>
              <a:avLst/>
              <a:gdLst/>
              <a:ahLst/>
              <a:cxnLst/>
              <a:rect l="l" t="t" r="r" b="b"/>
              <a:pathLst>
                <a:path w="4524375" h="9525">
                  <a:moveTo>
                    <a:pt x="0" y="0"/>
                  </a:moveTo>
                  <a:lnTo>
                    <a:pt x="4524375" y="0"/>
                  </a:lnTo>
                </a:path>
              </a:pathLst>
            </a:custGeom>
            <a:noFill/>
            <a:ln w="4762">
              <a:solidFill>
                <a:srgbClr val="E8ECF0"/>
              </a:solidFill>
            </a:ln>
          </p:spPr>
        </p:sp>
        <p:sp>
          <p:nvSpPr>
            <p:cNvPr id="21" name="TextBox 21"/>
            <p:cNvSpPr txBox="1"/>
            <p:nvPr/>
          </p:nvSpPr>
          <p:spPr>
            <a:xfrm>
              <a:off x="737692" y="4038124"/>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3.55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22" name="Line 22"/>
            <p:cNvSpPr/>
            <p:nvPr/>
          </p:nvSpPr>
          <p:spPr>
            <a:xfrm>
              <a:off x="1143000" y="3876675"/>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23" name="TextBox 23"/>
            <p:cNvSpPr txBox="1"/>
            <p:nvPr/>
          </p:nvSpPr>
          <p:spPr>
            <a:xfrm>
              <a:off x="737692" y="3819049"/>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3.65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24" name="Line 24"/>
            <p:cNvSpPr/>
            <p:nvPr/>
          </p:nvSpPr>
          <p:spPr>
            <a:xfrm>
              <a:off x="1143000" y="3657600"/>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25" name="TextBox 25"/>
            <p:cNvSpPr txBox="1"/>
            <p:nvPr/>
          </p:nvSpPr>
          <p:spPr>
            <a:xfrm>
              <a:off x="737692" y="3599974"/>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3.75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26" name="Line 26"/>
            <p:cNvSpPr/>
            <p:nvPr/>
          </p:nvSpPr>
          <p:spPr>
            <a:xfrm>
              <a:off x="1143000" y="3448050"/>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27" name="TextBox 27"/>
            <p:cNvSpPr txBox="1"/>
            <p:nvPr/>
          </p:nvSpPr>
          <p:spPr>
            <a:xfrm>
              <a:off x="737692" y="3390424"/>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3.85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28" name="Line 28"/>
            <p:cNvSpPr/>
            <p:nvPr/>
          </p:nvSpPr>
          <p:spPr>
            <a:xfrm>
              <a:off x="1143000" y="3228975"/>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29" name="TextBox 29"/>
            <p:cNvSpPr txBox="1"/>
            <p:nvPr/>
          </p:nvSpPr>
          <p:spPr>
            <a:xfrm>
              <a:off x="737692" y="3171349"/>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3.95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30" name="Line 30"/>
            <p:cNvSpPr/>
            <p:nvPr/>
          </p:nvSpPr>
          <p:spPr>
            <a:xfrm>
              <a:off x="1143000" y="3019425"/>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31" name="TextBox 31"/>
            <p:cNvSpPr txBox="1"/>
            <p:nvPr/>
          </p:nvSpPr>
          <p:spPr>
            <a:xfrm>
              <a:off x="737692" y="2961799"/>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4.05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32" name="Line 32"/>
            <p:cNvSpPr/>
            <p:nvPr/>
          </p:nvSpPr>
          <p:spPr>
            <a:xfrm>
              <a:off x="1143000" y="2800350"/>
              <a:ext cx="4524375" cy="9525"/>
            </a:xfrm>
            <a:custGeom>
              <a:avLst/>
              <a:gdLst/>
              <a:ahLst/>
              <a:cxnLst/>
              <a:rect l="l" t="t" r="r" b="b"/>
              <a:pathLst>
                <a:path w="4524375" h="9525">
                  <a:moveTo>
                    <a:pt x="0" y="0"/>
                  </a:moveTo>
                  <a:lnTo>
                    <a:pt x="4524375" y="0"/>
                  </a:lnTo>
                </a:path>
              </a:pathLst>
            </a:custGeom>
            <a:noFill/>
            <a:ln w="4762">
              <a:solidFill>
                <a:srgbClr val="E8ECF0"/>
              </a:solidFill>
              <a:custDash>
                <a:ds d="600000" sp="600000"/>
              </a:custDash>
            </a:ln>
          </p:spPr>
        </p:sp>
        <p:sp>
          <p:nvSpPr>
            <p:cNvPr id="33" name="TextBox 33"/>
            <p:cNvSpPr txBox="1"/>
            <p:nvPr/>
          </p:nvSpPr>
          <p:spPr>
            <a:xfrm>
              <a:off x="737692" y="2742724"/>
              <a:ext cx="315011"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4.15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34" name="TextBox 34"/>
            <p:cNvSpPr txBox="1"/>
            <p:nvPr/>
          </p:nvSpPr>
          <p:spPr>
            <a:xfrm>
              <a:off x="1222962" y="4241006"/>
              <a:ext cx="602075"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baseline</a:t>
              </a:r>
              <a:endParaRPr lang="en-US" sz="1120" dirty="0">
                <a:solidFill>
                  <a:srgbClr val="5A6478"/>
                </a:solidFill>
                <a:latin typeface="Arial" panose="020B0604020202020204"/>
                <a:ea typeface="Arial" panose="020B0604020202020204"/>
                <a:cs typeface="Arial" panose="020B0604020202020204"/>
              </a:endParaRPr>
            </a:p>
          </p:txBody>
        </p:sp>
        <p:sp>
          <p:nvSpPr>
            <p:cNvPr id="35" name="TextBox 35"/>
            <p:cNvSpPr txBox="1"/>
            <p:nvPr/>
          </p:nvSpPr>
          <p:spPr>
            <a:xfrm>
              <a:off x="2550604" y="4241006"/>
              <a:ext cx="556641"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+recipe</a:t>
              </a:r>
              <a:endParaRPr lang="en-US" sz="1120" dirty="0">
                <a:solidFill>
                  <a:srgbClr val="5A6478"/>
                </a:solidFill>
                <a:latin typeface="Arial" panose="020B0604020202020204"/>
                <a:ea typeface="Arial" panose="020B0604020202020204"/>
                <a:cs typeface="Arial" panose="020B0604020202020204"/>
              </a:endParaRPr>
            </a:p>
          </p:txBody>
        </p:sp>
        <p:sp>
          <p:nvSpPr>
            <p:cNvPr id="36" name="TextBox 36"/>
            <p:cNvSpPr txBox="1"/>
            <p:nvPr/>
          </p:nvSpPr>
          <p:spPr>
            <a:xfrm>
              <a:off x="3839027" y="4250531"/>
              <a:ext cx="761095"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+operator</a:t>
              </a:r>
              <a:endParaRPr lang="en-US" sz="1120" dirty="0">
                <a:solidFill>
                  <a:srgbClr val="5A6478"/>
                </a:solidFill>
                <a:latin typeface="Arial" panose="020B0604020202020204"/>
                <a:ea typeface="Arial" panose="020B0604020202020204"/>
                <a:cs typeface="Arial" panose="020B0604020202020204"/>
              </a:endParaRPr>
            </a:p>
          </p:txBody>
        </p:sp>
        <p:sp>
          <p:nvSpPr>
            <p:cNvPr id="37" name="TextBox 37"/>
            <p:cNvSpPr txBox="1"/>
            <p:nvPr/>
          </p:nvSpPr>
          <p:spPr>
            <a:xfrm>
              <a:off x="5323618" y="4231481"/>
              <a:ext cx="344615"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+apc</a:t>
              </a:r>
              <a:endParaRPr lang="en-US" sz="1120" dirty="0">
                <a:solidFill>
                  <a:srgbClr val="5A6478"/>
                </a:solidFill>
                <a:latin typeface="Arial" panose="020B0604020202020204"/>
                <a:ea typeface="Arial" panose="020B0604020202020204"/>
                <a:cs typeface="Arial" panose="020B0604020202020204"/>
              </a:endParaRPr>
            </a:p>
          </p:txBody>
        </p:sp>
        <p:sp>
          <p:nvSpPr>
            <p:cNvPr id="38" name="Polyline 38"/>
            <p:cNvSpPr/>
            <p:nvPr/>
          </p:nvSpPr>
          <p:spPr>
            <a:xfrm>
              <a:off x="1524000" y="3000375"/>
              <a:ext cx="4000500" cy="838200"/>
            </a:xfrm>
            <a:custGeom>
              <a:avLst/>
              <a:gdLst/>
              <a:ahLst/>
              <a:cxnLst/>
              <a:rect l="l" t="t" r="r" b="b"/>
              <a:pathLst>
                <a:path w="4000500" h="838200">
                  <a:moveTo>
                    <a:pt x="0" y="0"/>
                  </a:moveTo>
                  <a:lnTo>
                    <a:pt x="1333500" y="361950"/>
                  </a:lnTo>
                  <a:lnTo>
                    <a:pt x="2667000" y="533400"/>
                  </a:lnTo>
                  <a:lnTo>
                    <a:pt x="4000500" y="838200"/>
                  </a:lnTo>
                </a:path>
              </a:pathLst>
            </a:custGeom>
            <a:noFill/>
            <a:ln w="23812" cap="rnd">
              <a:solidFill>
                <a:srgbClr val="1A3A6B"/>
              </a:solidFill>
              <a:round/>
            </a:ln>
          </p:spPr>
        </p:sp>
        <p:sp>
          <p:nvSpPr>
            <p:cNvPr id="39" name="Ellipse 39"/>
            <p:cNvSpPr/>
            <p:nvPr/>
          </p:nvSpPr>
          <p:spPr>
            <a:xfrm>
              <a:off x="1485900" y="2962275"/>
              <a:ext cx="76200" cy="76200"/>
            </a:xfrm>
            <a:prstGeom prst="ellipse">
              <a:avLst/>
            </a:prstGeom>
            <a:solidFill>
              <a:srgbClr val="FFFFFF"/>
            </a:solidFill>
            <a:ln w="19050">
              <a:solidFill>
                <a:srgbClr val="1A3A6B"/>
              </a:solidFill>
            </a:ln>
          </p:spPr>
        </p:sp>
        <p:sp>
          <p:nvSpPr>
            <p:cNvPr id="40" name="TextBox 40"/>
            <p:cNvSpPr txBox="1"/>
            <p:nvPr/>
          </p:nvSpPr>
          <p:spPr>
            <a:xfrm>
              <a:off x="1342263" y="2745581"/>
              <a:ext cx="363474" cy="220028"/>
            </a:xfrm>
            <a:prstGeom prst="rect">
              <a:avLst/>
            </a:prstGeom>
            <a:noFill/>
            <a:ln>
              <a:noFill/>
            </a:ln>
          </p:spPr>
          <p:txBody>
            <a:bodyPr wrap="none" lIns="0" tIns="0" rIns="0" bIns="0" anchor="t" anchorCtr="0">
              <a:spAutoFit/>
            </a:bodyPr>
            <a:lstStyle/>
            <a:p>
              <a:pPr algn="ctr"/>
              <a:r>
                <a:rPr lang="en-US" sz="1120" dirty="0">
                  <a:solidFill>
                    <a:srgbClr val="1A3A6B"/>
                  </a:solidFill>
                  <a:latin typeface="Times New Roman" panose="02020603050405020304"/>
                  <a:ea typeface="Times New Roman" panose="02020603050405020304"/>
                  <a:cs typeface="Times New Roman" panose="02020603050405020304"/>
                </a:rPr>
                <a:t>4.06</a:t>
              </a:r>
              <a:endParaRPr lang="en-US" sz="1120" dirty="0">
                <a:solidFill>
                  <a:srgbClr val="1A3A6B"/>
                </a:solidFill>
                <a:latin typeface="Times New Roman" panose="02020603050405020304"/>
                <a:ea typeface="Times New Roman" panose="02020603050405020304"/>
                <a:cs typeface="Times New Roman" panose="02020603050405020304"/>
              </a:endParaRPr>
            </a:p>
          </p:txBody>
        </p:sp>
        <p:sp>
          <p:nvSpPr>
            <p:cNvPr id="41" name="Ellipse 41"/>
            <p:cNvSpPr/>
            <p:nvPr/>
          </p:nvSpPr>
          <p:spPr>
            <a:xfrm>
              <a:off x="2819400" y="3324225"/>
              <a:ext cx="76200" cy="76200"/>
            </a:xfrm>
            <a:prstGeom prst="ellipse">
              <a:avLst/>
            </a:prstGeom>
            <a:solidFill>
              <a:srgbClr val="FFFFFF"/>
            </a:solidFill>
            <a:ln w="19050">
              <a:solidFill>
                <a:srgbClr val="1A3A6B"/>
              </a:solidFill>
            </a:ln>
          </p:spPr>
        </p:sp>
        <p:sp>
          <p:nvSpPr>
            <p:cNvPr id="42" name="TextBox 42"/>
            <p:cNvSpPr txBox="1"/>
            <p:nvPr/>
          </p:nvSpPr>
          <p:spPr>
            <a:xfrm>
              <a:off x="2675763" y="3107531"/>
              <a:ext cx="363474" cy="220028"/>
            </a:xfrm>
            <a:prstGeom prst="rect">
              <a:avLst/>
            </a:prstGeom>
            <a:noFill/>
            <a:ln>
              <a:noFill/>
            </a:ln>
          </p:spPr>
          <p:txBody>
            <a:bodyPr wrap="none" lIns="0" tIns="0" rIns="0" bIns="0" anchor="t" anchorCtr="0">
              <a:spAutoFit/>
            </a:bodyPr>
            <a:lstStyle/>
            <a:p>
              <a:pPr algn="ctr"/>
              <a:r>
                <a:rPr lang="en-US" sz="1120" dirty="0">
                  <a:solidFill>
                    <a:srgbClr val="1A3A6B"/>
                  </a:solidFill>
                  <a:latin typeface="Times New Roman" panose="02020603050405020304"/>
                  <a:ea typeface="Times New Roman" panose="02020603050405020304"/>
                  <a:cs typeface="Times New Roman" panose="02020603050405020304"/>
                </a:rPr>
                <a:t>3.89</a:t>
              </a:r>
              <a:endParaRPr lang="en-US" sz="1120" dirty="0">
                <a:solidFill>
                  <a:srgbClr val="1A3A6B"/>
                </a:solidFill>
                <a:latin typeface="Times New Roman" panose="02020603050405020304"/>
                <a:ea typeface="Times New Roman" panose="02020603050405020304"/>
                <a:cs typeface="Times New Roman" panose="02020603050405020304"/>
              </a:endParaRPr>
            </a:p>
          </p:txBody>
        </p:sp>
        <p:sp>
          <p:nvSpPr>
            <p:cNvPr id="43" name="Ellipse 43"/>
            <p:cNvSpPr/>
            <p:nvPr/>
          </p:nvSpPr>
          <p:spPr>
            <a:xfrm>
              <a:off x="4152900" y="3495675"/>
              <a:ext cx="76200" cy="76200"/>
            </a:xfrm>
            <a:prstGeom prst="ellipse">
              <a:avLst/>
            </a:prstGeom>
            <a:solidFill>
              <a:srgbClr val="FFFFFF"/>
            </a:solidFill>
            <a:ln w="19050">
              <a:solidFill>
                <a:srgbClr val="1A3A6B"/>
              </a:solidFill>
            </a:ln>
          </p:spPr>
        </p:sp>
        <p:sp>
          <p:nvSpPr>
            <p:cNvPr id="44" name="TextBox 44"/>
            <p:cNvSpPr txBox="1"/>
            <p:nvPr/>
          </p:nvSpPr>
          <p:spPr>
            <a:xfrm>
              <a:off x="4009263" y="3278981"/>
              <a:ext cx="363474" cy="220028"/>
            </a:xfrm>
            <a:prstGeom prst="rect">
              <a:avLst/>
            </a:prstGeom>
            <a:noFill/>
            <a:ln>
              <a:noFill/>
            </a:ln>
          </p:spPr>
          <p:txBody>
            <a:bodyPr wrap="none" lIns="0" tIns="0" rIns="0" bIns="0" anchor="t" anchorCtr="0">
              <a:spAutoFit/>
            </a:bodyPr>
            <a:lstStyle/>
            <a:p>
              <a:pPr algn="ctr"/>
              <a:r>
                <a:rPr lang="en-US" sz="1120" dirty="0">
                  <a:solidFill>
                    <a:srgbClr val="1A3A6B"/>
                  </a:solidFill>
                  <a:latin typeface="Times New Roman" panose="02020603050405020304"/>
                  <a:ea typeface="Times New Roman" panose="02020603050405020304"/>
                  <a:cs typeface="Times New Roman" panose="02020603050405020304"/>
                </a:rPr>
                <a:t>3.81</a:t>
              </a:r>
              <a:endParaRPr lang="en-US" sz="1120" dirty="0">
                <a:solidFill>
                  <a:srgbClr val="1A3A6B"/>
                </a:solidFill>
                <a:latin typeface="Times New Roman" panose="02020603050405020304"/>
                <a:ea typeface="Times New Roman" panose="02020603050405020304"/>
                <a:cs typeface="Times New Roman" panose="02020603050405020304"/>
              </a:endParaRPr>
            </a:p>
          </p:txBody>
        </p:sp>
        <p:sp>
          <p:nvSpPr>
            <p:cNvPr id="45" name="Ellipse 45"/>
            <p:cNvSpPr/>
            <p:nvPr/>
          </p:nvSpPr>
          <p:spPr>
            <a:xfrm>
              <a:off x="5476875" y="3790950"/>
              <a:ext cx="95250" cy="95250"/>
            </a:xfrm>
            <a:prstGeom prst="ellipse">
              <a:avLst/>
            </a:prstGeom>
            <a:solidFill>
              <a:srgbClr val="FFFFFF"/>
            </a:solidFill>
            <a:ln w="19050">
              <a:solidFill>
                <a:srgbClr val="C9962B"/>
              </a:solidFill>
            </a:ln>
          </p:spPr>
        </p:sp>
        <p:sp>
          <p:nvSpPr>
            <p:cNvPr id="46" name="TextBox 46"/>
            <p:cNvSpPr txBox="1"/>
            <p:nvPr/>
          </p:nvSpPr>
          <p:spPr>
            <a:xfrm>
              <a:off x="5333962" y="3583781"/>
              <a:ext cx="381076" cy="220028"/>
            </a:xfrm>
            <a:prstGeom prst="rect">
              <a:avLst/>
            </a:prstGeom>
            <a:noFill/>
            <a:ln>
              <a:noFill/>
            </a:ln>
          </p:spPr>
          <p:txBody>
            <a:bodyPr wrap="none" lIns="0" tIns="0" rIns="0" bIns="0" anchor="t" anchorCtr="0">
              <a:spAutoFit/>
            </a:bodyPr>
            <a:lstStyle/>
            <a:p>
              <a:pPr algn="ctr"/>
              <a:r>
                <a:rPr lang="en-US" sz="1120" b="1" dirty="0">
                  <a:solidFill>
                    <a:srgbClr val="C9962B"/>
                  </a:solidFill>
                  <a:latin typeface="Times New Roman" panose="02020603050405020304"/>
                  <a:ea typeface="Times New Roman" panose="02020603050405020304"/>
                  <a:cs typeface="Times New Roman" panose="02020603050405020304"/>
                </a:rPr>
                <a:t>3.67</a:t>
              </a:r>
              <a:endParaRPr lang="en-US" sz="1120" b="1" dirty="0">
                <a:solidFill>
                  <a:srgbClr val="C9962B"/>
                </a:solidFill>
                <a:latin typeface="Times New Roman" panose="02020603050405020304"/>
                <a:ea typeface="Times New Roman" panose="02020603050405020304"/>
                <a:cs typeface="Times New Roman" panose="02020603050405020304"/>
              </a:endParaRPr>
            </a:p>
          </p:txBody>
        </p:sp>
        <p:sp>
          <p:nvSpPr>
            <p:cNvPr id="47" name="Polygon 47"/>
            <p:cNvSpPr/>
            <p:nvPr/>
          </p:nvSpPr>
          <p:spPr>
            <a:xfrm>
              <a:off x="1524000" y="3000375"/>
              <a:ext cx="4000500" cy="1095375"/>
            </a:xfrm>
            <a:custGeom>
              <a:avLst/>
              <a:gdLst/>
              <a:ahLst/>
              <a:cxnLst/>
              <a:rect l="l" t="t" r="r" b="b"/>
              <a:pathLst>
                <a:path w="4000500" h="1095375">
                  <a:moveTo>
                    <a:pt x="0" y="0"/>
                  </a:moveTo>
                  <a:lnTo>
                    <a:pt x="0" y="0"/>
                  </a:lnTo>
                  <a:lnTo>
                    <a:pt x="1333500" y="361950"/>
                  </a:lnTo>
                  <a:lnTo>
                    <a:pt x="2667000" y="533400"/>
                  </a:lnTo>
                  <a:lnTo>
                    <a:pt x="4000500" y="838200"/>
                  </a:lnTo>
                  <a:lnTo>
                    <a:pt x="4000500" y="1095375"/>
                  </a:lnTo>
                  <a:lnTo>
                    <a:pt x="0" y="1095375"/>
                  </a:lnTo>
                  <a:close/>
                </a:path>
              </a:pathLst>
            </a:custGeom>
            <a:solidFill>
              <a:srgbClr val="1A3A6B">
                <a:alpha val="6000"/>
              </a:srgbClr>
            </a:solidFill>
            <a:ln>
              <a:noFill/>
            </a:ln>
          </p:spPr>
        </p:sp>
      </p:grpSp>
      <p:sp>
        <p:nvSpPr>
          <p:cNvPr id="49" name="TextBox 49"/>
          <p:cNvSpPr txBox="1"/>
          <p:nvPr/>
        </p:nvSpPr>
        <p:spPr>
          <a:xfrm>
            <a:off x="2621070" y="4464368"/>
            <a:ext cx="1158659" cy="264033"/>
          </a:xfrm>
          <a:prstGeom prst="rect">
            <a:avLst/>
          </a:prstGeom>
          <a:noFill/>
          <a:ln>
            <a:noFill/>
          </a:ln>
        </p:spPr>
        <p:txBody>
          <a:bodyPr wrap="none" lIns="0" tIns="0" rIns="0" bIns="0" anchor="t" anchorCtr="0">
            <a:spAutoFit/>
          </a:bodyPr>
          <a:lstStyle/>
          <a:p>
            <a:pPr algn="ctr"/>
            <a:r>
              <a:rPr lang="zh-CN" sz="1350" b="1" dirty="0">
                <a:solidFill>
                  <a:srgbClr val="1A3A6B"/>
                </a:solidFill>
                <a:latin typeface="Arial" panose="020B0604020202020204"/>
                <a:ea typeface="微软雅黑" panose="020B0503020204020204" charset="-122"/>
                <a:cs typeface="Arial" panose="020B0604020202020204"/>
              </a:rPr>
              <a:t>校准改善路径</a:t>
            </a:r>
            <a:endParaRPr lang="zh-CN" sz="1350" b="1" dirty="0">
              <a:solidFill>
                <a:srgbClr val="1A3A6B"/>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2627871" y="2629852"/>
            <a:ext cx="1126007" cy="205359"/>
          </a:xfrm>
          <a:prstGeom prst="rect">
            <a:avLst/>
          </a:prstGeom>
          <a:noFill/>
          <a:ln>
            <a:noFill/>
          </a:ln>
        </p:spPr>
        <p:txBody>
          <a:bodyPr wrap="none" lIns="0" tIns="0" rIns="0" bIns="0" anchor="t" anchorCtr="0">
            <a:spAutoFit/>
          </a:bodyPr>
          <a:lstStyle/>
          <a:p>
            <a:pPr algn="ctr"/>
            <a:r>
              <a:rPr lang="zh-CN" sz="1050" dirty="0">
                <a:solidFill>
                  <a:srgbClr val="000000"/>
                </a:solidFill>
                <a:latin typeface="Times New Roman" panose="02020603050405020304"/>
                <a:ea typeface="宋体" panose="02010600030101010101" pitchFamily="2" charset="-122"/>
                <a:cs typeface="Times New Roman" panose="02020603050405020304"/>
              </a:rPr>
              <a:t>MAE 逐步下降</a:t>
            </a:r>
            <a:endParaRPr lang="zh-CN" sz="1050" dirty="0">
              <a:solidFill>
                <a:srgbClr val="000000"/>
              </a:solidFill>
              <a:latin typeface="Times New Roman" panose="02020603050405020304"/>
              <a:ea typeface="宋体" panose="02010600030101010101" pitchFamily="2" charset="-122"/>
              <a:cs typeface="Times New Roman" panose="02020603050405020304"/>
            </a:endParaRPr>
          </a:p>
        </p:txBody>
      </p:sp>
      <p:grpSp>
        <p:nvGrpSpPr>
          <p:cNvPr id="96" name="Group 96"/>
          <p:cNvGrpSpPr/>
          <p:nvPr/>
        </p:nvGrpSpPr>
        <p:grpSpPr>
          <a:xfrm>
            <a:off x="6096000" y="2571750"/>
            <a:ext cx="5524500" cy="2128075"/>
            <a:chOff x="6096000" y="2571750"/>
            <a:chExt cx="5524500" cy="2128075"/>
          </a:xfrm>
        </p:grpSpPr>
        <p:sp>
          <p:nvSpPr>
            <p:cNvPr id="51" name="Rectangle 51"/>
            <p:cNvSpPr/>
            <p:nvPr/>
          </p:nvSpPr>
          <p:spPr>
            <a:xfrm>
              <a:off x="6096000" y="2571750"/>
              <a:ext cx="5524500" cy="1666875"/>
            </a:xfrm>
            <a:prstGeom prst="roundRect">
              <a:avLst>
                <a:gd name="adj" fmla="val 2286"/>
              </a:avLst>
            </a:prstGeom>
            <a:solidFill>
              <a:srgbClr val="FBFCFD"/>
            </a:solidFill>
            <a:ln w="9525">
              <a:solidFill>
                <a:srgbClr val="E8ECF0"/>
              </a:solidFill>
            </a:ln>
          </p:spPr>
        </p:sp>
        <p:sp>
          <p:nvSpPr>
            <p:cNvPr id="52" name="TextBox 52"/>
            <p:cNvSpPr txBox="1"/>
            <p:nvPr/>
          </p:nvSpPr>
          <p:spPr>
            <a:xfrm>
              <a:off x="8213217" y="4435792"/>
              <a:ext cx="1505742" cy="264033"/>
            </a:xfrm>
            <a:prstGeom prst="rect">
              <a:avLst/>
            </a:prstGeom>
            <a:noFill/>
            <a:ln>
              <a:noFill/>
            </a:ln>
          </p:spPr>
          <p:txBody>
            <a:bodyPr wrap="none" lIns="0" tIns="0" rIns="0" bIns="0" anchor="t" anchorCtr="0">
              <a:spAutoFit/>
            </a:bodyPr>
            <a:lstStyle/>
            <a:p>
              <a:pPr algn="l"/>
              <a:r>
                <a:rPr lang="zh-CN" sz="1350" b="1" dirty="0">
                  <a:solidFill>
                    <a:srgbClr val="1A3A6B"/>
                  </a:solidFill>
                  <a:latin typeface="Arial" panose="020B0604020202020204"/>
                  <a:ea typeface="微软雅黑" panose="020B0503020204020204" charset="-122"/>
                  <a:cs typeface="Arial" panose="020B0604020202020204"/>
                </a:rPr>
                <a:t>CT 预测均值对比</a:t>
              </a:r>
              <a:endParaRPr lang="zh-CN" sz="1350" b="1" dirty="0">
                <a:solidFill>
                  <a:srgbClr val="1A3A6B"/>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7986141" y="2658428"/>
              <a:ext cx="1713281" cy="205359"/>
            </a:xfrm>
            <a:prstGeom prst="rect">
              <a:avLst/>
            </a:prstGeom>
            <a:noFill/>
            <a:ln>
              <a:noFill/>
            </a:ln>
          </p:spPr>
          <p:txBody>
            <a:bodyPr wrap="none" lIns="0" tIns="0" rIns="0" bIns="0" anchor="t" anchorCtr="0">
              <a:spAutoFit/>
            </a:bodyPr>
            <a:lstStyle/>
            <a:p>
              <a:pPr algn="l"/>
              <a:r>
                <a:rPr lang="zh-CN" sz="1050" dirty="0">
                  <a:solidFill>
                    <a:srgbClr val="000000"/>
                  </a:solidFill>
                  <a:latin typeface="Times New Roman" panose="02020603050405020304"/>
                  <a:ea typeface="宋体" panose="02010600030101010101" pitchFamily="2" charset="-122"/>
                  <a:cs typeface="Times New Roman" panose="02020603050405020304"/>
                </a:rPr>
                <a:t>模型→校准→真实 三线收敛</a:t>
              </a:r>
              <a:endParaRPr lang="zh-CN" sz="1050" dirty="0">
                <a:solidFill>
                  <a:srgbClr val="000000"/>
                </a:solidFill>
                <a:latin typeface="Times New Roman" panose="02020603050405020304"/>
                <a:ea typeface="宋体" panose="02010600030101010101" pitchFamily="2" charset="-122"/>
                <a:cs typeface="Times New Roman" panose="02020603050405020304"/>
              </a:endParaRPr>
            </a:p>
          </p:txBody>
        </p:sp>
        <p:sp>
          <p:nvSpPr>
            <p:cNvPr id="54" name="Line 54"/>
            <p:cNvSpPr/>
            <p:nvPr/>
          </p:nvSpPr>
          <p:spPr>
            <a:xfrm>
              <a:off x="6667500" y="4095750"/>
              <a:ext cx="4714875" cy="9525"/>
            </a:xfrm>
            <a:custGeom>
              <a:avLst/>
              <a:gdLst/>
              <a:ahLst/>
              <a:cxnLst/>
              <a:rect l="l" t="t" r="r" b="b"/>
              <a:pathLst>
                <a:path w="4714875" h="9525">
                  <a:moveTo>
                    <a:pt x="0" y="0"/>
                  </a:moveTo>
                  <a:lnTo>
                    <a:pt x="4714875" y="0"/>
                  </a:lnTo>
                </a:path>
              </a:pathLst>
            </a:custGeom>
            <a:noFill/>
            <a:ln w="4762">
              <a:solidFill>
                <a:srgbClr val="E8ECF0"/>
              </a:solidFill>
            </a:ln>
          </p:spPr>
        </p:sp>
        <p:sp>
          <p:nvSpPr>
            <p:cNvPr id="55" name="TextBox 55"/>
            <p:cNvSpPr txBox="1"/>
            <p:nvPr/>
          </p:nvSpPr>
          <p:spPr>
            <a:xfrm>
              <a:off x="6414745" y="4038124"/>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23</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56" name="Line 56"/>
            <p:cNvSpPr/>
            <p:nvPr/>
          </p:nvSpPr>
          <p:spPr>
            <a:xfrm>
              <a:off x="6667500" y="3876675"/>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57" name="TextBox 57"/>
            <p:cNvSpPr txBox="1"/>
            <p:nvPr/>
          </p:nvSpPr>
          <p:spPr>
            <a:xfrm>
              <a:off x="6414745" y="3819049"/>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24</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58" name="Line 58"/>
            <p:cNvSpPr/>
            <p:nvPr/>
          </p:nvSpPr>
          <p:spPr>
            <a:xfrm>
              <a:off x="6667500" y="3667125"/>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59" name="TextBox 59"/>
            <p:cNvSpPr txBox="1"/>
            <p:nvPr/>
          </p:nvSpPr>
          <p:spPr>
            <a:xfrm>
              <a:off x="6414745" y="3609499"/>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25</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60" name="Line 60"/>
            <p:cNvSpPr/>
            <p:nvPr/>
          </p:nvSpPr>
          <p:spPr>
            <a:xfrm>
              <a:off x="6667500" y="3448050"/>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61" name="TextBox 61"/>
            <p:cNvSpPr txBox="1"/>
            <p:nvPr/>
          </p:nvSpPr>
          <p:spPr>
            <a:xfrm>
              <a:off x="6414745" y="3390424"/>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26</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62" name="Line 62"/>
            <p:cNvSpPr/>
            <p:nvPr/>
          </p:nvSpPr>
          <p:spPr>
            <a:xfrm>
              <a:off x="6667500" y="3238500"/>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63" name="TextBox 63"/>
            <p:cNvSpPr txBox="1"/>
            <p:nvPr/>
          </p:nvSpPr>
          <p:spPr>
            <a:xfrm>
              <a:off x="6414745" y="3180874"/>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27</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64" name="Line 64"/>
            <p:cNvSpPr/>
            <p:nvPr/>
          </p:nvSpPr>
          <p:spPr>
            <a:xfrm>
              <a:off x="6667500" y="3019425"/>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65" name="TextBox 65"/>
            <p:cNvSpPr txBox="1"/>
            <p:nvPr/>
          </p:nvSpPr>
          <p:spPr>
            <a:xfrm>
              <a:off x="6414745" y="2961799"/>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28</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66" name="Line 66"/>
            <p:cNvSpPr/>
            <p:nvPr/>
          </p:nvSpPr>
          <p:spPr>
            <a:xfrm>
              <a:off x="6667500" y="2809875"/>
              <a:ext cx="4714875" cy="9525"/>
            </a:xfrm>
            <a:custGeom>
              <a:avLst/>
              <a:gdLst/>
              <a:ahLst/>
              <a:cxnLst/>
              <a:rect l="l" t="t" r="r" b="b"/>
              <a:pathLst>
                <a:path w="4714875" h="9525">
                  <a:moveTo>
                    <a:pt x="0" y="0"/>
                  </a:moveTo>
                  <a:lnTo>
                    <a:pt x="4714875" y="0"/>
                  </a:lnTo>
                </a:path>
              </a:pathLst>
            </a:custGeom>
            <a:noFill/>
            <a:ln w="4762">
              <a:solidFill>
                <a:srgbClr val="E8ECF0"/>
              </a:solidFill>
              <a:custDash>
                <a:ds d="600000" sp="600000"/>
              </a:custDash>
            </a:ln>
          </p:spPr>
        </p:sp>
        <p:sp>
          <p:nvSpPr>
            <p:cNvPr id="67" name="TextBox 67"/>
            <p:cNvSpPr txBox="1"/>
            <p:nvPr/>
          </p:nvSpPr>
          <p:spPr>
            <a:xfrm>
              <a:off x="6414745" y="2752249"/>
              <a:ext cx="162458" cy="190690"/>
            </a:xfrm>
            <a:prstGeom prst="rect">
              <a:avLst/>
            </a:prstGeom>
            <a:noFill/>
            <a:ln>
              <a:noFill/>
            </a:ln>
          </p:spPr>
          <p:txBody>
            <a:bodyPr wrap="none" lIns="0" tIns="0" rIns="0" bIns="0" anchor="t" anchorCtr="0">
              <a:spAutoFit/>
            </a:bodyPr>
            <a:lstStyle/>
            <a:p>
              <a:pPr algn="r"/>
              <a:r>
                <a:rPr lang="en-US" sz="980" dirty="0">
                  <a:solidFill>
                    <a:srgbClr val="8A92A0"/>
                  </a:solidFill>
                  <a:latin typeface="Times New Roman" panose="02020603050405020304"/>
                  <a:ea typeface="Times New Roman" panose="02020603050405020304"/>
                  <a:cs typeface="Times New Roman" panose="02020603050405020304"/>
                </a:rPr>
                <a:t>29</a:t>
              </a:r>
              <a:endParaRPr lang="en-US" sz="980" dirty="0">
                <a:solidFill>
                  <a:srgbClr val="8A92A0"/>
                </a:solidFill>
                <a:latin typeface="Times New Roman" panose="02020603050405020304"/>
                <a:ea typeface="Times New Roman" panose="02020603050405020304"/>
                <a:cs typeface="Times New Roman" panose="02020603050405020304"/>
              </a:endParaRPr>
            </a:p>
          </p:txBody>
        </p:sp>
        <p:sp>
          <p:nvSpPr>
            <p:cNvPr id="68" name="TextBox 68"/>
            <p:cNvSpPr txBox="1"/>
            <p:nvPr/>
          </p:nvSpPr>
          <p:spPr>
            <a:xfrm>
              <a:off x="6621328" y="4231481"/>
              <a:ext cx="473345"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recipe</a:t>
              </a:r>
              <a:endParaRPr lang="en-US" sz="1120" dirty="0">
                <a:solidFill>
                  <a:srgbClr val="5A6478"/>
                </a:solidFill>
                <a:latin typeface="Arial" panose="020B0604020202020204"/>
                <a:ea typeface="Arial" panose="020B0604020202020204"/>
                <a:cs typeface="Arial" panose="020B0604020202020204"/>
              </a:endParaRPr>
            </a:p>
          </p:txBody>
        </p:sp>
        <p:sp>
          <p:nvSpPr>
            <p:cNvPr id="69" name="TextBox 69"/>
            <p:cNvSpPr txBox="1"/>
            <p:nvPr/>
          </p:nvSpPr>
          <p:spPr>
            <a:xfrm>
              <a:off x="8014526" y="4231481"/>
              <a:ext cx="677799"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operator</a:t>
              </a:r>
              <a:endParaRPr lang="en-US" sz="1120" dirty="0">
                <a:solidFill>
                  <a:srgbClr val="5A6478"/>
                </a:solidFill>
                <a:latin typeface="Arial" panose="020B0604020202020204"/>
                <a:ea typeface="Arial" panose="020B0604020202020204"/>
                <a:cs typeface="Arial" panose="020B0604020202020204"/>
              </a:endParaRPr>
            </a:p>
          </p:txBody>
        </p:sp>
        <p:sp>
          <p:nvSpPr>
            <p:cNvPr id="70" name="TextBox 70"/>
            <p:cNvSpPr txBox="1"/>
            <p:nvPr/>
          </p:nvSpPr>
          <p:spPr>
            <a:xfrm>
              <a:off x="9718191" y="4231481"/>
              <a:ext cx="261318"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apc</a:t>
              </a:r>
              <a:endParaRPr lang="en-US" sz="1120" dirty="0">
                <a:solidFill>
                  <a:srgbClr val="5A6478"/>
                </a:solidFill>
                <a:latin typeface="Arial" panose="020B0604020202020204"/>
                <a:ea typeface="Arial" panose="020B0604020202020204"/>
                <a:cs typeface="Arial" panose="020B0604020202020204"/>
              </a:endParaRPr>
            </a:p>
          </p:txBody>
        </p:sp>
        <p:sp>
          <p:nvSpPr>
            <p:cNvPr id="71" name="TextBox 71"/>
            <p:cNvSpPr txBox="1"/>
            <p:nvPr/>
          </p:nvSpPr>
          <p:spPr>
            <a:xfrm>
              <a:off x="11139726" y="4250531"/>
              <a:ext cx="390049" cy="220028"/>
            </a:xfrm>
            <a:prstGeom prst="rect">
              <a:avLst/>
            </a:prstGeom>
            <a:noFill/>
            <a:ln>
              <a:noFill/>
            </a:ln>
          </p:spPr>
          <p:txBody>
            <a:bodyPr wrap="none" lIns="0" tIns="0" rIns="0" bIns="0" anchor="t" anchorCtr="0">
              <a:spAutoFit/>
            </a:bodyPr>
            <a:lstStyle/>
            <a:p>
              <a:pPr algn="ctr"/>
              <a:r>
                <a:rPr lang="en-US" sz="1120" dirty="0">
                  <a:solidFill>
                    <a:srgbClr val="5A6478"/>
                  </a:solidFill>
                  <a:latin typeface="Arial" panose="020B0604020202020204"/>
                  <a:ea typeface="Arial" panose="020B0604020202020204"/>
                  <a:cs typeface="Arial" panose="020B0604020202020204"/>
                </a:rPr>
                <a:t>total</a:t>
              </a:r>
              <a:endParaRPr lang="en-US" sz="1120" dirty="0">
                <a:solidFill>
                  <a:srgbClr val="5A6478"/>
                </a:solidFill>
                <a:latin typeface="Arial" panose="020B0604020202020204"/>
                <a:ea typeface="Arial" panose="020B0604020202020204"/>
                <a:cs typeface="Arial" panose="020B0604020202020204"/>
              </a:endParaRPr>
            </a:p>
          </p:txBody>
        </p:sp>
        <p:sp>
          <p:nvSpPr>
            <p:cNvPr id="72" name="Polyline 72"/>
            <p:cNvSpPr/>
            <p:nvPr/>
          </p:nvSpPr>
          <p:spPr>
            <a:xfrm>
              <a:off x="6858000" y="2886075"/>
              <a:ext cx="4476750" cy="1076325"/>
            </a:xfrm>
            <a:custGeom>
              <a:avLst/>
              <a:gdLst/>
              <a:ahLst/>
              <a:cxnLst/>
              <a:rect l="l" t="t" r="r" b="b"/>
              <a:pathLst>
                <a:path w="4476750" h="1076325">
                  <a:moveTo>
                    <a:pt x="0" y="200025"/>
                  </a:moveTo>
                  <a:lnTo>
                    <a:pt x="1495425" y="1076325"/>
                  </a:lnTo>
                  <a:lnTo>
                    <a:pt x="2990850" y="0"/>
                  </a:lnTo>
                  <a:lnTo>
                    <a:pt x="4476750" y="457200"/>
                  </a:lnTo>
                </a:path>
              </a:pathLst>
            </a:custGeom>
            <a:noFill/>
            <a:ln w="19050" cap="rnd">
              <a:solidFill>
                <a:srgbClr val="8A92A0"/>
              </a:solidFill>
              <a:prstDash val="dash"/>
              <a:round/>
            </a:ln>
          </p:spPr>
        </p:sp>
        <p:sp>
          <p:nvSpPr>
            <p:cNvPr id="73" name="Ellipse 73"/>
            <p:cNvSpPr/>
            <p:nvPr/>
          </p:nvSpPr>
          <p:spPr>
            <a:xfrm>
              <a:off x="6824662" y="3052762"/>
              <a:ext cx="66675" cy="66675"/>
            </a:xfrm>
            <a:prstGeom prst="ellipse">
              <a:avLst/>
            </a:prstGeom>
            <a:solidFill>
              <a:srgbClr val="FFFFFF"/>
            </a:solidFill>
            <a:ln w="14288">
              <a:solidFill>
                <a:srgbClr val="8A92A0"/>
              </a:solidFill>
            </a:ln>
          </p:spPr>
        </p:sp>
        <p:sp>
          <p:nvSpPr>
            <p:cNvPr id="74" name="Ellipse 74"/>
            <p:cNvSpPr/>
            <p:nvPr/>
          </p:nvSpPr>
          <p:spPr>
            <a:xfrm>
              <a:off x="8320088" y="3929062"/>
              <a:ext cx="66675" cy="66675"/>
            </a:xfrm>
            <a:prstGeom prst="ellipse">
              <a:avLst/>
            </a:prstGeom>
            <a:solidFill>
              <a:srgbClr val="FFFFFF"/>
            </a:solidFill>
            <a:ln w="14288">
              <a:solidFill>
                <a:srgbClr val="8A92A0"/>
              </a:solidFill>
            </a:ln>
          </p:spPr>
        </p:sp>
        <p:sp>
          <p:nvSpPr>
            <p:cNvPr id="75" name="Ellipse 75"/>
            <p:cNvSpPr/>
            <p:nvPr/>
          </p:nvSpPr>
          <p:spPr>
            <a:xfrm>
              <a:off x="9815512" y="2852738"/>
              <a:ext cx="66675" cy="66675"/>
            </a:xfrm>
            <a:prstGeom prst="ellipse">
              <a:avLst/>
            </a:prstGeom>
            <a:solidFill>
              <a:srgbClr val="FFFFFF"/>
            </a:solidFill>
            <a:ln w="14288">
              <a:solidFill>
                <a:srgbClr val="8A92A0"/>
              </a:solidFill>
            </a:ln>
          </p:spPr>
        </p:sp>
        <p:sp>
          <p:nvSpPr>
            <p:cNvPr id="76" name="Ellipse 76"/>
            <p:cNvSpPr/>
            <p:nvPr/>
          </p:nvSpPr>
          <p:spPr>
            <a:xfrm>
              <a:off x="11301412" y="3309938"/>
              <a:ext cx="66675" cy="66675"/>
            </a:xfrm>
            <a:prstGeom prst="ellipse">
              <a:avLst/>
            </a:prstGeom>
            <a:solidFill>
              <a:srgbClr val="FFFFFF"/>
            </a:solidFill>
            <a:ln w="14288">
              <a:solidFill>
                <a:srgbClr val="8A92A0"/>
              </a:solidFill>
            </a:ln>
          </p:spPr>
        </p:sp>
        <p:sp>
          <p:nvSpPr>
            <p:cNvPr id="77" name="Polyline 77"/>
            <p:cNvSpPr/>
            <p:nvPr/>
          </p:nvSpPr>
          <p:spPr>
            <a:xfrm>
              <a:off x="6858000" y="2952750"/>
              <a:ext cx="4476750" cy="704850"/>
            </a:xfrm>
            <a:custGeom>
              <a:avLst/>
              <a:gdLst/>
              <a:ahLst/>
              <a:cxnLst/>
              <a:rect l="l" t="t" r="r" b="b"/>
              <a:pathLst>
                <a:path w="4476750" h="704850">
                  <a:moveTo>
                    <a:pt x="0" y="447675"/>
                  </a:moveTo>
                  <a:lnTo>
                    <a:pt x="1495425" y="704850"/>
                  </a:lnTo>
                  <a:lnTo>
                    <a:pt x="2990850" y="0"/>
                  </a:lnTo>
                  <a:lnTo>
                    <a:pt x="4476750" y="400050"/>
                  </a:lnTo>
                </a:path>
              </a:pathLst>
            </a:custGeom>
            <a:noFill/>
            <a:ln w="19050" cap="rnd">
              <a:solidFill>
                <a:srgbClr val="1A3A6B"/>
              </a:solidFill>
              <a:round/>
            </a:ln>
          </p:spPr>
        </p:sp>
        <p:sp>
          <p:nvSpPr>
            <p:cNvPr id="78" name="Ellipse 78"/>
            <p:cNvSpPr/>
            <p:nvPr/>
          </p:nvSpPr>
          <p:spPr>
            <a:xfrm>
              <a:off x="6824662" y="3367088"/>
              <a:ext cx="66675" cy="66675"/>
            </a:xfrm>
            <a:prstGeom prst="ellipse">
              <a:avLst/>
            </a:prstGeom>
            <a:solidFill>
              <a:srgbClr val="FFFFFF"/>
            </a:solidFill>
            <a:ln w="14288">
              <a:solidFill>
                <a:srgbClr val="1A3A6B"/>
              </a:solidFill>
            </a:ln>
          </p:spPr>
        </p:sp>
        <p:sp>
          <p:nvSpPr>
            <p:cNvPr id="79" name="Ellipse 79"/>
            <p:cNvSpPr/>
            <p:nvPr/>
          </p:nvSpPr>
          <p:spPr>
            <a:xfrm>
              <a:off x="8320088" y="3624262"/>
              <a:ext cx="66675" cy="66675"/>
            </a:xfrm>
            <a:prstGeom prst="ellipse">
              <a:avLst/>
            </a:prstGeom>
            <a:solidFill>
              <a:srgbClr val="FFFFFF"/>
            </a:solidFill>
            <a:ln w="14288">
              <a:solidFill>
                <a:srgbClr val="1A3A6B"/>
              </a:solidFill>
            </a:ln>
          </p:spPr>
        </p:sp>
        <p:sp>
          <p:nvSpPr>
            <p:cNvPr id="80" name="Ellipse 80"/>
            <p:cNvSpPr/>
            <p:nvPr/>
          </p:nvSpPr>
          <p:spPr>
            <a:xfrm>
              <a:off x="9815512" y="2919412"/>
              <a:ext cx="66675" cy="66675"/>
            </a:xfrm>
            <a:prstGeom prst="ellipse">
              <a:avLst/>
            </a:prstGeom>
            <a:solidFill>
              <a:srgbClr val="FFFFFF"/>
            </a:solidFill>
            <a:ln w="14288">
              <a:solidFill>
                <a:srgbClr val="1A3A6B"/>
              </a:solidFill>
            </a:ln>
          </p:spPr>
        </p:sp>
        <p:sp>
          <p:nvSpPr>
            <p:cNvPr id="81" name="Ellipse 81"/>
            <p:cNvSpPr/>
            <p:nvPr/>
          </p:nvSpPr>
          <p:spPr>
            <a:xfrm>
              <a:off x="11301412" y="3319462"/>
              <a:ext cx="66675" cy="66675"/>
            </a:xfrm>
            <a:prstGeom prst="ellipse">
              <a:avLst/>
            </a:prstGeom>
            <a:solidFill>
              <a:srgbClr val="FFFFFF"/>
            </a:solidFill>
            <a:ln w="14288">
              <a:solidFill>
                <a:srgbClr val="1A3A6B"/>
              </a:solidFill>
            </a:ln>
          </p:spPr>
        </p:sp>
        <p:sp>
          <p:nvSpPr>
            <p:cNvPr id="82" name="Polyline 82"/>
            <p:cNvSpPr/>
            <p:nvPr/>
          </p:nvSpPr>
          <p:spPr>
            <a:xfrm>
              <a:off x="6858000" y="2990850"/>
              <a:ext cx="4476750" cy="666750"/>
            </a:xfrm>
            <a:custGeom>
              <a:avLst/>
              <a:gdLst/>
              <a:ahLst/>
              <a:cxnLst/>
              <a:rect l="l" t="t" r="r" b="b"/>
              <a:pathLst>
                <a:path w="4476750" h="666750">
                  <a:moveTo>
                    <a:pt x="0" y="400050"/>
                  </a:moveTo>
                  <a:lnTo>
                    <a:pt x="1495425" y="666750"/>
                  </a:lnTo>
                  <a:lnTo>
                    <a:pt x="2990850" y="0"/>
                  </a:lnTo>
                  <a:lnTo>
                    <a:pt x="4476750" y="361950"/>
                  </a:lnTo>
                </a:path>
              </a:pathLst>
            </a:custGeom>
            <a:noFill/>
            <a:ln w="19050" cap="rnd">
              <a:solidFill>
                <a:srgbClr val="C9962B"/>
              </a:solidFill>
              <a:custDash>
                <a:ds d="200000" sp="150000"/>
              </a:custDash>
              <a:round/>
            </a:ln>
          </p:spPr>
        </p:sp>
        <p:sp>
          <p:nvSpPr>
            <p:cNvPr id="83" name="Ellipse 83"/>
            <p:cNvSpPr/>
            <p:nvPr/>
          </p:nvSpPr>
          <p:spPr>
            <a:xfrm>
              <a:off x="6824662" y="3357562"/>
              <a:ext cx="66675" cy="66675"/>
            </a:xfrm>
            <a:prstGeom prst="ellipse">
              <a:avLst/>
            </a:prstGeom>
            <a:solidFill>
              <a:srgbClr val="FFFFFF"/>
            </a:solidFill>
            <a:ln w="14288">
              <a:solidFill>
                <a:srgbClr val="C9962B"/>
              </a:solidFill>
            </a:ln>
          </p:spPr>
        </p:sp>
        <p:sp>
          <p:nvSpPr>
            <p:cNvPr id="84" name="Ellipse 84"/>
            <p:cNvSpPr/>
            <p:nvPr/>
          </p:nvSpPr>
          <p:spPr>
            <a:xfrm>
              <a:off x="8320088" y="3624262"/>
              <a:ext cx="66675" cy="66675"/>
            </a:xfrm>
            <a:prstGeom prst="ellipse">
              <a:avLst/>
            </a:prstGeom>
            <a:solidFill>
              <a:srgbClr val="FFFFFF"/>
            </a:solidFill>
            <a:ln w="14288">
              <a:solidFill>
                <a:srgbClr val="C9962B"/>
              </a:solidFill>
            </a:ln>
          </p:spPr>
        </p:sp>
        <p:sp>
          <p:nvSpPr>
            <p:cNvPr id="85" name="Ellipse 85"/>
            <p:cNvSpPr/>
            <p:nvPr/>
          </p:nvSpPr>
          <p:spPr>
            <a:xfrm>
              <a:off x="9815512" y="2957512"/>
              <a:ext cx="66675" cy="66675"/>
            </a:xfrm>
            <a:prstGeom prst="ellipse">
              <a:avLst/>
            </a:prstGeom>
            <a:solidFill>
              <a:srgbClr val="FFFFFF"/>
            </a:solidFill>
            <a:ln w="14288">
              <a:solidFill>
                <a:srgbClr val="C9962B"/>
              </a:solidFill>
            </a:ln>
          </p:spPr>
        </p:sp>
        <p:sp>
          <p:nvSpPr>
            <p:cNvPr id="86" name="Ellipse 86"/>
            <p:cNvSpPr/>
            <p:nvPr/>
          </p:nvSpPr>
          <p:spPr>
            <a:xfrm>
              <a:off x="11301412" y="3319462"/>
              <a:ext cx="66675" cy="66675"/>
            </a:xfrm>
            <a:prstGeom prst="ellipse">
              <a:avLst/>
            </a:prstGeom>
            <a:solidFill>
              <a:srgbClr val="FFFFFF"/>
            </a:solidFill>
            <a:ln w="14288">
              <a:solidFill>
                <a:srgbClr val="C9962B"/>
              </a:solidFill>
            </a:ln>
          </p:spPr>
        </p:sp>
        <p:sp>
          <p:nvSpPr>
            <p:cNvPr id="87" name="Line 87"/>
            <p:cNvSpPr/>
            <p:nvPr/>
          </p:nvSpPr>
          <p:spPr>
            <a:xfrm>
              <a:off x="10448925" y="3609975"/>
              <a:ext cx="228600" cy="9525"/>
            </a:xfrm>
            <a:custGeom>
              <a:avLst/>
              <a:gdLst/>
              <a:ahLst/>
              <a:cxnLst/>
              <a:rect l="l" t="t" r="r" b="b"/>
              <a:pathLst>
                <a:path w="228600" h="9525">
                  <a:moveTo>
                    <a:pt x="0" y="0"/>
                  </a:moveTo>
                  <a:lnTo>
                    <a:pt x="228600" y="0"/>
                  </a:lnTo>
                </a:path>
              </a:pathLst>
            </a:custGeom>
            <a:noFill/>
            <a:ln w="19050">
              <a:solidFill>
                <a:srgbClr val="8A92A0"/>
              </a:solidFill>
            </a:ln>
          </p:spPr>
        </p:sp>
        <p:sp>
          <p:nvSpPr>
            <p:cNvPr id="88" name="Ellipse 88"/>
            <p:cNvSpPr/>
            <p:nvPr/>
          </p:nvSpPr>
          <p:spPr>
            <a:xfrm>
              <a:off x="10544175" y="3590925"/>
              <a:ext cx="38100" cy="38100"/>
            </a:xfrm>
            <a:prstGeom prst="ellipse">
              <a:avLst/>
            </a:prstGeom>
            <a:solidFill>
              <a:srgbClr val="8A92A0"/>
            </a:solidFill>
            <a:ln>
              <a:noFill/>
            </a:ln>
          </p:spPr>
        </p:sp>
        <p:sp>
          <p:nvSpPr>
            <p:cNvPr id="89" name="TextBox 89"/>
            <p:cNvSpPr txBox="1"/>
            <p:nvPr/>
          </p:nvSpPr>
          <p:spPr>
            <a:xfrm>
              <a:off x="10748391" y="3515678"/>
              <a:ext cx="576072" cy="205359"/>
            </a:xfrm>
            <a:prstGeom prst="rect">
              <a:avLst/>
            </a:prstGeom>
            <a:noFill/>
            <a:ln>
              <a:noFill/>
            </a:ln>
          </p:spPr>
          <p:txBody>
            <a:bodyPr wrap="none" lIns="0" tIns="0" rIns="0" bIns="0" anchor="t" anchorCtr="0">
              <a:spAutoFit/>
            </a:bodyPr>
            <a:lstStyle/>
            <a:p>
              <a:pPr algn="l"/>
              <a:r>
                <a:rPr lang="zh-CN" sz="1050" dirty="0">
                  <a:solidFill>
                    <a:srgbClr val="5A6478"/>
                  </a:solidFill>
                  <a:latin typeface="Arial" panose="020B0604020202020204"/>
                  <a:ea typeface="微软雅黑" panose="020B0503020204020204" charset="-122"/>
                  <a:cs typeface="Arial" panose="020B0604020202020204"/>
                </a:rPr>
                <a:t>模型预测</a:t>
              </a:r>
              <a:endParaRPr lang="zh-CN" sz="1050" dirty="0">
                <a:solidFill>
                  <a:srgbClr val="5A6478"/>
                </a:solidFill>
                <a:latin typeface="Arial" panose="020B0604020202020204"/>
                <a:ea typeface="微软雅黑" panose="020B0503020204020204" charset="-122"/>
                <a:cs typeface="Arial" panose="020B0604020202020204"/>
              </a:endParaRPr>
            </a:p>
          </p:txBody>
        </p:sp>
        <p:sp>
          <p:nvSpPr>
            <p:cNvPr id="90" name="Line 90"/>
            <p:cNvSpPr/>
            <p:nvPr/>
          </p:nvSpPr>
          <p:spPr>
            <a:xfrm>
              <a:off x="10448925" y="3819525"/>
              <a:ext cx="228600" cy="9525"/>
            </a:xfrm>
            <a:custGeom>
              <a:avLst/>
              <a:gdLst/>
              <a:ahLst/>
              <a:cxnLst/>
              <a:rect l="l" t="t" r="r" b="b"/>
              <a:pathLst>
                <a:path w="228600" h="9525">
                  <a:moveTo>
                    <a:pt x="0" y="0"/>
                  </a:moveTo>
                  <a:lnTo>
                    <a:pt x="228600" y="0"/>
                  </a:lnTo>
                </a:path>
              </a:pathLst>
            </a:custGeom>
            <a:noFill/>
            <a:ln w="19050">
              <a:solidFill>
                <a:srgbClr val="1A3A6B"/>
              </a:solidFill>
            </a:ln>
          </p:spPr>
        </p:sp>
        <p:sp>
          <p:nvSpPr>
            <p:cNvPr id="91" name="Ellipse 91"/>
            <p:cNvSpPr/>
            <p:nvPr/>
          </p:nvSpPr>
          <p:spPr>
            <a:xfrm>
              <a:off x="10544175" y="3800475"/>
              <a:ext cx="38100" cy="38100"/>
            </a:xfrm>
            <a:prstGeom prst="ellipse">
              <a:avLst/>
            </a:prstGeom>
            <a:solidFill>
              <a:srgbClr val="1A3A6B"/>
            </a:solidFill>
            <a:ln>
              <a:noFill/>
            </a:ln>
          </p:spPr>
        </p:sp>
        <p:sp>
          <p:nvSpPr>
            <p:cNvPr id="92" name="TextBox 92"/>
            <p:cNvSpPr txBox="1"/>
            <p:nvPr/>
          </p:nvSpPr>
          <p:spPr>
            <a:xfrm>
              <a:off x="10748391" y="3734752"/>
              <a:ext cx="434721" cy="205359"/>
            </a:xfrm>
            <a:prstGeom prst="rect">
              <a:avLst/>
            </a:prstGeom>
            <a:noFill/>
            <a:ln>
              <a:noFill/>
            </a:ln>
          </p:spPr>
          <p:txBody>
            <a:bodyPr wrap="none" lIns="0" tIns="0" rIns="0" bIns="0" anchor="t" anchorCtr="0">
              <a:spAutoFit/>
            </a:bodyPr>
            <a:lstStyle/>
            <a:p>
              <a:pPr algn="l"/>
              <a:r>
                <a:rPr lang="zh-CN" sz="1050" dirty="0">
                  <a:solidFill>
                    <a:srgbClr val="5A6478"/>
                  </a:solidFill>
                  <a:latin typeface="Arial" panose="020B0604020202020204"/>
                  <a:ea typeface="微软雅黑" panose="020B0503020204020204" charset="-122"/>
                  <a:cs typeface="Arial" panose="020B0604020202020204"/>
                </a:rPr>
                <a:t>校准后</a:t>
              </a:r>
              <a:endParaRPr lang="zh-CN" sz="1050" dirty="0">
                <a:solidFill>
                  <a:srgbClr val="5A6478"/>
                </a:solidFill>
                <a:latin typeface="Arial" panose="020B0604020202020204"/>
                <a:ea typeface="微软雅黑" panose="020B0503020204020204" charset="-122"/>
                <a:cs typeface="Arial" panose="020B0604020202020204"/>
              </a:endParaRPr>
            </a:p>
          </p:txBody>
        </p:sp>
        <p:sp>
          <p:nvSpPr>
            <p:cNvPr id="93" name="Line 93"/>
            <p:cNvSpPr/>
            <p:nvPr/>
          </p:nvSpPr>
          <p:spPr>
            <a:xfrm>
              <a:off x="10448925" y="4019550"/>
              <a:ext cx="228600" cy="9525"/>
            </a:xfrm>
            <a:custGeom>
              <a:avLst/>
              <a:gdLst/>
              <a:ahLst/>
              <a:cxnLst/>
              <a:rect l="l" t="t" r="r" b="b"/>
              <a:pathLst>
                <a:path w="228600" h="9525">
                  <a:moveTo>
                    <a:pt x="0" y="0"/>
                  </a:moveTo>
                  <a:lnTo>
                    <a:pt x="228600" y="0"/>
                  </a:lnTo>
                </a:path>
              </a:pathLst>
            </a:custGeom>
            <a:noFill/>
            <a:ln w="19050">
              <a:solidFill>
                <a:srgbClr val="C9962B"/>
              </a:solidFill>
            </a:ln>
          </p:spPr>
        </p:sp>
        <p:sp>
          <p:nvSpPr>
            <p:cNvPr id="94" name="Ellipse 94"/>
            <p:cNvSpPr/>
            <p:nvPr/>
          </p:nvSpPr>
          <p:spPr>
            <a:xfrm>
              <a:off x="10544175" y="4000500"/>
              <a:ext cx="38100" cy="38100"/>
            </a:xfrm>
            <a:prstGeom prst="ellipse">
              <a:avLst/>
            </a:prstGeom>
            <a:solidFill>
              <a:srgbClr val="C9962B"/>
            </a:solidFill>
            <a:ln>
              <a:noFill/>
            </a:ln>
          </p:spPr>
        </p:sp>
        <p:sp>
          <p:nvSpPr>
            <p:cNvPr id="95" name="TextBox 95"/>
            <p:cNvSpPr txBox="1"/>
            <p:nvPr/>
          </p:nvSpPr>
          <p:spPr>
            <a:xfrm>
              <a:off x="10748391" y="3944302"/>
              <a:ext cx="576072" cy="205359"/>
            </a:xfrm>
            <a:prstGeom prst="rect">
              <a:avLst/>
            </a:prstGeom>
            <a:noFill/>
            <a:ln>
              <a:noFill/>
            </a:ln>
          </p:spPr>
          <p:txBody>
            <a:bodyPr wrap="none" lIns="0" tIns="0" rIns="0" bIns="0" anchor="t" anchorCtr="0">
              <a:spAutoFit/>
            </a:bodyPr>
            <a:lstStyle/>
            <a:p>
              <a:pPr algn="l"/>
              <a:r>
                <a:rPr lang="zh-CN" sz="1050" dirty="0">
                  <a:solidFill>
                    <a:srgbClr val="5A6478"/>
                  </a:solidFill>
                  <a:latin typeface="Arial" panose="020B0604020202020204"/>
                  <a:ea typeface="微软雅黑" panose="020B0503020204020204" charset="-122"/>
                  <a:cs typeface="Arial" panose="020B0604020202020204"/>
                </a:rPr>
                <a:t>真实均值</a:t>
              </a:r>
              <a:endParaRPr lang="zh-CN" sz="1050" dirty="0">
                <a:solidFill>
                  <a:srgbClr val="5A6478"/>
                </a:solidFill>
                <a:latin typeface="Arial" panose="020B0604020202020204"/>
                <a:ea typeface="微软雅黑" panose="020B0503020204020204" charset="-122"/>
                <a:cs typeface="Arial" panose="020B0604020202020204"/>
              </a:endParaRPr>
            </a:p>
          </p:txBody>
        </p:sp>
      </p:grpSp>
      <p:sp>
        <p:nvSpPr>
          <p:cNvPr id="97" name="Line 97"/>
          <p:cNvSpPr/>
          <p:nvPr/>
        </p:nvSpPr>
        <p:spPr>
          <a:xfrm>
            <a:off x="581025" y="4648200"/>
            <a:ext cx="11049000" cy="9525"/>
          </a:xfrm>
          <a:custGeom>
            <a:avLst/>
            <a:gdLst/>
            <a:ahLst/>
            <a:cxnLst/>
            <a:rect l="l" t="t" r="r" b="b"/>
            <a:pathLst>
              <a:path w="11049000" h="9525">
                <a:moveTo>
                  <a:pt x="0" y="0"/>
                </a:moveTo>
                <a:lnTo>
                  <a:pt x="11049000" y="0"/>
                </a:lnTo>
              </a:path>
            </a:pathLst>
          </a:custGeom>
          <a:noFill/>
          <a:ln w="9525">
            <a:solidFill>
              <a:srgbClr val="EDEFF2"/>
            </a:solidFill>
          </a:ln>
        </p:spPr>
      </p:sp>
      <p:sp>
        <p:nvSpPr>
          <p:cNvPr id="98" name="TextBox 98"/>
          <p:cNvSpPr txBox="1"/>
          <p:nvPr/>
        </p:nvSpPr>
        <p:spPr>
          <a:xfrm>
            <a:off x="4203192" y="4712018"/>
            <a:ext cx="3935151" cy="264033"/>
          </a:xfrm>
          <a:prstGeom prst="rect">
            <a:avLst/>
          </a:prstGeom>
          <a:noFill/>
          <a:ln>
            <a:noFill/>
          </a:ln>
        </p:spPr>
        <p:txBody>
          <a:bodyPr wrap="none" lIns="0" tIns="0" rIns="0" bIns="0" anchor="t" anchorCtr="0">
            <a:spAutoFit/>
          </a:bodyPr>
          <a:lstStyle/>
          <a:p>
            <a:pPr algn="l"/>
            <a:r>
              <a:rPr lang="zh-CN" sz="1350" b="1" spc="75" dirty="0">
                <a:solidFill>
                  <a:srgbClr val="C9962B"/>
                </a:solidFill>
                <a:latin typeface="Times New Roman" panose="02020603050405020304"/>
                <a:ea typeface="微软雅黑" panose="020B0503020204020204" charset="-122"/>
                <a:cs typeface="Times New Roman" panose="02020603050405020304"/>
              </a:rPr>
              <a:t>FOUR INNOVATIONS · 四大创新点</a:t>
            </a:r>
            <a:endParaRPr lang="zh-CN" sz="1350" b="1" spc="75" dirty="0">
              <a:solidFill>
                <a:srgbClr val="C9962B"/>
              </a:solidFill>
              <a:latin typeface="Times New Roman" panose="02020603050405020304"/>
              <a:ea typeface="微软雅黑" panose="020B0503020204020204" charset="-122"/>
              <a:cs typeface="Times New Roman" panose="02020603050405020304"/>
            </a:endParaRPr>
          </a:p>
        </p:txBody>
      </p:sp>
      <p:grpSp>
        <p:nvGrpSpPr>
          <p:cNvPr id="133" name="Group 133"/>
          <p:cNvGrpSpPr/>
          <p:nvPr/>
        </p:nvGrpSpPr>
        <p:grpSpPr>
          <a:xfrm>
            <a:off x="571500" y="5048250"/>
            <a:ext cx="11049000" cy="1841659"/>
            <a:chOff x="571500" y="5048250"/>
            <a:chExt cx="11049000" cy="1841659"/>
          </a:xfrm>
        </p:grpSpPr>
        <p:sp>
          <p:nvSpPr>
            <p:cNvPr id="99" name="Line 99"/>
            <p:cNvSpPr/>
            <p:nvPr/>
          </p:nvSpPr>
          <p:spPr>
            <a:xfrm>
              <a:off x="6096000" y="5048250"/>
              <a:ext cx="9525" cy="1809750"/>
            </a:xfrm>
            <a:custGeom>
              <a:avLst/>
              <a:gdLst/>
              <a:ahLst/>
              <a:cxnLst/>
              <a:rect l="l" t="t" r="r" b="b"/>
              <a:pathLst>
                <a:path w="9525" h="1809750">
                  <a:moveTo>
                    <a:pt x="0" y="0"/>
                  </a:moveTo>
                  <a:lnTo>
                    <a:pt x="0" y="1809750"/>
                  </a:lnTo>
                </a:path>
              </a:pathLst>
            </a:custGeom>
            <a:noFill/>
            <a:ln w="9525">
              <a:solidFill>
                <a:srgbClr val="EDEFF2"/>
              </a:solidFill>
            </a:ln>
          </p:spPr>
        </p:sp>
        <p:sp>
          <p:nvSpPr>
            <p:cNvPr id="100" name="Line 100"/>
            <p:cNvSpPr/>
            <p:nvPr/>
          </p:nvSpPr>
          <p:spPr>
            <a:xfrm>
              <a:off x="571500" y="5953125"/>
              <a:ext cx="11049000" cy="9525"/>
            </a:xfrm>
            <a:custGeom>
              <a:avLst/>
              <a:gdLst/>
              <a:ahLst/>
              <a:cxnLst/>
              <a:rect l="l" t="t" r="r" b="b"/>
              <a:pathLst>
                <a:path w="11049000" h="9525">
                  <a:moveTo>
                    <a:pt x="0" y="0"/>
                  </a:moveTo>
                  <a:lnTo>
                    <a:pt x="11049000" y="0"/>
                  </a:lnTo>
                </a:path>
              </a:pathLst>
            </a:custGeom>
            <a:noFill/>
            <a:ln w="9525">
              <a:solidFill>
                <a:srgbClr val="EDEFF2"/>
              </a:solidFill>
            </a:ln>
          </p:spPr>
        </p:sp>
        <p:grpSp>
          <p:nvGrpSpPr>
            <p:cNvPr id="109" name="Group 109"/>
            <p:cNvGrpSpPr/>
            <p:nvPr/>
          </p:nvGrpSpPr>
          <p:grpSpPr>
            <a:xfrm>
              <a:off x="755523" y="5073015"/>
              <a:ext cx="4818888" cy="816769"/>
              <a:chOff x="755523" y="5073015"/>
              <a:chExt cx="4818888" cy="816769"/>
            </a:xfrm>
          </p:grpSpPr>
          <p:grpSp>
            <p:nvGrpSpPr>
              <p:cNvPr id="104" name="Group 104"/>
              <p:cNvGrpSpPr/>
              <p:nvPr/>
            </p:nvGrpSpPr>
            <p:grpSpPr>
              <a:xfrm>
                <a:off x="795338" y="5129213"/>
                <a:ext cx="200026" cy="200026"/>
                <a:chOff x="795338" y="5129213"/>
                <a:chExt cx="200026" cy="200026"/>
              </a:xfrm>
            </p:grpSpPr>
            <p:sp>
              <p:nvSpPr>
                <p:cNvPr id="101" name="Freeform 101"/>
                <p:cNvSpPr/>
                <p:nvPr/>
              </p:nvSpPr>
              <p:spPr>
                <a:xfrm>
                  <a:off x="884238" y="5218113"/>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19050">
                  <a:solidFill>
                    <a:srgbClr val="1A3A6B"/>
                  </a:solidFill>
                </a:ln>
              </p:spPr>
            </p:sp>
            <p:sp>
              <p:nvSpPr>
                <p:cNvPr id="102" name="Freeform 102"/>
                <p:cNvSpPr/>
                <p:nvPr/>
              </p:nvSpPr>
              <p:spPr>
                <a:xfrm>
                  <a:off x="839788" y="5173663"/>
                  <a:ext cx="111125" cy="111125"/>
                </a:xfrm>
                <a:custGeom>
                  <a:avLst/>
                  <a:gdLst/>
                  <a:ahLst/>
                  <a:cxnLst/>
                  <a:rect l="l" t="t" r="r" b="b"/>
                  <a:pathLst>
                    <a:path w="111125" h="111125">
                      <a:moveTo>
                        <a:pt x="0" y="55563"/>
                      </a:moveTo>
                      <a:cubicBezTo>
                        <a:pt x="0" y="86249"/>
                        <a:pt x="24876" y="111125"/>
                        <a:pt x="55563" y="111125"/>
                      </a:cubicBezTo>
                      <a:cubicBezTo>
                        <a:pt x="86249" y="111125"/>
                        <a:pt x="111125" y="86249"/>
                        <a:pt x="111125" y="55563"/>
                      </a:cubicBezTo>
                      <a:cubicBezTo>
                        <a:pt x="111125" y="24876"/>
                        <a:pt x="86249" y="0"/>
                        <a:pt x="55563" y="0"/>
                      </a:cubicBezTo>
                      <a:cubicBezTo>
                        <a:pt x="24876" y="0"/>
                        <a:pt x="0" y="24876"/>
                        <a:pt x="0" y="55563"/>
                      </a:cubicBezTo>
                    </a:path>
                  </a:pathLst>
                </a:custGeom>
                <a:noFill/>
                <a:ln w="19050">
                  <a:solidFill>
                    <a:srgbClr val="1A3A6B"/>
                  </a:solidFill>
                </a:ln>
              </p:spPr>
            </p:sp>
            <p:sp>
              <p:nvSpPr>
                <p:cNvPr id="103" name="Freeform 103"/>
                <p:cNvSpPr/>
                <p:nvPr/>
              </p:nvSpPr>
              <p:spPr>
                <a:xfrm>
                  <a:off x="795338" y="512921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19050">
                  <a:solidFill>
                    <a:srgbClr val="1A3A6B"/>
                  </a:solidFill>
                </a:ln>
              </p:spPr>
            </p:sp>
          </p:grpSp>
          <p:sp>
            <p:nvSpPr>
              <p:cNvPr id="105" name="TextBox 105"/>
              <p:cNvSpPr txBox="1"/>
              <p:nvPr/>
            </p:nvSpPr>
            <p:spPr>
              <a:xfrm>
                <a:off x="1114806" y="5073015"/>
                <a:ext cx="166146" cy="352044"/>
              </a:xfrm>
              <a:prstGeom prst="rect">
                <a:avLst/>
              </a:prstGeom>
              <a:noFill/>
              <a:ln>
                <a:noFill/>
              </a:ln>
            </p:spPr>
            <p:txBody>
              <a:bodyPr wrap="none" lIns="0" tIns="0" rIns="0" bIns="0" anchor="t" anchorCtr="0">
                <a:spAutoFit/>
              </a:bodyPr>
              <a:lstStyle/>
              <a:p>
                <a:pPr algn="l"/>
                <a:r>
                  <a:rPr lang="en-US" sz="1800" b="1" dirty="0">
                    <a:solidFill>
                      <a:srgbClr val="C9962B"/>
                    </a:solidFill>
                    <a:latin typeface="Times New Roman" panose="02020603050405020304"/>
                    <a:ea typeface="Times New Roman" panose="02020603050405020304"/>
                    <a:cs typeface="Times New Roman" panose="02020603050405020304"/>
                  </a:rPr>
                  <a:t>①</a:t>
                </a:r>
                <a:endParaRPr lang="en-US" sz="1800" b="1" dirty="0">
                  <a:solidFill>
                    <a:srgbClr val="C9962B"/>
                  </a:solidFill>
                  <a:latin typeface="Times New Roman" panose="02020603050405020304"/>
                  <a:ea typeface="Times New Roman" panose="02020603050405020304"/>
                  <a:cs typeface="Times New Roman" panose="02020603050405020304"/>
                </a:endParaRPr>
              </a:p>
            </p:txBody>
          </p:sp>
          <p:sp>
            <p:nvSpPr>
              <p:cNvPr id="106" name="TextBox 106"/>
              <p:cNvSpPr txBox="1"/>
              <p:nvPr/>
            </p:nvSpPr>
            <p:spPr>
              <a:xfrm>
                <a:off x="1401318" y="5089208"/>
                <a:ext cx="1593921" cy="322707"/>
              </a:xfrm>
              <a:prstGeom prst="rect">
                <a:avLst/>
              </a:prstGeom>
              <a:noFill/>
              <a:ln>
                <a:noFill/>
              </a:ln>
            </p:spPr>
            <p:txBody>
              <a:bodyPr wrap="none" lIns="0" tIns="0" rIns="0" bIns="0" anchor="t" anchorCtr="0">
                <a:spAutoFit/>
              </a:bodyPr>
              <a:lstStyle/>
              <a:p>
                <a:pPr algn="l"/>
                <a:r>
                  <a:rPr lang="zh-CN" sz="1650" b="1" dirty="0">
                    <a:solidFill>
                      <a:srgbClr val="1A3A6B"/>
                    </a:solidFill>
                    <a:latin typeface="Arial" panose="020B0604020202020204"/>
                    <a:ea typeface="微软雅黑" panose="020B0503020204020204" charset="-122"/>
                    <a:cs typeface="Arial" panose="020B0604020202020204"/>
                  </a:rPr>
                  <a:t>CT 特异性建模</a:t>
                </a:r>
                <a:endParaRPr lang="zh-CN" sz="1650" b="1" dirty="0">
                  <a:solidFill>
                    <a:srgbClr val="1A3A6B"/>
                  </a:solidFill>
                  <a:latin typeface="Arial" panose="020B0604020202020204"/>
                  <a:ea typeface="微软雅黑" panose="020B0503020204020204" charset="-122"/>
                  <a:cs typeface="Arial" panose="020B0604020202020204"/>
                </a:endParaRPr>
              </a:p>
            </p:txBody>
          </p:sp>
          <p:sp>
            <p:nvSpPr>
              <p:cNvPr id="107" name="TextBox 107"/>
              <p:cNvSpPr txBox="1"/>
              <p:nvPr/>
            </p:nvSpPr>
            <p:spPr>
              <a:xfrm>
                <a:off x="755523" y="5405914"/>
                <a:ext cx="4818888" cy="249364"/>
              </a:xfrm>
              <a:prstGeom prst="rect">
                <a:avLst/>
              </a:prstGeom>
              <a:noFill/>
              <a:ln>
                <a:noFill/>
              </a:ln>
            </p:spPr>
            <p:txBody>
              <a:bodyPr wrap="none" lIns="0" tIns="0" rIns="0" bIns="0" anchor="t" anchorCtr="0">
                <a:spAutoFit/>
              </a:bodyPr>
              <a:lstStyle/>
              <a:p>
                <a:pPr algn="l"/>
                <a:r>
                  <a:rPr lang="zh-CN" sz="1280" dirty="0">
                    <a:solidFill>
                      <a:srgbClr val="5A6478"/>
                    </a:solidFill>
                    <a:latin typeface="Arial" panose="020B0604020202020204"/>
                    <a:ea typeface="微软雅黑" panose="020B0503020204020204" charset="-122"/>
                    <a:cs typeface="Arial" panose="020B0604020202020204"/>
                  </a:rPr>
                  <a:t>按控制类型分别建模，捕捉 recipe / operator / apc 工艺差异</a:t>
                </a:r>
                <a:endParaRPr lang="zh-CN" sz="1280" dirty="0">
                  <a:solidFill>
                    <a:srgbClr val="5A6478"/>
                  </a:solidFill>
                  <a:latin typeface="Arial" panose="020B0604020202020204"/>
                  <a:ea typeface="微软雅黑" panose="020B0503020204020204" charset="-122"/>
                  <a:cs typeface="Arial" panose="020B0604020202020204"/>
                </a:endParaRPr>
              </a:p>
            </p:txBody>
          </p:sp>
          <p:sp>
            <p:nvSpPr>
              <p:cNvPr id="108" name="TextBox 108"/>
              <p:cNvSpPr txBox="1"/>
              <p:nvPr/>
            </p:nvSpPr>
            <p:spPr>
              <a:xfrm>
                <a:off x="756285" y="5669756"/>
                <a:ext cx="2131695" cy="220028"/>
              </a:xfrm>
              <a:prstGeom prst="rect">
                <a:avLst/>
              </a:prstGeom>
              <a:noFill/>
              <a:ln>
                <a:noFill/>
              </a:ln>
            </p:spPr>
            <p:txBody>
              <a:bodyPr wrap="none" lIns="0" tIns="0" rIns="0" bIns="0" anchor="t" anchorCtr="0">
                <a:spAutoFit/>
              </a:bodyPr>
              <a:lstStyle/>
              <a:p>
                <a:pPr algn="l"/>
                <a:r>
                  <a:rPr lang="zh-CN" sz="1120" dirty="0">
                    <a:solidFill>
                      <a:srgbClr val="8A92A0"/>
                    </a:solidFill>
                    <a:latin typeface="Arial" panose="020B0604020202020204"/>
                    <a:ea typeface="微软雅黑" panose="020B0503020204020204" charset="-122"/>
                    <a:cs typeface="Arial" panose="020B0604020202020204"/>
                  </a:rPr>
                  <a:t>核心决策点，驱动整个方案架构</a:t>
                </a:r>
                <a:endParaRPr lang="zh-CN" sz="1120" dirty="0">
                  <a:solidFill>
                    <a:srgbClr val="8A92A0"/>
                  </a:solidFill>
                  <a:latin typeface="Arial" panose="020B0604020202020204"/>
                  <a:ea typeface="微软雅黑" panose="020B0503020204020204" charset="-122"/>
                  <a:cs typeface="Arial" panose="020B0604020202020204"/>
                </a:endParaRPr>
              </a:p>
            </p:txBody>
          </p:sp>
        </p:grpSp>
        <p:grpSp>
          <p:nvGrpSpPr>
            <p:cNvPr id="115" name="Group 115"/>
            <p:cNvGrpSpPr/>
            <p:nvPr/>
          </p:nvGrpSpPr>
          <p:grpSpPr>
            <a:xfrm>
              <a:off x="6280023" y="5073015"/>
              <a:ext cx="4274820" cy="816769"/>
              <a:chOff x="6280023" y="5073015"/>
              <a:chExt cx="4274820" cy="816769"/>
            </a:xfrm>
          </p:grpSpPr>
          <p:sp>
            <p:nvSpPr>
              <p:cNvPr id="110" name="Freeform 110"/>
              <p:cNvSpPr/>
              <p:nvPr/>
            </p:nvSpPr>
            <p:spPr>
              <a:xfrm>
                <a:off x="6330950" y="5140325"/>
                <a:ext cx="177801" cy="188913"/>
              </a:xfrm>
              <a:custGeom>
                <a:avLst/>
                <a:gdLst/>
                <a:ahLst/>
                <a:cxnLst/>
                <a:rect l="l" t="t" r="r" b="b"/>
                <a:pathLst>
                  <a:path w="177801" h="188913">
                    <a:moveTo>
                      <a:pt x="0" y="0"/>
                    </a:moveTo>
                    <a:lnTo>
                      <a:pt x="177801" y="0"/>
                    </a:lnTo>
                    <a:lnTo>
                      <a:pt x="177801" y="24136"/>
                    </a:lnTo>
                    <a:cubicBezTo>
                      <a:pt x="177799" y="30030"/>
                      <a:pt x="175457" y="35683"/>
                      <a:pt x="171289" y="39850"/>
                    </a:cubicBezTo>
                    <a:lnTo>
                      <a:pt x="122238" y="88900"/>
                    </a:lnTo>
                    <a:lnTo>
                      <a:pt x="122238" y="166688"/>
                    </a:lnTo>
                    <a:lnTo>
                      <a:pt x="55563" y="188913"/>
                    </a:lnTo>
                    <a:lnTo>
                      <a:pt x="55563" y="94457"/>
                    </a:lnTo>
                    <a:lnTo>
                      <a:pt x="5779" y="39694"/>
                    </a:lnTo>
                    <a:cubicBezTo>
                      <a:pt x="2061" y="35604"/>
                      <a:pt x="1" y="30275"/>
                      <a:pt x="0" y="24748"/>
                    </a:cubicBezTo>
                    <a:lnTo>
                      <a:pt x="0" y="0"/>
                    </a:lnTo>
                  </a:path>
                </a:pathLst>
              </a:custGeom>
              <a:noFill/>
              <a:ln w="19050">
                <a:solidFill>
                  <a:srgbClr val="1A3A6B"/>
                </a:solidFill>
              </a:ln>
            </p:spPr>
          </p:sp>
          <p:sp>
            <p:nvSpPr>
              <p:cNvPr id="111" name="TextBox 111"/>
              <p:cNvSpPr txBox="1"/>
              <p:nvPr/>
            </p:nvSpPr>
            <p:spPr>
              <a:xfrm>
                <a:off x="6639306" y="5073015"/>
                <a:ext cx="166146" cy="352044"/>
              </a:xfrm>
              <a:prstGeom prst="rect">
                <a:avLst/>
              </a:prstGeom>
              <a:noFill/>
              <a:ln>
                <a:noFill/>
              </a:ln>
            </p:spPr>
            <p:txBody>
              <a:bodyPr wrap="none" lIns="0" tIns="0" rIns="0" bIns="0" anchor="t" anchorCtr="0">
                <a:spAutoFit/>
              </a:bodyPr>
              <a:lstStyle/>
              <a:p>
                <a:pPr algn="l"/>
                <a:r>
                  <a:rPr lang="en-US" sz="1800" b="1" dirty="0">
                    <a:solidFill>
                      <a:srgbClr val="C9962B"/>
                    </a:solidFill>
                    <a:latin typeface="Times New Roman" panose="02020603050405020304"/>
                    <a:ea typeface="Times New Roman" panose="02020603050405020304"/>
                    <a:cs typeface="Times New Roman" panose="02020603050405020304"/>
                  </a:rPr>
                  <a:t>②</a:t>
                </a:r>
                <a:endParaRPr lang="en-US" sz="1800" b="1" dirty="0">
                  <a:solidFill>
                    <a:srgbClr val="C9962B"/>
                  </a:solidFill>
                  <a:latin typeface="Times New Roman" panose="02020603050405020304"/>
                  <a:ea typeface="Times New Roman" panose="02020603050405020304"/>
                  <a:cs typeface="Times New Roman" panose="02020603050405020304"/>
                </a:endParaRPr>
              </a:p>
            </p:txBody>
          </p:sp>
          <p:sp>
            <p:nvSpPr>
              <p:cNvPr id="112" name="TextBox 112"/>
              <p:cNvSpPr txBox="1"/>
              <p:nvPr/>
            </p:nvSpPr>
            <p:spPr>
              <a:xfrm>
                <a:off x="6925818" y="5089208"/>
                <a:ext cx="1649368" cy="322707"/>
              </a:xfrm>
              <a:prstGeom prst="rect">
                <a:avLst/>
              </a:prstGeom>
              <a:noFill/>
              <a:ln>
                <a:noFill/>
              </a:ln>
            </p:spPr>
            <p:txBody>
              <a:bodyPr wrap="none" lIns="0" tIns="0" rIns="0" bIns="0" anchor="t" anchorCtr="0">
                <a:spAutoFit/>
              </a:bodyPr>
              <a:lstStyle/>
              <a:p>
                <a:pPr algn="l"/>
                <a:r>
                  <a:rPr lang="zh-CN" sz="1650" b="1" dirty="0">
                    <a:solidFill>
                      <a:srgbClr val="1A3A6B"/>
                    </a:solidFill>
                    <a:latin typeface="Arial" panose="020B0604020202020204"/>
                    <a:ea typeface="微软雅黑" panose="020B0503020204020204" charset="-122"/>
                    <a:cs typeface="Arial" panose="020B0604020202020204"/>
                  </a:rPr>
                  <a:t>自适应特征选择</a:t>
                </a:r>
                <a:endParaRPr lang="zh-CN" sz="1650" b="1" dirty="0">
                  <a:solidFill>
                    <a:srgbClr val="1A3A6B"/>
                  </a:solidFill>
                  <a:latin typeface="Arial" panose="020B0604020202020204"/>
                  <a:ea typeface="微软雅黑" panose="020B0503020204020204" charset="-122"/>
                  <a:cs typeface="Arial" panose="020B0604020202020204"/>
                </a:endParaRPr>
              </a:p>
            </p:txBody>
          </p:sp>
          <p:sp>
            <p:nvSpPr>
              <p:cNvPr id="113" name="TextBox 113"/>
              <p:cNvSpPr txBox="1"/>
              <p:nvPr/>
            </p:nvSpPr>
            <p:spPr>
              <a:xfrm>
                <a:off x="6280023" y="5405914"/>
                <a:ext cx="4274820" cy="249364"/>
              </a:xfrm>
              <a:prstGeom prst="rect">
                <a:avLst/>
              </a:prstGeom>
              <a:noFill/>
              <a:ln>
                <a:noFill/>
              </a:ln>
            </p:spPr>
            <p:txBody>
              <a:bodyPr wrap="none" lIns="0" tIns="0" rIns="0" bIns="0" anchor="t" anchorCtr="0">
                <a:spAutoFit/>
              </a:bodyPr>
              <a:lstStyle/>
              <a:p>
                <a:pPr algn="l"/>
                <a:r>
                  <a:rPr lang="zh-CN" sz="1280" dirty="0">
                    <a:solidFill>
                      <a:srgbClr val="5A6478"/>
                    </a:solidFill>
                    <a:latin typeface="Arial" panose="020B0604020202020204"/>
                    <a:ea typeface="微软雅黑" panose="020B0503020204020204" charset="-122"/>
                    <a:cs typeface="Arial" panose="020B0604020202020204"/>
                  </a:rPr>
                  <a:t>APC 全局排名，其他 CT 内排名；K 值按样本数自适应</a:t>
                </a:r>
                <a:endParaRPr lang="zh-CN" sz="1280" dirty="0">
                  <a:solidFill>
                    <a:srgbClr val="5A6478"/>
                  </a:solidFill>
                  <a:latin typeface="Arial" panose="020B0604020202020204"/>
                  <a:ea typeface="微软雅黑" panose="020B0503020204020204" charset="-122"/>
                  <a:cs typeface="Arial" panose="020B0604020202020204"/>
                </a:endParaRPr>
              </a:p>
            </p:txBody>
          </p:sp>
          <p:sp>
            <p:nvSpPr>
              <p:cNvPr id="114" name="TextBox 114"/>
              <p:cNvSpPr txBox="1"/>
              <p:nvPr/>
            </p:nvSpPr>
            <p:spPr>
              <a:xfrm>
                <a:off x="6280785" y="5669756"/>
                <a:ext cx="2363724" cy="220028"/>
              </a:xfrm>
              <a:prstGeom prst="rect">
                <a:avLst/>
              </a:prstGeom>
              <a:noFill/>
              <a:ln>
                <a:noFill/>
              </a:ln>
            </p:spPr>
            <p:txBody>
              <a:bodyPr wrap="none" lIns="0" tIns="0" rIns="0" bIns="0" anchor="t" anchorCtr="0">
                <a:spAutoFit/>
              </a:bodyPr>
              <a:lstStyle/>
              <a:p>
                <a:pPr algn="l"/>
                <a:r>
                  <a:rPr lang="zh-CN" sz="1120" dirty="0">
                    <a:solidFill>
                      <a:srgbClr val="8A92A0"/>
                    </a:solidFill>
                    <a:latin typeface="Arial" panose="020B0604020202020204"/>
                    <a:ea typeface="微软雅黑" panose="020B0503020204020204" charset="-122"/>
                    <a:cs typeface="Arial" panose="020B0604020202020204"/>
                  </a:rPr>
                  <a:t>小样本 CT 更激进降维，防过拟合</a:t>
                </a:r>
                <a:endParaRPr lang="zh-CN" sz="1120" dirty="0">
                  <a:solidFill>
                    <a:srgbClr val="8A92A0"/>
                  </a:solidFill>
                  <a:latin typeface="Arial" panose="020B0604020202020204"/>
                  <a:ea typeface="微软雅黑" panose="020B0503020204020204" charset="-122"/>
                  <a:cs typeface="Arial" panose="020B0604020202020204"/>
                </a:endParaRPr>
              </a:p>
            </p:txBody>
          </p:sp>
        </p:grpSp>
        <p:grpSp>
          <p:nvGrpSpPr>
            <p:cNvPr id="126" name="Group 126"/>
            <p:cNvGrpSpPr/>
            <p:nvPr/>
          </p:nvGrpSpPr>
          <p:grpSpPr>
            <a:xfrm>
              <a:off x="755523" y="6073140"/>
              <a:ext cx="3575984" cy="816769"/>
              <a:chOff x="755523" y="6073140"/>
              <a:chExt cx="3575984" cy="816769"/>
            </a:xfrm>
          </p:grpSpPr>
          <p:grpSp>
            <p:nvGrpSpPr>
              <p:cNvPr id="121" name="Group 121"/>
              <p:cNvGrpSpPr/>
              <p:nvPr/>
            </p:nvGrpSpPr>
            <p:grpSpPr>
              <a:xfrm>
                <a:off x="795338" y="6129338"/>
                <a:ext cx="200025" cy="198438"/>
                <a:chOff x="795338" y="6129338"/>
                <a:chExt cx="200025" cy="198438"/>
              </a:xfrm>
            </p:grpSpPr>
            <p:sp>
              <p:nvSpPr>
                <p:cNvPr id="116" name="Freeform 116"/>
                <p:cNvSpPr/>
                <p:nvPr/>
              </p:nvSpPr>
              <p:spPr>
                <a:xfrm>
                  <a:off x="839788" y="6318251"/>
                  <a:ext cx="111125" cy="9525"/>
                </a:xfrm>
                <a:custGeom>
                  <a:avLst/>
                  <a:gdLst/>
                  <a:ahLst/>
                  <a:cxnLst/>
                  <a:rect l="l" t="t" r="r" b="b"/>
                  <a:pathLst>
                    <a:path w="111125" h="9525">
                      <a:moveTo>
                        <a:pt x="0" y="0"/>
                      </a:moveTo>
                      <a:lnTo>
                        <a:pt x="111125" y="0"/>
                      </a:lnTo>
                    </a:path>
                  </a:pathLst>
                </a:custGeom>
                <a:noFill/>
                <a:ln w="19050">
                  <a:solidFill>
                    <a:srgbClr val="1A3A6B"/>
                  </a:solidFill>
                </a:ln>
              </p:spPr>
            </p:sp>
            <p:sp>
              <p:nvSpPr>
                <p:cNvPr id="117" name="Freeform 117"/>
                <p:cNvSpPr/>
                <p:nvPr/>
              </p:nvSpPr>
              <p:spPr>
                <a:xfrm>
                  <a:off x="828675" y="6151563"/>
                  <a:ext cx="133350" cy="11113"/>
                </a:xfrm>
                <a:custGeom>
                  <a:avLst/>
                  <a:gdLst/>
                  <a:ahLst/>
                  <a:cxnLst/>
                  <a:rect l="l" t="t" r="r" b="b"/>
                  <a:pathLst>
                    <a:path w="133350" h="11113">
                      <a:moveTo>
                        <a:pt x="0" y="11113"/>
                      </a:moveTo>
                      <a:lnTo>
                        <a:pt x="66675" y="0"/>
                      </a:lnTo>
                      <a:lnTo>
                        <a:pt x="133350" y="11113"/>
                      </a:lnTo>
                    </a:path>
                  </a:pathLst>
                </a:custGeom>
                <a:noFill/>
                <a:ln w="19050">
                  <a:solidFill>
                    <a:srgbClr val="1A3A6B"/>
                  </a:solidFill>
                </a:ln>
              </p:spPr>
            </p:sp>
            <p:sp>
              <p:nvSpPr>
                <p:cNvPr id="118" name="Freeform 118"/>
                <p:cNvSpPr/>
                <p:nvPr/>
              </p:nvSpPr>
              <p:spPr>
                <a:xfrm>
                  <a:off x="895350" y="6129338"/>
                  <a:ext cx="9525" cy="188913"/>
                </a:xfrm>
                <a:custGeom>
                  <a:avLst/>
                  <a:gdLst/>
                  <a:ahLst/>
                  <a:cxnLst/>
                  <a:rect l="l" t="t" r="r" b="b"/>
                  <a:pathLst>
                    <a:path w="9525" h="188913">
                      <a:moveTo>
                        <a:pt x="0" y="0"/>
                      </a:moveTo>
                      <a:lnTo>
                        <a:pt x="0" y="188913"/>
                      </a:lnTo>
                    </a:path>
                  </a:pathLst>
                </a:custGeom>
                <a:noFill/>
                <a:ln w="19050">
                  <a:solidFill>
                    <a:srgbClr val="1A3A6B"/>
                  </a:solidFill>
                </a:ln>
              </p:spPr>
            </p:sp>
            <p:sp>
              <p:nvSpPr>
                <p:cNvPr id="119" name="Freeform 119"/>
                <p:cNvSpPr/>
                <p:nvPr/>
              </p:nvSpPr>
              <p:spPr>
                <a:xfrm>
                  <a:off x="795338" y="616267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1A3A6B"/>
                  </a:solidFill>
                </a:ln>
              </p:spPr>
            </p:sp>
            <p:sp>
              <p:nvSpPr>
                <p:cNvPr id="120" name="Freeform 120"/>
                <p:cNvSpPr/>
                <p:nvPr/>
              </p:nvSpPr>
              <p:spPr>
                <a:xfrm>
                  <a:off x="928688" y="616267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1A3A6B"/>
                  </a:solidFill>
                </a:ln>
              </p:spPr>
            </p:sp>
          </p:grpSp>
          <p:sp>
            <p:nvSpPr>
              <p:cNvPr id="122" name="TextBox 122"/>
              <p:cNvSpPr txBox="1"/>
              <p:nvPr/>
            </p:nvSpPr>
            <p:spPr>
              <a:xfrm>
                <a:off x="1114806" y="6073140"/>
                <a:ext cx="166146" cy="352044"/>
              </a:xfrm>
              <a:prstGeom prst="rect">
                <a:avLst/>
              </a:prstGeom>
              <a:noFill/>
              <a:ln>
                <a:noFill/>
              </a:ln>
            </p:spPr>
            <p:txBody>
              <a:bodyPr wrap="none" lIns="0" tIns="0" rIns="0" bIns="0" anchor="t" anchorCtr="0">
                <a:spAutoFit/>
              </a:bodyPr>
              <a:lstStyle/>
              <a:p>
                <a:pPr algn="l"/>
                <a:r>
                  <a:rPr lang="en-US" sz="1800" b="1" dirty="0">
                    <a:solidFill>
                      <a:srgbClr val="C9962B"/>
                    </a:solidFill>
                    <a:latin typeface="Times New Roman" panose="02020603050405020304"/>
                    <a:ea typeface="Times New Roman" panose="02020603050405020304"/>
                    <a:cs typeface="Times New Roman" panose="02020603050405020304"/>
                  </a:rPr>
                  <a:t>③</a:t>
                </a:r>
                <a:endParaRPr lang="en-US" sz="1800" b="1" dirty="0">
                  <a:solidFill>
                    <a:srgbClr val="C9962B"/>
                  </a:solidFill>
                  <a:latin typeface="Times New Roman" panose="02020603050405020304"/>
                  <a:ea typeface="Times New Roman" panose="02020603050405020304"/>
                  <a:cs typeface="Times New Roman" panose="02020603050405020304"/>
                </a:endParaRPr>
              </a:p>
            </p:txBody>
          </p:sp>
          <p:sp>
            <p:nvSpPr>
              <p:cNvPr id="123" name="TextBox 123"/>
              <p:cNvSpPr txBox="1"/>
              <p:nvPr/>
            </p:nvSpPr>
            <p:spPr>
              <a:xfrm>
                <a:off x="1401318" y="6089332"/>
                <a:ext cx="949681" cy="322707"/>
              </a:xfrm>
              <a:prstGeom prst="rect">
                <a:avLst/>
              </a:prstGeom>
              <a:noFill/>
              <a:ln>
                <a:noFill/>
              </a:ln>
            </p:spPr>
            <p:txBody>
              <a:bodyPr wrap="none" lIns="0" tIns="0" rIns="0" bIns="0" anchor="t" anchorCtr="0">
                <a:spAutoFit/>
              </a:bodyPr>
              <a:lstStyle/>
              <a:p>
                <a:pPr algn="l"/>
                <a:r>
                  <a:rPr lang="zh-CN" sz="1650" b="1" dirty="0">
                    <a:solidFill>
                      <a:srgbClr val="1A3A6B"/>
                    </a:solidFill>
                    <a:latin typeface="Arial" panose="020B0604020202020204"/>
                    <a:ea typeface="微软雅黑" panose="020B0503020204020204" charset="-122"/>
                    <a:cs typeface="Arial" panose="020B0604020202020204"/>
                  </a:rPr>
                  <a:t>分层校准</a:t>
                </a:r>
                <a:endParaRPr lang="zh-CN" sz="1650" b="1" dirty="0">
                  <a:solidFill>
                    <a:srgbClr val="1A3A6B"/>
                  </a:solidFill>
                  <a:latin typeface="Arial" panose="020B0604020202020204"/>
                  <a:ea typeface="微软雅黑" panose="020B0503020204020204" charset="-122"/>
                  <a:cs typeface="Arial" panose="020B0604020202020204"/>
                </a:endParaRPr>
              </a:p>
            </p:txBody>
          </p:sp>
          <p:sp>
            <p:nvSpPr>
              <p:cNvPr id="124" name="TextBox 124"/>
              <p:cNvSpPr txBox="1"/>
              <p:nvPr/>
            </p:nvSpPr>
            <p:spPr>
              <a:xfrm>
                <a:off x="755523" y="6406039"/>
                <a:ext cx="3575984" cy="249364"/>
              </a:xfrm>
              <a:prstGeom prst="rect">
                <a:avLst/>
              </a:prstGeom>
              <a:noFill/>
              <a:ln>
                <a:noFill/>
              </a:ln>
            </p:spPr>
            <p:txBody>
              <a:bodyPr wrap="none" lIns="0" tIns="0" rIns="0" bIns="0" anchor="t" anchorCtr="0">
                <a:spAutoFit/>
              </a:bodyPr>
              <a:lstStyle/>
              <a:p>
                <a:pPr algn="l"/>
                <a:r>
                  <a:rPr lang="zh-CN" sz="1280" dirty="0">
                    <a:solidFill>
                      <a:srgbClr val="5A6478"/>
                    </a:solidFill>
                    <a:latin typeface="Arial" panose="020B0604020202020204"/>
                    <a:ea typeface="微软雅黑" panose="020B0503020204020204" charset="-122"/>
                    <a:cs typeface="Arial" panose="020B0604020202020204"/>
                  </a:rPr>
                  <a:t>OOF R² 差异化收缩：apc 70% vs recipe 35%</a:t>
                </a:r>
                <a:endParaRPr lang="zh-CN" sz="1280" dirty="0">
                  <a:solidFill>
                    <a:srgbClr val="5A6478"/>
                  </a:solidFill>
                  <a:latin typeface="Arial" panose="020B0604020202020204"/>
                  <a:ea typeface="微软雅黑" panose="020B0503020204020204" charset="-122"/>
                  <a:cs typeface="Arial" panose="020B0604020202020204"/>
                </a:endParaRPr>
              </a:p>
            </p:txBody>
          </p:sp>
          <p:sp>
            <p:nvSpPr>
              <p:cNvPr id="125" name="TextBox 125"/>
              <p:cNvSpPr txBox="1"/>
              <p:nvPr/>
            </p:nvSpPr>
            <p:spPr>
              <a:xfrm>
                <a:off x="756285" y="6669881"/>
                <a:ext cx="2586038" cy="220028"/>
              </a:xfrm>
              <a:prstGeom prst="rect">
                <a:avLst/>
              </a:prstGeom>
              <a:noFill/>
              <a:ln>
                <a:noFill/>
              </a:ln>
            </p:spPr>
            <p:txBody>
              <a:bodyPr wrap="none" lIns="0" tIns="0" rIns="0" bIns="0" anchor="t" anchorCtr="0">
                <a:spAutoFit/>
              </a:bodyPr>
              <a:lstStyle/>
              <a:p>
                <a:pPr algn="l"/>
                <a:r>
                  <a:rPr lang="zh-CN" sz="1120" dirty="0">
                    <a:solidFill>
                      <a:srgbClr val="8A92A0"/>
                    </a:solidFill>
                    <a:latin typeface="Arial" panose="020B0604020202020204"/>
                    <a:ea typeface="微软雅黑" panose="020B0503020204020204" charset="-122"/>
                    <a:cs typeface="Arial" panose="020B0604020202020204"/>
                  </a:rPr>
                  <a:t>低置信度预测向参考点回归，稳健输出</a:t>
                </a:r>
                <a:endParaRPr lang="zh-CN" sz="1120" dirty="0">
                  <a:solidFill>
                    <a:srgbClr val="8A92A0"/>
                  </a:solidFill>
                  <a:latin typeface="Arial" panose="020B0604020202020204"/>
                  <a:ea typeface="微软雅黑" panose="020B0503020204020204" charset="-122"/>
                  <a:cs typeface="Arial" panose="020B0604020202020204"/>
                </a:endParaRPr>
              </a:p>
            </p:txBody>
          </p:sp>
        </p:grpSp>
        <p:grpSp>
          <p:nvGrpSpPr>
            <p:cNvPr id="132" name="Group 132"/>
            <p:cNvGrpSpPr/>
            <p:nvPr/>
          </p:nvGrpSpPr>
          <p:grpSpPr>
            <a:xfrm>
              <a:off x="6280023" y="6073140"/>
              <a:ext cx="3258538" cy="816769"/>
              <a:chOff x="6280023" y="6073140"/>
              <a:chExt cx="3258538" cy="816769"/>
            </a:xfrm>
          </p:grpSpPr>
          <p:sp>
            <p:nvSpPr>
              <p:cNvPr id="127" name="Freeform 127"/>
              <p:cNvSpPr/>
              <p:nvPr/>
            </p:nvSpPr>
            <p:spPr>
              <a:xfrm>
                <a:off x="6342063" y="6129338"/>
                <a:ext cx="155575" cy="200026"/>
              </a:xfrm>
              <a:custGeom>
                <a:avLst/>
                <a:gdLst/>
                <a:ahLst/>
                <a:cxnLst/>
                <a:rect l="l" t="t" r="r" b="b"/>
                <a:pathLst>
                  <a:path w="155575" h="200026">
                    <a:moveTo>
                      <a:pt x="88900" y="0"/>
                    </a:moveTo>
                    <a:lnTo>
                      <a:pt x="88900" y="77788"/>
                    </a:lnTo>
                    <a:lnTo>
                      <a:pt x="155575" y="77788"/>
                    </a:lnTo>
                    <a:lnTo>
                      <a:pt x="66675" y="200026"/>
                    </a:lnTo>
                    <a:lnTo>
                      <a:pt x="66675" y="122238"/>
                    </a:lnTo>
                    <a:lnTo>
                      <a:pt x="0" y="122238"/>
                    </a:lnTo>
                    <a:lnTo>
                      <a:pt x="88900" y="0"/>
                    </a:lnTo>
                  </a:path>
                </a:pathLst>
              </a:custGeom>
              <a:noFill/>
              <a:ln w="19050">
                <a:solidFill>
                  <a:srgbClr val="1A3A6B"/>
                </a:solidFill>
              </a:ln>
            </p:spPr>
          </p:sp>
          <p:sp>
            <p:nvSpPr>
              <p:cNvPr id="128" name="TextBox 128"/>
              <p:cNvSpPr txBox="1"/>
              <p:nvPr/>
            </p:nvSpPr>
            <p:spPr>
              <a:xfrm>
                <a:off x="6639306" y="6073140"/>
                <a:ext cx="166146" cy="352044"/>
              </a:xfrm>
              <a:prstGeom prst="rect">
                <a:avLst/>
              </a:prstGeom>
              <a:noFill/>
              <a:ln>
                <a:noFill/>
              </a:ln>
            </p:spPr>
            <p:txBody>
              <a:bodyPr wrap="none" lIns="0" tIns="0" rIns="0" bIns="0" anchor="t" anchorCtr="0">
                <a:spAutoFit/>
              </a:bodyPr>
              <a:lstStyle/>
              <a:p>
                <a:pPr algn="l"/>
                <a:r>
                  <a:rPr lang="en-US" sz="1800" b="1" dirty="0">
                    <a:solidFill>
                      <a:srgbClr val="C9962B"/>
                    </a:solidFill>
                    <a:latin typeface="Times New Roman" panose="02020603050405020304"/>
                    <a:ea typeface="Times New Roman" panose="02020603050405020304"/>
                    <a:cs typeface="Times New Roman" panose="02020603050405020304"/>
                  </a:rPr>
                  <a:t>④</a:t>
                </a:r>
                <a:endParaRPr lang="en-US" sz="1800" b="1" dirty="0">
                  <a:solidFill>
                    <a:srgbClr val="C9962B"/>
                  </a:solidFill>
                  <a:latin typeface="Times New Roman" panose="02020603050405020304"/>
                  <a:ea typeface="Times New Roman" panose="02020603050405020304"/>
                  <a:cs typeface="Times New Roman" panose="02020603050405020304"/>
                </a:endParaRPr>
              </a:p>
            </p:txBody>
          </p:sp>
          <p:sp>
            <p:nvSpPr>
              <p:cNvPr id="129" name="TextBox 129"/>
              <p:cNvSpPr txBox="1"/>
              <p:nvPr/>
            </p:nvSpPr>
            <p:spPr>
              <a:xfrm>
                <a:off x="6925818" y="6089332"/>
                <a:ext cx="949681" cy="322707"/>
              </a:xfrm>
              <a:prstGeom prst="rect">
                <a:avLst/>
              </a:prstGeom>
              <a:noFill/>
              <a:ln>
                <a:noFill/>
              </a:ln>
            </p:spPr>
            <p:txBody>
              <a:bodyPr wrap="none" lIns="0" tIns="0" rIns="0" bIns="0" anchor="t" anchorCtr="0">
                <a:spAutoFit/>
              </a:bodyPr>
              <a:lstStyle/>
              <a:p>
                <a:pPr algn="l"/>
                <a:r>
                  <a:rPr lang="zh-CN" sz="1650" b="1" dirty="0">
                    <a:solidFill>
                      <a:srgbClr val="1A3A6B"/>
                    </a:solidFill>
                    <a:latin typeface="Arial" panose="020B0604020202020204"/>
                    <a:ea typeface="微软雅黑" panose="020B0503020204020204" charset="-122"/>
                    <a:cs typeface="Arial" panose="020B0604020202020204"/>
                  </a:rPr>
                  <a:t>样本加权</a:t>
                </a:r>
                <a:endParaRPr lang="zh-CN" sz="1650" b="1" dirty="0">
                  <a:solidFill>
                    <a:srgbClr val="1A3A6B"/>
                  </a:solidFill>
                  <a:latin typeface="Arial" panose="020B0604020202020204"/>
                  <a:ea typeface="微软雅黑" panose="020B0503020204020204" charset="-122"/>
                  <a:cs typeface="Arial" panose="020B0604020202020204"/>
                </a:endParaRPr>
              </a:p>
            </p:txBody>
          </p:sp>
          <p:sp>
            <p:nvSpPr>
              <p:cNvPr id="130" name="TextBox 130"/>
              <p:cNvSpPr txBox="1"/>
              <p:nvPr/>
            </p:nvSpPr>
            <p:spPr>
              <a:xfrm>
                <a:off x="6280023" y="6406039"/>
                <a:ext cx="3258538" cy="249364"/>
              </a:xfrm>
              <a:prstGeom prst="rect">
                <a:avLst/>
              </a:prstGeom>
              <a:noFill/>
              <a:ln>
                <a:noFill/>
              </a:ln>
            </p:spPr>
            <p:txBody>
              <a:bodyPr wrap="none" lIns="0" tIns="0" rIns="0" bIns="0" anchor="t" anchorCtr="0">
                <a:spAutoFit/>
              </a:bodyPr>
              <a:lstStyle/>
              <a:p>
                <a:pPr algn="l"/>
                <a:r>
                  <a:rPr lang="zh-CN" sz="1280" dirty="0">
                    <a:solidFill>
                      <a:srgbClr val="5A6478"/>
                    </a:solidFill>
                    <a:latin typeface="Arial" panose="020B0604020202020204"/>
                    <a:ea typeface="微软雅黑" panose="020B0503020204020204" charset="-122"/>
                    <a:cs typeface="Arial" panose="020B0604020202020204"/>
                  </a:rPr>
                  <a:t>本 CT 样本 weight=2 + 30 seed Ensemble</a:t>
                </a:r>
                <a:endParaRPr lang="zh-CN" sz="1280" dirty="0">
                  <a:solidFill>
                    <a:srgbClr val="5A6478"/>
                  </a:solidFill>
                  <a:latin typeface="Arial" panose="020B0604020202020204"/>
                  <a:ea typeface="微软雅黑" panose="020B0503020204020204" charset="-122"/>
                  <a:cs typeface="Arial" panose="020B0604020202020204"/>
                </a:endParaRPr>
              </a:p>
            </p:txBody>
          </p:sp>
          <p:sp>
            <p:nvSpPr>
              <p:cNvPr id="131" name="TextBox 131"/>
              <p:cNvSpPr txBox="1"/>
              <p:nvPr/>
            </p:nvSpPr>
            <p:spPr>
              <a:xfrm>
                <a:off x="6280785" y="6669881"/>
                <a:ext cx="2043684" cy="220028"/>
              </a:xfrm>
              <a:prstGeom prst="rect">
                <a:avLst/>
              </a:prstGeom>
              <a:noFill/>
              <a:ln>
                <a:noFill/>
              </a:ln>
            </p:spPr>
            <p:txBody>
              <a:bodyPr wrap="none" lIns="0" tIns="0" rIns="0" bIns="0" anchor="t" anchorCtr="0">
                <a:spAutoFit/>
              </a:bodyPr>
              <a:lstStyle/>
              <a:p>
                <a:pPr algn="l"/>
                <a:r>
                  <a:rPr lang="zh-CN" sz="1120" dirty="0">
                    <a:solidFill>
                      <a:srgbClr val="8A92A0"/>
                    </a:solidFill>
                    <a:latin typeface="Arial" panose="020B0604020202020204"/>
                    <a:ea typeface="微软雅黑" panose="020B0503020204020204" charset="-122"/>
                    <a:cs typeface="Arial" panose="020B0604020202020204"/>
                  </a:rPr>
                  <a:t>聚焦目标 CT 分布，稳定预测</a:t>
                </a:r>
                <a:endParaRPr lang="zh-CN" sz="1120" dirty="0">
                  <a:solidFill>
                    <a:srgbClr val="8A92A0"/>
                  </a:solidFill>
                  <a:latin typeface="Arial" panose="020B0604020202020204"/>
                  <a:ea typeface="微软雅黑" panose="020B0503020204020204" charset="-122"/>
                  <a:cs typeface="Arial" panose="020B0604020202020204"/>
                </a:endParaRPr>
              </a:p>
            </p:txBody>
          </p:sp>
        </p:grpSp>
      </p:grpSp>
      <p:grpSp>
        <p:nvGrpSpPr>
          <p:cNvPr id="137" name="Group 137"/>
          <p:cNvGrpSpPr/>
          <p:nvPr/>
        </p:nvGrpSpPr>
        <p:grpSpPr>
          <a:xfrm>
            <a:off x="565404" y="6953250"/>
            <a:ext cx="11061192" cy="343281"/>
            <a:chOff x="565404" y="6953250"/>
            <a:chExt cx="11061192" cy="343281"/>
          </a:xfrm>
        </p:grpSpPr>
        <p:sp>
          <p:nvSpPr>
            <p:cNvPr id="134" name="Line 134"/>
            <p:cNvSpPr/>
            <p:nvPr/>
          </p:nvSpPr>
          <p:spPr>
            <a:xfrm>
              <a:off x="571500" y="6953250"/>
              <a:ext cx="11049000" cy="9525"/>
            </a:xfrm>
            <a:custGeom>
              <a:avLst/>
              <a:gdLst/>
              <a:ahLst/>
              <a:cxnLst/>
              <a:rect l="l" t="t" r="r" b="b"/>
              <a:pathLst>
                <a:path w="11049000" h="9525">
                  <a:moveTo>
                    <a:pt x="0" y="0"/>
                  </a:moveTo>
                  <a:lnTo>
                    <a:pt x="11049000" y="0"/>
                  </a:lnTo>
                </a:path>
              </a:pathLst>
            </a:custGeom>
            <a:noFill/>
            <a:ln w="9525">
              <a:solidFill>
                <a:srgbClr val="EDEFF2"/>
              </a:solidFill>
            </a:ln>
          </p:spPr>
        </p:sp>
        <p:sp>
          <p:nvSpPr>
            <p:cNvPr id="135" name="TextBox 135"/>
            <p:cNvSpPr txBox="1"/>
            <p:nvPr/>
          </p:nvSpPr>
          <p:spPr>
            <a:xfrm>
              <a:off x="565404" y="7061835"/>
              <a:ext cx="5192573" cy="234696"/>
            </a:xfrm>
            <a:prstGeom prst="rect">
              <a:avLst/>
            </a:prstGeom>
            <a:noFill/>
            <a:ln>
              <a:noFill/>
            </a:ln>
          </p:spPr>
          <p:txBody>
            <a:bodyPr wrap="none" lIns="0" tIns="0" rIns="0" bIns="0" anchor="t" anchorCtr="0">
              <a:spAutoFit/>
            </a:bodyPr>
            <a:lstStyle/>
            <a:p>
              <a:pPr algn="l"/>
              <a:r>
                <a:rPr lang="zh-CN" sz="1200" dirty="0">
                  <a:solidFill>
                    <a:srgbClr val="8A92A0"/>
                  </a:solidFill>
                  <a:latin typeface="Arial" panose="020B0604020202020204"/>
                  <a:ea typeface="微软雅黑" panose="020B0503020204020204" charset="-122"/>
                  <a:cs typeface="Arial" panose="020B0604020202020204"/>
                </a:rPr>
                <a:t>MAE 3.67 = CT 特异性建模 + 分层校准 + 样本加权 + 自适应特征选择</a:t>
              </a:r>
              <a:endParaRPr lang="zh-CN" sz="1200" dirty="0">
                <a:solidFill>
                  <a:srgbClr val="8A92A0"/>
                </a:solidFill>
                <a:latin typeface="Arial" panose="020B0604020202020204"/>
                <a:ea typeface="微软雅黑" panose="020B0503020204020204" charset="-122"/>
                <a:cs typeface="Arial" panose="020B0604020202020204"/>
              </a:endParaRPr>
            </a:p>
          </p:txBody>
        </p:sp>
        <p:sp>
          <p:nvSpPr>
            <p:cNvPr id="136" name="TextBox 136"/>
            <p:cNvSpPr txBox="1"/>
            <p:nvPr/>
          </p:nvSpPr>
          <p:spPr>
            <a:xfrm>
              <a:off x="11042599" y="7061835"/>
              <a:ext cx="583997" cy="234696"/>
            </a:xfrm>
            <a:prstGeom prst="rect">
              <a:avLst/>
            </a:prstGeom>
            <a:noFill/>
            <a:ln>
              <a:noFill/>
            </a:ln>
          </p:spPr>
          <p:txBody>
            <a:bodyPr wrap="none" lIns="0" tIns="0" rIns="0" bIns="0" anchor="t" anchorCtr="0">
              <a:spAutoFit/>
            </a:bodyPr>
            <a:lstStyle/>
            <a:p>
              <a:pPr algn="r"/>
              <a:r>
                <a:rPr lang="en-US" sz="1200" dirty="0">
                  <a:solidFill>
                    <a:srgbClr val="8A92A0"/>
                  </a:solidFill>
                  <a:latin typeface="Times New Roman" panose="02020603050405020304"/>
                  <a:ea typeface="Times New Roman" panose="02020603050405020304"/>
                  <a:cs typeface="Times New Roman" panose="02020603050405020304"/>
                </a:rPr>
                <a:t>05 / 05</a:t>
              </a:r>
              <a:endParaRPr lang="en-US" sz="1200" dirty="0">
                <a:solidFill>
                  <a:srgbClr val="8A92A0"/>
                </a:solidFill>
                <a:latin typeface="Times New Roman" panose="02020603050405020304"/>
                <a:ea typeface="Times New Roman" panose="02020603050405020304"/>
                <a:cs typeface="Times New Roman" panose="020206030504050203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2256</Words>
  <Application>WPS 演示</Application>
  <PresentationFormat>On-screen Show (16:10)</PresentationFormat>
  <Paragraphs>380</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宋体</vt:lpstr>
      <vt:lpstr>Wingdings</vt:lpstr>
      <vt:lpstr>Arial</vt:lpstr>
      <vt:lpstr>Times New Roman</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real</cp:lastModifiedBy>
  <cp:revision>3</cp:revision>
  <dcterms:created xsi:type="dcterms:W3CDTF">2026-07-06T08:12:00Z</dcterms:created>
  <dcterms:modified xsi:type="dcterms:W3CDTF">2026-07-07T07:47:44Z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5D956C4C58D64B23B5C944B9CBF7963B_12</vt:lpwstr>
  </property>
</Properties>
</file>